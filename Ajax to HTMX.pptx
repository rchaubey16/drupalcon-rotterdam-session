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302" r:id="rId52"/>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2BA0FA9-774D-4D84-A5C6-C2667BA39461}">
  <a:tblStyle styleId="{82BA0FA9-774D-4D84-A5C6-C2667BA39461}"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a:tcStyle>
        <a:fill>
          <a:solidFill>
            <a:srgbClr val="CAD1D8"/>
          </a:solidFill>
        </a:fill>
      </a:tcStyle>
    </a:band1H>
    <a:band2H>
      <a:tcTxStyle/>
    </a:band2H>
    <a:band1V>
      <a:tcTxStyle/>
      <a:tcStyle>
        <a:fill>
          <a:solidFill>
            <a:srgbClr val="CAD1D8"/>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 name="Google Shape;48;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cold - screen already up for the live filter demo. No spoken line yet.</a:t>
            </a:r>
            <a:endParaRPr/>
          </a:p>
        </p:txBody>
      </p:sp>
      <p:sp>
        <p:nvSpPr>
          <p:cNvPr id="49" name="Google Shape;49;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 name="Google Shape;5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Silent 15-20s clip: a filter on a Drupal listing page updates instantly as you type. No visible reload, no JS file open anywhere. Let it play, then pause on the result.</a:t>
            </a:r>
            <a:endParaRPr/>
          </a:p>
        </p:txBody>
      </p:sp>
      <p:sp>
        <p:nvSpPr>
          <p:cNvPr id="56" name="Google Shape;56;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“That's a live filter. No JavaScript file. No Ajax command class. Just HTML.”</a:t>
            </a:r>
            <a:endParaRPr/>
          </a:p>
        </p:txBody>
      </p:sp>
      <p:sp>
        <p:nvSpPr>
          <p:cNvPr id="74" name="Google Shape;74;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 name="Google Shape;8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Hi, I'm Ruturaj - [role]. I've spent a good chunk of the last few years building interactive Drupal sites the traditional way, callbacks and all - which is exactly why I got excited when HTMX showed up.</a:t>
            </a:r>
            <a:endParaRPr/>
          </a:p>
        </p:txBody>
      </p:sp>
      <p:sp>
        <p:nvSpPr>
          <p:cNvPr id="81" name="Google Shape;81;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Land the quote with room to breathe.</a:t>
            </a:r>
            <a:endParaRPr/>
          </a:p>
        </p:txBody>
      </p:sp>
      <p:sp>
        <p:nvSpPr>
          <p:cNvPr id="89" name="Google Shape;89;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Over the next 45 minutes: why the Ajax API gets painful at scale, HTMX's core idea, and how that idea maps directly onto Drupal's render, routing and caching system. Then we watch it work live. After that, an honest comparison, how to bring this into a project you already have, and where HTMX stands in Drupal core today, plus how you can help.</a:t>
            </a:r>
          </a:p>
        </p:txBody>
      </p:sp>
      <p:sp>
        <p:nvSpPr>
          <p:cNvPr id="95" name="Google Shape;95;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Let's start with where we are today - the Ajax API.</a:t>
            </a:r>
            <a:endParaRPr/>
          </a:p>
        </p:txBody>
      </p:sp>
      <p:sp>
        <p:nvSpPr>
          <p:cNvPr id="118" name="Google Shape;118;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Drupal's Ajax API isn't new - it's been part of core in its current form since Drupal 7, unified under a single framework. In Drupal 8 through 11, it was rebuilt on top of Symfony's HttpKernel - AjaxResponse extends Symfony's JsonResponse, and interactions are expressed as a stack of Command objects. It's mature, well-documented, and used everywhere in core - exposed filters, autocomplete, modal dialogs, inline entity forms. This isn't a story about a broken system. It's a story about a system that was the right answer for 2011, and is starting to show its age.</a:t>
            </a:r>
          </a:p>
        </p:txBody>
      </p:sp>
      <p:sp>
        <p:nvSpPr>
          <p:cNvPr id="125" name="Google Shape;125;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 name="Google Shape;137;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A form/render element gets an #ajax property: callback, wrapper, event. The callback runs server-side and returns an AjaxResponse built from one or more Commands. The client-side core/drupal.ajax library runs each command to mutate the DOM, then Drupal.behaviors re-attach to the new markup.</a:t>
            </a:r>
          </a:p>
        </p:txBody>
      </p:sp>
      <p:sp>
        <p:nvSpPr>
          <p:cNvPr id="138" name="Google Shape;138;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Walk through the diagram: user triggers the #ajax event, browser sends an XHR to the callback, server builds an AjaxResponse with commands, drupal.ajax runs each command, the DOM updates and behaviors re-attach.</a:t>
            </a:r>
          </a:p>
        </p:txBody>
      </p:sp>
      <p:sp>
        <p:nvSpPr>
          <p:cNvPr id="150" name="Google Shape;150;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files, two languages, and a wrapper ID string that has to match exactly in both places, or nothing happens - silently.</a:t>
            </a:r>
            <a:endParaRPr/>
          </a:p>
        </p:txBody>
      </p:sp>
      <p:sp>
        <p:nvSpPr>
          <p:cNvPr id="158" name="Google Shape;158;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One string, defined in two files - the PHP form and a Twig template - in two languages, with no compiler or linter checking they agree. Get it wrong, and nothing throws an error - it just silently doesn't work.</a:t>
            </a:r>
          </a:p>
        </p:txBody>
      </p:sp>
      <p:sp>
        <p:nvSpPr>
          <p:cNvPr id="167" name="Google Shape;167;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pain points: JS coupling, complexity, maintenance overhead, discoverability.</a:t>
            </a:r>
            <a:endParaRPr/>
          </a:p>
        </p:txBody>
      </p:sp>
      <p:sp>
        <p:nvSpPr>
          <p:cNvPr id="175" name="Google Shape;175;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I once spent 40 minutes in devtools debugging an Ajax response that updated one region but silently failed on another. The bug wasn't in the PHP, and it wasn't in the JS logic - it was a mismatched wrapper ID, one string, defined in a template three directories away from the PHP that built the response. Nothing threw an error. It just... didn't work. This is exactly the bug the earlier diagram illustrates.</a:t>
            </a:r>
          </a:p>
        </p:txBody>
      </p:sp>
      <p:sp>
        <p:nvSpPr>
          <p:cNvPr id="185" name="Google Shape;185;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So what if, instead of a callback, a command class and a wrapper ID to keep in sync for every interaction, the element itself could just describe what it needs - when this changes, fetch this URL, and drop the result here? No command classes, no wrapper-ID matching, no second file to go find. What would that even look like? (pause, slide transition - next section opens with the reveal: That's not a hypothetical. It's called HTMX...)</a:t>
            </a:r>
          </a:p>
        </p:txBody>
      </p:sp>
      <p:sp>
        <p:nvSpPr>
          <p:cNvPr id="193" name="Google Shape;193;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That's not a hypothetical. It's called HTMX - and it's built on an idea that's actually older than Ajax: hypermedia.</a:t>
            </a:r>
            <a:endParaRPr/>
          </a:p>
        </p:txBody>
      </p:sp>
      <p:sp>
        <p:nvSpPr>
          <p:cNvPr id="202" name="Google Shape;202;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You already know hypermedia. Every &lt;a href&gt; and every &lt;form&gt; you've ever written is a hypermedia control - an element that tells the browser what to fetch and where to put the result. HTMX just extends that vocabulary: any element, any event, any HTTP verb, any part of the page as the target.</a:t>
            </a:r>
            <a:endParaRPr/>
          </a:p>
        </p:txBody>
      </p:sp>
      <p:sp>
        <p:nvSpPr>
          <p:cNvPr id="209" name="Google Shape;209;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element. Four attributes. The behavior lives right there in the tag - no PHP file to go find, no wrapper ID to keep in sync across two files.</a:t>
            </a:r>
            <a:endParaRPr/>
          </a:p>
        </p:txBody>
      </p:sp>
      <p:sp>
        <p:nvSpPr>
          <p:cNvPr id="217" name="Google Shape;217;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Compare that to the version you saw ten minutes ago: same three participants - user, browser, server - but seven steps instead of four.</a:t>
            </a:r>
            <a:endParaRPr/>
          </a:p>
        </p:txBody>
      </p:sp>
      <p:sp>
        <p:nvSpPr>
          <p:cNvPr id="226" name="Google Shape;226;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4" name="Google Shape;234;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There's no separate JSON API here, no client-side templating layer reconstructing HTML from data. The server decides what HTML comes back - same as it always has for the initial page load. HTMX isn't a new architecture. It's closing the gap between 'first page load' and 'everything after,' so both work the same way. That's what 'hypermedia-driven' means - the response is the next state of the UI, already rendered.</a:t>
            </a:r>
            <a:endParaRPr/>
          </a:p>
        </p:txBody>
      </p:sp>
      <p:sp>
        <p:nvSpPr>
          <p:cNvPr id="235" name="Google Shape;235;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core attributes: verb (hx-get/post/put/delete), trigger (hx-trigger - any DOM event), target (hx-target - any element), swap (hx-swap - innerHTML, outerHTML, beforeend, afterbegin, and more).</a:t>
            </a:r>
            <a:endParaRPr/>
          </a:p>
        </p:txBody>
      </p:sp>
      <p:sp>
        <p:nvSpPr>
          <p:cNvPr id="243" name="Google Shape;243;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2" name="Google Shape;252;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HTMX gives Drupal back a vocabulary it never actually lost - hypermedia. The real question is how that maps onto Drupal's own architecture: render arrays, routing, caching. That's next.</a:t>
            </a:r>
            <a:endParaRPr/>
          </a:p>
        </p:txBody>
      </p:sp>
      <p:sp>
        <p:nvSpPr>
          <p:cNvPr id="253" name="Google Shape;253;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Let's map HTMX onto three things Drupal already has.</a:t>
            </a:r>
            <a:endParaRPr/>
          </a:p>
        </p:txBody>
      </p:sp>
      <p:sp>
        <p:nvSpPr>
          <p:cNvPr id="260" name="Google Shape;260;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HTMX doesn't need anything special from Drupal. It needs three things Drupal already has, and has had for over a decade: routes, render arrays, and cache metadata. Let's map them one at a time.</a:t>
            </a:r>
            <a:endParaRPr/>
          </a:p>
        </p:txBody>
      </p:sp>
      <p:sp>
        <p:nvSpPr>
          <p:cNvPr id="267" name="Google Shape;267;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 name="Google Shape;274;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An hx-get URL isn't a special Ajax callback - it's a normal Drupal route with one flag. _htmx_route: TRUE tells Drupal to return just the main content and its assets. Without it, you'd get the whole themed page back. No #ajax property, no form-building context required.</a:t>
            </a:r>
          </a:p>
        </p:txBody>
      </p:sp>
      <p:sp>
        <p:nvSpPr>
          <p:cNvPr id="275" name="Google Shape;275;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controller returns a render array - the same thing every Drupal controller has always returned. Drupal renders it to HTML. HTMX drops that HTML wherever hx-target points. No AjaxResponse, no Commands - the render pipeline was already built to produce exactly this.</a:t>
            </a:r>
            <a:endParaRPr/>
          </a:p>
        </p:txBody>
      </p:sp>
      <p:sp>
        <p:nvSpPr>
          <p:cNvPr id="284" name="Google Shape;284;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the part that doesn't exist for the Ajax API without extra work: because this is a plain render array, it gets Drupal's caching for free. Cache tags bubble up automatically, cache contexts vary the response correctly. An AjaxResponse built from Commands doesn't sit in that pipeline the same way - you're mostly on your own for caching an Ajax callback response.</a:t>
            </a:r>
            <a:endParaRPr/>
          </a:p>
        </p:txBody>
      </p:sp>
      <p:sp>
        <p:nvSpPr>
          <p:cNvPr id="294" name="Google Shape;294;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2" name="Google Shape;302;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things Drupal already gives every page. HTMX just asks for them directly, without a translation layer in between. Let's see it work.</a:t>
            </a:r>
            <a:endParaRPr/>
          </a:p>
        </p:txBody>
      </p:sp>
      <p:sp>
        <p:nvSpPr>
          <p:cNvPr id="303" name="Google Shape;303;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[Live demo - build/walk through here] One combined demo covering the dynamic form, filter, and partial update in a single flow, per the session-flow design note.</a:t>
            </a:r>
            <a:endParaRPr/>
          </a:p>
        </p:txBody>
      </p:sp>
      <p:sp>
        <p:nvSpPr>
          <p:cNvPr id="312" name="Google Shape;312;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9" name="Google Shape;319;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HTMX doesn't win everywhere. Let's put the two side by side across four axes, honestly.</a:t>
            </a:r>
            <a:endParaRPr/>
          </a:p>
        </p:txBody>
      </p:sp>
      <p:sp>
        <p:nvSpPr>
          <p:cNvPr id="320" name="Google Shape;320;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6" name="Google Shape;326;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DX: the Ajax API is more ceremony, but it's the most proven path for complex multi-step forms and wizards. HTMX is far less ceremony, and since 11.3 Form API can rebuild forms from HTMX requests - but complex multi-step flows are less proven. Performance: an Ajax response is a JSON command stack that core/drupal.ajax runs command by command. HTMX is a ~16kb library and the response is the HTML itself. Drupal.org reports up to 71% less JavaScript loaded for browser-server interactions with native HTMX in 11.3.</a:t>
            </a:r>
          </a:p>
        </p:txBody>
      </p:sp>
      <p:sp>
        <p:nvSpPr>
          <p:cNvPr id="327" name="Google Shape;327;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8" name="Google Shape;338;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Debugging: in the Ajax API, the Network tab shows an opaque command stack, and a wrapper-ID typo fails silently. With HTMX, the Network tab shows the literal HTML that got inserted. Progressive enhancement: both are progressive by construction, layering JS onto a real form/link element - but honestly, this axis is close to a wash, since both are rarely tested with JS actually disabled.</a:t>
            </a:r>
            <a:endParaRPr/>
          </a:p>
        </p:txBody>
      </p:sp>
      <p:sp>
        <p:nvSpPr>
          <p:cNvPr id="339" name="Google Shape;339;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9" name="Google Shape;349;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axes, side by side. Progressive enhancement stays a wash on purpose - this isn't a clean sweep for either tool.</a:t>
            </a:r>
            <a:endParaRPr/>
          </a:p>
        </p:txBody>
      </p:sp>
      <p:sp>
        <p:nvSpPr>
          <p:cNvPr id="350" name="Google Shape;350;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6" name="Google Shape;356;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Pick HTMX where round trips are simple and the UI is a fragment. Keep the Ajax API where it already works, and for complex multi-step flows until HTMX patterns there mature. This isn't a replace-everything story. It's a which-tool-for-which-job story. Next: how to actually bring HTMX into a project you already have, without a rewrite.</a:t>
            </a:r>
          </a:p>
        </p:txBody>
      </p:sp>
      <p:sp>
        <p:nvSpPr>
          <p:cNvPr id="357" name="Google Shape;357;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3" name="Google Shape;363;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How to actually bring HTMX into a project you already have, without a rewrite.</a:t>
            </a:r>
          </a:p>
        </p:txBody>
      </p:sp>
      <p:sp>
        <p:nvSpPr>
          <p:cNvPr id="364" name="Google Shape;364;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You don't rip out the Ajax API to start using HTMX. They coexist on the same page - HTMX doesn't touch anything #ajax owns. Here's how to actually bring it into a project you already have.</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 Drupal 11.3 and up there's nothing to install. Core ships htmx as core/htmx, plus core/drupal.htmx for the Drupal glue: asset loading and behaviors. If you use the Htmx class, it attaches the library for you. If you hand-write hx attributes in Twig, it's one #attached line. No library definition, no CDN, no build step.</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Ajax API code that already works - leave it. HTMX is for new interactive spots, or the small annoying ones: a filter, a load-more pager, an autocomplete list. hx-boost is a low-effort way to try it - links and forms inside the boosted element become HTMX requests automatically. Scope it to one region first. Each boosted request still swaps the whole body, so test page-level JS like the toolbar and BigPipe.</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New interactive feature: HTMX by default. Existing, working Ajax API code: leave it alone. Complex multi-step forms - wizards, heavy Form API flows: keep them on the Ajax API for now, per §6's verdict.</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Use what core ships, pick a handful of low-risk candidates, boost one region to get a feel for it. No rewrite, no migration - just a second tool in the same box as the Ajax API. Next: where this actually stands in Drupal core today, and how you can help move it forward.</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So, where are we today?</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isn't a someday story. HTMX came into core as a dependency in 11.2 and became fully featured in 11.3, as part of an active initiative to gradually replace the Ajax system. Both APIs are running side by side right now, on purpose, while contrib gets time to convert. And the payoff is measurable: drupal.org reports up to 71% less JavaScript loaded for browser-server interactions.</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is keeping the old Ajax API and the new HTMX path running together on purpose - full deprecation waits until contrib has had real time to convert. That's the same incremental philosophy from §7, just at the core level instead of your project's.</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Triage issues, convert a #ajax/Command usage to HTMX and report back, write docs/examples, build real-world case studies like this talk. The core initiative issue queue, the contrib module issue queue, and the #htmx channel on Drupal Slack are where the work happens.</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isn't waiting on permission - it's already in core, it's actively being worked, and it needs hands. If you're on 11.3, it's already on your site: go convert one #ajax callback in your own project and see what it feels like.</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Thank everyone for coming, then open the floor for questions. Backup answers for likely questions are in docs/8-qa-backup.md.</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And on the markup side, since 11.3 you don't have to hand-write hx attributes. Core's Htmx class builds every htmx attribute from PHP - the same four from the cheat sheet - and applies them to a render element. applyTo() also attaches core/drupal.htmx, which loads any CSS and JS the response needs and re-attaches Drupal.behaviors after every swap.</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2"/>
          <p:cNvSpPr txBox="1"/>
          <p:nvPr>
            <p:ph type="ctrTitle"/>
          </p:nvPr>
        </p:nvSpPr>
        <p:spPr>
          <a:xfrm>
            <a:off x="838200" y="1696085"/>
            <a:ext cx="10833100" cy="140843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23325D"/>
              </a:buClr>
              <a:buSzPts val="6000"/>
              <a:buFont typeface="Calibri"/>
              <a:buNone/>
              <a:defRPr b="1" sz="6000">
                <a:solidFill>
                  <a:srgbClr val="23325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noFill/>
      </p:bgPr>
    </p:bg>
    <p:spTree>
      <p:nvGrpSpPr>
        <p:cNvPr id="16" name="Shape 16"/>
        <p:cNvGrpSpPr/>
        <p:nvPr/>
      </p:nvGrpSpPr>
      <p:grpSpPr>
        <a:xfrm>
          <a:off x="0" y="0"/>
          <a:ext cx="0" cy="0"/>
          <a:chOff x="0" y="0"/>
          <a:chExt cx="0" cy="0"/>
        </a:xfrm>
      </p:grpSpPr>
      <p:sp>
        <p:nvSpPr>
          <p:cNvPr id="17" name="Google Shape;17;p3"/>
          <p:cNvSpPr txBox="1"/>
          <p:nvPr>
            <p:ph type="title"/>
          </p:nvPr>
        </p:nvSpPr>
        <p:spPr>
          <a:xfrm>
            <a:off x="322580" y="2272665"/>
            <a:ext cx="11376660" cy="948055"/>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4400"/>
              <a:buFont typeface="Calibri"/>
              <a:buNone/>
              <a:defRPr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1" name="Google Shape;21;p3"/>
          <p:cNvSpPr txBox="1"/>
          <p:nvPr/>
        </p:nvSpPr>
        <p:spPr>
          <a:xfrm>
            <a:off x="328295" y="3268345"/>
            <a:ext cx="11351260" cy="368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325D"/>
              </a:buClr>
              <a:buSzPts val="4400"/>
              <a:buFont typeface="Calibri"/>
              <a:buNone/>
              <a:defRPr b="1">
                <a:solidFill>
                  <a:srgbClr val="23325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
          <p:cNvSpPr txBox="1"/>
          <p:nvPr>
            <p:ph idx="1" type="body"/>
          </p:nvPr>
        </p:nvSpPr>
        <p:spPr>
          <a:xfrm>
            <a:off x="838200" y="1825625"/>
            <a:ext cx="10515600" cy="384961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_ 4">
  <p:cSld name="Content _ 4">
    <p:bg>
      <p:bgPr>
        <a:blipFill>
          <a:blip r:embed="rId2">
            <a:alphaModFix/>
          </a:blip>
          <a:stretch>
            <a:fillRect/>
          </a:stretch>
        </a:blipFill>
      </p:bgPr>
    </p:bg>
    <p:spTree>
      <p:nvGrpSpPr>
        <p:cNvPr id="28" name="Shape 28"/>
        <p:cNvGrpSpPr/>
        <p:nvPr/>
      </p:nvGrpSpPr>
      <p:grpSpPr>
        <a:xfrm>
          <a:off x="0" y="0"/>
          <a:ext cx="0" cy="0"/>
          <a:chOff x="0" y="0"/>
          <a:chExt cx="0" cy="0"/>
        </a:xfrm>
      </p:grpSpPr>
      <p:sp>
        <p:nvSpPr>
          <p:cNvPr id="29" name="Google Shape;29;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2" name="Google Shape;32;p5"/>
          <p:cNvSpPr txBox="1"/>
          <p:nvPr>
            <p:ph type="title"/>
          </p:nvPr>
        </p:nvSpPr>
        <p:spPr>
          <a:xfrm>
            <a:off x="553720" y="2269490"/>
            <a:ext cx="10760710" cy="12319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0"/>
              </a:spcBef>
              <a:spcAft>
                <a:spcPts val="0"/>
              </a:spcAft>
              <a:buClr>
                <a:schemeClr val="lt1"/>
              </a:buClr>
              <a:buSzPts val="6000"/>
              <a:buFont typeface="Calibri"/>
              <a:buNone/>
              <a:defRPr b="1"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593090" y="3501390"/>
            <a:ext cx="10760710" cy="614045"/>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rgbClr val="FFC428"/>
              </a:buClr>
              <a:buSzPts val="3200"/>
              <a:buNone/>
              <a:defRPr sz="3200">
                <a:solidFill>
                  <a:srgbClr val="FFC428"/>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blip>
          <a:stretch>
            <a:fillRect/>
          </a:stretch>
        </a:blipFill>
      </p:bgPr>
    </p:bg>
    <p:spTree>
      <p:nvGrpSpPr>
        <p:cNvPr id="34" name="Shape 34"/>
        <p:cNvGrpSpPr/>
        <p:nvPr/>
      </p:nvGrpSpPr>
      <p:grpSpPr>
        <a:xfrm>
          <a:off x="0" y="0"/>
          <a:ext cx="0" cy="0"/>
          <a:chOff x="0" y="0"/>
          <a:chExt cx="0" cy="0"/>
        </a:xfrm>
      </p:grpSpPr>
      <p:sp>
        <p:nvSpPr>
          <p:cNvPr id="35" name="Google Shape;35;p6"/>
          <p:cNvSpPr txBox="1"/>
          <p:nvPr>
            <p:ph type="title"/>
          </p:nvPr>
        </p:nvSpPr>
        <p:spPr>
          <a:xfrm>
            <a:off x="887095" y="1533525"/>
            <a:ext cx="10835640" cy="108585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rgbClr val="23325D"/>
              </a:buClr>
              <a:buSzPts val="4400"/>
              <a:buFont typeface="Calibri"/>
              <a:buNone/>
              <a:defRPr b="1" sz="4400">
                <a:solidFill>
                  <a:srgbClr val="23325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6"/>
          <p:cNvSpPr txBox="1"/>
          <p:nvPr>
            <p:ph idx="1" type="body"/>
          </p:nvPr>
        </p:nvSpPr>
        <p:spPr>
          <a:xfrm>
            <a:off x="887095" y="2679065"/>
            <a:ext cx="10835640" cy="14998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7" name="Google Shape;37;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
  <p:cSld name="Title and content 2">
    <p:bg>
      <p:bgPr>
        <a:blipFill>
          <a:blip r:embed="rId2">
            <a:alphaModFix/>
          </a:blip>
          <a:stretch>
            <a:fillRect/>
          </a:stretch>
        </a:blipFill>
      </p:bgPr>
    </p:bg>
    <p:spTree>
      <p:nvGrpSpPr>
        <p:cNvPr id="40" name="Shape 40"/>
        <p:cNvGrpSpPr/>
        <p:nvPr/>
      </p:nvGrpSpPr>
      <p:grpSpPr>
        <a:xfrm>
          <a:off x="0" y="0"/>
          <a:ext cx="0" cy="0"/>
          <a:chOff x="0" y="0"/>
          <a:chExt cx="0" cy="0"/>
        </a:xfrm>
      </p:grpSpPr>
      <p:sp>
        <p:nvSpPr>
          <p:cNvPr id="41" name="Google Shape;41;p7"/>
          <p:cNvSpPr txBox="1"/>
          <p:nvPr>
            <p:ph type="title"/>
          </p:nvPr>
        </p:nvSpPr>
        <p:spPr>
          <a:xfrm>
            <a:off x="1414780" y="365125"/>
            <a:ext cx="9939020" cy="132588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325D"/>
              </a:buClr>
              <a:buSzPts val="4400"/>
              <a:buFont typeface="Calibri"/>
              <a:buNone/>
              <a:defRPr b="1">
                <a:solidFill>
                  <a:srgbClr val="23325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1414145" y="1825625"/>
            <a:ext cx="9747250" cy="39846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Calibri"/>
                <a:ea typeface="Calibri"/>
                <a:cs typeface="Calibri"/>
                <a:sym typeface="Calibri"/>
              </a:defRPr>
            </a:lvl1pPr>
            <a:lvl2pPr indent="0" lvl="1" marL="0" marR="0" rtl="0" algn="r">
              <a:spcBef>
                <a:spcPts val="0"/>
              </a:spcBef>
              <a:buNone/>
              <a:defRPr b="0" i="0" sz="1200" u="none" cap="none" strike="noStrike">
                <a:solidFill>
                  <a:srgbClr val="757575"/>
                </a:solidFill>
                <a:latin typeface="Calibri"/>
                <a:ea typeface="Calibri"/>
                <a:cs typeface="Calibri"/>
                <a:sym typeface="Calibri"/>
              </a:defRPr>
            </a:lvl2pPr>
            <a:lvl3pPr indent="0" lvl="2" marL="0" marR="0" rtl="0" algn="r">
              <a:spcBef>
                <a:spcPts val="0"/>
              </a:spcBef>
              <a:buNone/>
              <a:defRPr b="0" i="0" sz="1200" u="none" cap="none" strike="noStrike">
                <a:solidFill>
                  <a:srgbClr val="757575"/>
                </a:solidFill>
                <a:latin typeface="Calibri"/>
                <a:ea typeface="Calibri"/>
                <a:cs typeface="Calibri"/>
                <a:sym typeface="Calibri"/>
              </a:defRPr>
            </a:lvl3pPr>
            <a:lvl4pPr indent="0" lvl="3" marL="0" marR="0" rtl="0" algn="r">
              <a:spcBef>
                <a:spcPts val="0"/>
              </a:spcBef>
              <a:buNone/>
              <a:defRPr b="0" i="0" sz="1200" u="none" cap="none" strike="noStrike">
                <a:solidFill>
                  <a:srgbClr val="757575"/>
                </a:solidFill>
                <a:latin typeface="Calibri"/>
                <a:ea typeface="Calibri"/>
                <a:cs typeface="Calibri"/>
                <a:sym typeface="Calibri"/>
              </a:defRPr>
            </a:lvl4pPr>
            <a:lvl5pPr indent="0" lvl="4" marL="0" marR="0" rtl="0" algn="r">
              <a:spcBef>
                <a:spcPts val="0"/>
              </a:spcBef>
              <a:buNone/>
              <a:defRPr b="0" i="0" sz="1200" u="none" cap="none" strike="noStrike">
                <a:solidFill>
                  <a:srgbClr val="757575"/>
                </a:solidFill>
                <a:latin typeface="Calibri"/>
                <a:ea typeface="Calibri"/>
                <a:cs typeface="Calibri"/>
                <a:sym typeface="Calibri"/>
              </a:defRPr>
            </a:lvl5pPr>
            <a:lvl6pPr indent="0" lvl="5" marL="0" marR="0" rtl="0" algn="r">
              <a:spcBef>
                <a:spcPts val="0"/>
              </a:spcBef>
              <a:buNone/>
              <a:defRPr b="0" i="0" sz="1200" u="none" cap="none" strike="noStrike">
                <a:solidFill>
                  <a:srgbClr val="757575"/>
                </a:solidFill>
                <a:latin typeface="Calibri"/>
                <a:ea typeface="Calibri"/>
                <a:cs typeface="Calibri"/>
                <a:sym typeface="Calibri"/>
              </a:defRPr>
            </a:lvl6pPr>
            <a:lvl7pPr indent="0" lvl="6" marL="0" marR="0" rtl="0" algn="r">
              <a:spcBef>
                <a:spcPts val="0"/>
              </a:spcBef>
              <a:buNone/>
              <a:defRPr b="0" i="0" sz="1200" u="none" cap="none" strike="noStrike">
                <a:solidFill>
                  <a:srgbClr val="757575"/>
                </a:solidFill>
                <a:latin typeface="Calibri"/>
                <a:ea typeface="Calibri"/>
                <a:cs typeface="Calibri"/>
                <a:sym typeface="Calibri"/>
              </a:defRPr>
            </a:lvl7pPr>
            <a:lvl8pPr indent="0" lvl="7" marL="0" marR="0" rtl="0" algn="r">
              <a:spcBef>
                <a:spcPts val="0"/>
              </a:spcBef>
              <a:buNone/>
              <a:defRPr b="0" i="0" sz="1200" u="none" cap="none" strike="noStrike">
                <a:solidFill>
                  <a:srgbClr val="757575"/>
                </a:solidFill>
                <a:latin typeface="Calibri"/>
                <a:ea typeface="Calibri"/>
                <a:cs typeface="Calibri"/>
                <a:sym typeface="Calibri"/>
              </a:defRPr>
            </a:lvl8pPr>
            <a:lvl9pPr indent="0" lvl="8" marL="0" marR="0" rtl="0" algn="r">
              <a:spcBef>
                <a:spcPts val="0"/>
              </a:spcBef>
              <a:buNone/>
              <a:defRPr b="0" i="0" sz="1200" u="none" cap="none" strike="noStrike">
                <a:solidFill>
                  <a:srgbClr val="75757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8"/>
          <p:cNvSpPr txBox="1"/>
          <p:nvPr/>
        </p:nvSpPr>
        <p:spPr>
          <a:xfrm>
            <a:off x="640080" y="4846320"/>
            <a:ext cx="5486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5B6378"/>
                </a:solidFill>
                <a:latin typeface="Calibri"/>
                <a:ea typeface="Calibri"/>
                <a:cs typeface="Calibri"/>
                <a:sym typeface="Calibri"/>
              </a:rPr>
              <a:t>Ruturaj Chaubey – </a:t>
            </a:r>
            <a:r>
              <a:rPr i="1" lang="en-US" sz="1200">
                <a:solidFill>
                  <a:srgbClr val="9AA3B5"/>
                </a:solidFill>
                <a:latin typeface="Calibri"/>
                <a:ea typeface="Calibri"/>
                <a:cs typeface="Calibri"/>
                <a:sym typeface="Calibri"/>
              </a:rPr>
              <a:t>Full Stack Engineer</a:t>
            </a:r>
            <a:r>
              <a:rPr b="0" i="1" lang="en-US" sz="1200" u="none" cap="none" strike="noStrike">
                <a:solidFill>
                  <a:srgbClr val="9AA3B5"/>
                </a:solidFill>
                <a:latin typeface="Calibri"/>
                <a:ea typeface="Calibri"/>
                <a:cs typeface="Calibri"/>
                <a:sym typeface="Calibri"/>
              </a:rPr>
              <a:t> </a:t>
            </a:r>
            <a:r>
              <a:rPr i="1" lang="en-US" sz="1200">
                <a:solidFill>
                  <a:srgbClr val="9AA3B5"/>
                </a:solidFill>
                <a:latin typeface="Calibri"/>
                <a:ea typeface="Calibri"/>
                <a:cs typeface="Calibri"/>
                <a:sym typeface="Calibri"/>
              </a:rPr>
              <a:t>@ QED42</a:t>
            </a:r>
            <a:endParaRPr i="1" sz="1200">
              <a:solidFill>
                <a:srgbClr val="9AA3B5"/>
              </a:solidFill>
              <a:latin typeface="Calibri"/>
              <a:ea typeface="Calibri"/>
              <a:cs typeface="Calibri"/>
              <a:sym typeface="Calibri"/>
            </a:endParaRPr>
          </a:p>
          <a:p>
            <a:pPr indent="0" lvl="0" marL="0" rtl="0" algn="l">
              <a:spcBef>
                <a:spcPts val="0"/>
              </a:spcBef>
              <a:spcAft>
                <a:spcPts val="0"/>
              </a:spcAft>
              <a:buNone/>
            </a:pPr>
            <a:r>
              <a:rPr lang="en-US" sz="1200">
                <a:solidFill>
                  <a:srgbClr val="5B6378"/>
                </a:solidFill>
                <a:latin typeface="Calibri"/>
                <a:ea typeface="Calibri"/>
                <a:cs typeface="Calibri"/>
                <a:sym typeface="Calibri"/>
              </a:rPr>
              <a:t>Vighnesh</a:t>
            </a:r>
            <a:r>
              <a:rPr lang="en-US" sz="1200">
                <a:solidFill>
                  <a:srgbClr val="5B6378"/>
                </a:solidFill>
                <a:latin typeface="Calibri"/>
                <a:ea typeface="Calibri"/>
                <a:cs typeface="Calibri"/>
                <a:sym typeface="Calibri"/>
              </a:rPr>
              <a:t> Sadagopal – </a:t>
            </a:r>
            <a:r>
              <a:rPr i="1" lang="en-US" sz="1200">
                <a:solidFill>
                  <a:srgbClr val="9AA3B5"/>
                </a:solidFill>
                <a:latin typeface="Calibri"/>
                <a:ea typeface="Calibri"/>
                <a:cs typeface="Calibri"/>
                <a:sym typeface="Calibri"/>
              </a:rPr>
              <a:t>Full Stack Drupal Engineer @ QED42</a:t>
            </a:r>
            <a:endParaRPr i="1" sz="1200">
              <a:solidFill>
                <a:srgbClr val="9AA3B5"/>
              </a:solidFill>
              <a:latin typeface="Calibri"/>
              <a:ea typeface="Calibri"/>
              <a:cs typeface="Calibri"/>
              <a:sym typeface="Calibri"/>
            </a:endParaRPr>
          </a:p>
        </p:txBody>
      </p:sp>
      <p:sp>
        <p:nvSpPr>
          <p:cNvPr id="52" name="Google Shape;52;p8"/>
          <p:cNvSpPr txBox="1"/>
          <p:nvPr>
            <p:ph type="ctrTitle"/>
          </p:nvPr>
        </p:nvSpPr>
        <p:spPr>
          <a:xfrm>
            <a:off x="640075" y="1009650"/>
            <a:ext cx="8677800" cy="13398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rgbClr val="23325D"/>
              </a:buClr>
              <a:buSzPct val="100000"/>
              <a:buFont typeface="Calibri"/>
              <a:buNone/>
            </a:pPr>
            <a:r>
              <a:rPr lang="en-US" sz="5400">
                <a:solidFill>
                  <a:srgbClr val="23325D"/>
                </a:solidFill>
              </a:rPr>
              <a:t>From Ajax API to HTMX: Evol</a:t>
            </a:r>
            <a:r>
              <a:rPr lang="en-US" sz="5400"/>
              <a:t>ving Drupal Interactions</a:t>
            </a:r>
            <a:r>
              <a:rPr lang="en-US" sz="5400">
                <a:solidFill>
                  <a:srgbClr val="23325D"/>
                </a:solidFill>
              </a:rPr>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9"/>
          <p:cNvSpPr txBox="1"/>
          <p:nvPr>
            <p:ph type="title"/>
          </p:nvPr>
        </p:nvSpPr>
        <p:spPr>
          <a:xfrm>
            <a:off x="322580" y="2272665"/>
            <a:ext cx="11376660" cy="94805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t/>
            </a:r>
            <a:endParaRPr b="1">
              <a:solidFill>
                <a:schemeClr val="lt1"/>
              </a:solidFill>
            </a:endParaRPr>
          </a:p>
        </p:txBody>
      </p:sp>
      <p:sp>
        <p:nvSpPr>
          <p:cNvPr id="59" name="Google Shape;59;p9"/>
          <p:cNvSpPr txBox="1"/>
          <p:nvPr/>
        </p:nvSpPr>
        <p:spPr>
          <a:xfrm>
            <a:off x="640080" y="457200"/>
            <a:ext cx="54864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0D6DAC"/>
                </a:solidFill>
                <a:latin typeface="Calibri"/>
                <a:ea typeface="Calibri"/>
                <a:cs typeface="Calibri"/>
                <a:sym typeface="Calibri"/>
              </a:rPr>
              <a:t>— </a:t>
            </a:r>
            <a:r>
              <a:rPr b="1" i="0" lang="en-US" sz="1200" u="none" cap="none" strike="noStrike">
                <a:solidFill>
                  <a:srgbClr val="0D6DAC"/>
                </a:solidFill>
                <a:latin typeface="Calibri"/>
                <a:ea typeface="Calibri"/>
                <a:cs typeface="Calibri"/>
                <a:sym typeface="Calibri"/>
              </a:rPr>
              <a:t>LIVE</a:t>
            </a:r>
            <a:endParaRPr/>
          </a:p>
        </p:txBody>
      </p:sp>
      <p:sp>
        <p:nvSpPr>
          <p:cNvPr id="60" name="Google Shape;60;p9"/>
          <p:cNvSpPr/>
          <p:nvPr/>
        </p:nvSpPr>
        <p:spPr>
          <a:xfrm>
            <a:off x="2804160" y="1828800"/>
            <a:ext cx="6583680" cy="3657600"/>
          </a:xfrm>
          <a:prstGeom prst="roundRect">
            <a:avLst>
              <a:gd fmla="val 5000" name="adj"/>
            </a:avLst>
          </a:prstGeom>
          <a:solidFill>
            <a:srgbClr val="0C0E1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 name="Google Shape;61;p9"/>
          <p:cNvSpPr/>
          <p:nvPr/>
        </p:nvSpPr>
        <p:spPr>
          <a:xfrm>
            <a:off x="2804160" y="1828800"/>
            <a:ext cx="6583680" cy="457200"/>
          </a:xfrm>
          <a:prstGeom prst="rect">
            <a:avLst/>
          </a:prstGeom>
          <a:solidFill>
            <a:srgbClr val="1A1E2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 name="Google Shape;62;p9"/>
          <p:cNvSpPr/>
          <p:nvPr/>
        </p:nvSpPr>
        <p:spPr>
          <a:xfrm>
            <a:off x="2987040" y="2011680"/>
            <a:ext cx="91440" cy="91440"/>
          </a:xfrm>
          <a:prstGeom prst="ellipse">
            <a:avLst/>
          </a:prstGeom>
          <a:solidFill>
            <a:srgbClr val="5C62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 name="Google Shape;63;p9"/>
          <p:cNvSpPr/>
          <p:nvPr/>
        </p:nvSpPr>
        <p:spPr>
          <a:xfrm>
            <a:off x="3215640" y="2011680"/>
            <a:ext cx="91440" cy="91440"/>
          </a:xfrm>
          <a:prstGeom prst="ellipse">
            <a:avLst/>
          </a:prstGeom>
          <a:solidFill>
            <a:srgbClr val="5C62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 name="Google Shape;64;p9"/>
          <p:cNvSpPr/>
          <p:nvPr/>
        </p:nvSpPr>
        <p:spPr>
          <a:xfrm>
            <a:off x="3444240" y="2011680"/>
            <a:ext cx="91440" cy="91440"/>
          </a:xfrm>
          <a:prstGeom prst="ellipse">
            <a:avLst/>
          </a:prstGeom>
          <a:solidFill>
            <a:srgbClr val="5C62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 name="Google Shape;65;p9"/>
          <p:cNvSpPr/>
          <p:nvPr/>
        </p:nvSpPr>
        <p:spPr>
          <a:xfrm>
            <a:off x="3718560" y="1920240"/>
            <a:ext cx="5394960" cy="274320"/>
          </a:xfrm>
          <a:prstGeom prst="rect">
            <a:avLst/>
          </a:prstGeom>
          <a:solidFill>
            <a:srgbClr val="12141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9AA3B5"/>
                </a:solidFill>
                <a:latin typeface="Courier New"/>
                <a:ea typeface="Courier New"/>
                <a:cs typeface="Courier New"/>
                <a:sym typeface="Courier New"/>
              </a:rPr>
              <a:t>yoursite.example/articles</a:t>
            </a:r>
            <a:endParaRPr/>
          </a:p>
        </p:txBody>
      </p:sp>
      <p:sp>
        <p:nvSpPr>
          <p:cNvPr id="66" name="Google Shape;66;p9"/>
          <p:cNvSpPr/>
          <p:nvPr/>
        </p:nvSpPr>
        <p:spPr>
          <a:xfrm>
            <a:off x="3078480" y="2560320"/>
            <a:ext cx="2011680" cy="365760"/>
          </a:xfrm>
          <a:prstGeom prst="roundRect">
            <a:avLst>
              <a:gd fmla="val 20000" name="adj"/>
            </a:avLst>
          </a:prstGeom>
          <a:solidFill>
            <a:srgbClr val="FFFFFF"/>
          </a:solidFill>
          <a:ln cap="flat" cmpd="sng" w="12700">
            <a:solidFill>
              <a:srgbClr val="CCCCC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rgbClr val="23325D"/>
                </a:solidFill>
                <a:latin typeface="Calibri"/>
                <a:ea typeface="Calibri"/>
                <a:cs typeface="Calibri"/>
                <a:sym typeface="Calibri"/>
              </a:rPr>
              <a:t>Filter by: Recipes ▾</a:t>
            </a:r>
            <a:endParaRPr/>
          </a:p>
        </p:txBody>
      </p:sp>
      <p:sp>
        <p:nvSpPr>
          <p:cNvPr id="67" name="Google Shape;67;p9"/>
          <p:cNvSpPr/>
          <p:nvPr/>
        </p:nvSpPr>
        <p:spPr>
          <a:xfrm>
            <a:off x="3078480" y="3200400"/>
            <a:ext cx="5120640" cy="146304"/>
          </a:xfrm>
          <a:prstGeom prst="roundRect">
            <a:avLst>
              <a:gd fmla="val 50000" name="adj"/>
            </a:avLst>
          </a:prstGeom>
          <a:solidFill>
            <a:srgbClr val="E5E8E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 name="Google Shape;68;p9"/>
          <p:cNvSpPr/>
          <p:nvPr/>
        </p:nvSpPr>
        <p:spPr>
          <a:xfrm>
            <a:off x="3078480" y="3566160"/>
            <a:ext cx="4206240" cy="146304"/>
          </a:xfrm>
          <a:prstGeom prst="roundRect">
            <a:avLst>
              <a:gd fmla="val 50000" name="adj"/>
            </a:avLst>
          </a:prstGeom>
          <a:solidFill>
            <a:srgbClr val="E5E8E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 name="Google Shape;69;p9"/>
          <p:cNvSpPr/>
          <p:nvPr/>
        </p:nvSpPr>
        <p:spPr>
          <a:xfrm>
            <a:off x="3078480" y="3931920"/>
            <a:ext cx="2926080" cy="146304"/>
          </a:xfrm>
          <a:prstGeom prst="roundRect">
            <a:avLst>
              <a:gd fmla="val 50000" name="adj"/>
            </a:avLst>
          </a:prstGeom>
          <a:solidFill>
            <a:srgbClr val="E5E8E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 name="Google Shape;70;p9"/>
          <p:cNvSpPr txBox="1"/>
          <p:nvPr/>
        </p:nvSpPr>
        <p:spPr>
          <a:xfrm>
            <a:off x="2804160" y="5623560"/>
            <a:ext cx="658368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100" u="none" cap="none" strike="noStrike">
                <a:solidFill>
                  <a:srgbClr val="9AA3B5"/>
                </a:solidFill>
                <a:latin typeface="Calibri"/>
                <a:ea typeface="Calibri"/>
                <a:cs typeface="Calibri"/>
                <a:sym typeface="Calibri"/>
              </a:rPr>
              <a:t>mockup — live demo plays here in the browser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0"/>
          <p:cNvSpPr txBox="1"/>
          <p:nvPr>
            <p:ph type="title"/>
          </p:nvPr>
        </p:nvSpPr>
        <p:spPr>
          <a:xfrm>
            <a:off x="322580" y="2272665"/>
            <a:ext cx="11376660" cy="94805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t/>
            </a:r>
            <a:endParaRPr b="1">
              <a:solidFill>
                <a:schemeClr val="lt1"/>
              </a:solidFill>
            </a:endParaRPr>
          </a:p>
        </p:txBody>
      </p:sp>
      <p:sp>
        <p:nvSpPr>
          <p:cNvPr id="77" name="Google Shape;77;p10"/>
          <p:cNvSpPr txBox="1"/>
          <p:nvPr/>
        </p:nvSpPr>
        <p:spPr>
          <a:xfrm>
            <a:off x="822960" y="2011680"/>
            <a:ext cx="10515600" cy="310896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4000" u="none" cap="none" strike="noStrike">
                <a:solidFill>
                  <a:srgbClr val="23325D"/>
                </a:solidFill>
                <a:latin typeface="Calibri"/>
                <a:ea typeface="Calibri"/>
                <a:cs typeface="Calibri"/>
                <a:sym typeface="Calibri"/>
              </a:rPr>
              <a:t>That's a live filter.</a:t>
            </a:r>
            <a:endParaRPr/>
          </a:p>
          <a:p>
            <a:pPr indent="0" lvl="0" marL="0" marR="0" rtl="0" algn="l">
              <a:spcBef>
                <a:spcPts val="600"/>
              </a:spcBef>
              <a:spcAft>
                <a:spcPts val="0"/>
              </a:spcAft>
              <a:buNone/>
            </a:pPr>
            <a:r>
              <a:rPr b="0" i="0" lang="en-US" sz="4000" u="none" cap="none" strike="noStrike">
                <a:solidFill>
                  <a:srgbClr val="9AA3B5"/>
                </a:solidFill>
                <a:latin typeface="Calibri"/>
                <a:ea typeface="Calibri"/>
                <a:cs typeface="Calibri"/>
                <a:sym typeface="Calibri"/>
              </a:rPr>
              <a:t>No JavaScript file.</a:t>
            </a:r>
            <a:endParaRPr/>
          </a:p>
          <a:p>
            <a:pPr indent="0" lvl="0" marL="0" marR="0" rtl="0" algn="l">
              <a:spcBef>
                <a:spcPts val="600"/>
              </a:spcBef>
              <a:spcAft>
                <a:spcPts val="0"/>
              </a:spcAft>
              <a:buNone/>
            </a:pPr>
            <a:r>
              <a:rPr b="0" i="0" lang="en-US" sz="4000" u="none" cap="none" strike="noStrike">
                <a:solidFill>
                  <a:srgbClr val="9AA3B5"/>
                </a:solidFill>
                <a:latin typeface="Calibri"/>
                <a:ea typeface="Calibri"/>
                <a:cs typeface="Calibri"/>
                <a:sym typeface="Calibri"/>
              </a:rPr>
              <a:t>No Ajax command class.</a:t>
            </a:r>
            <a:endParaRPr/>
          </a:p>
          <a:p>
            <a:pPr indent="0" lvl="0" marL="0" marR="0" rtl="0" algn="l">
              <a:spcBef>
                <a:spcPts val="600"/>
              </a:spcBef>
              <a:spcAft>
                <a:spcPts val="0"/>
              </a:spcAft>
              <a:buNone/>
            </a:pPr>
            <a:r>
              <a:rPr b="1" i="0" lang="en-US" sz="4000" u="none" cap="none" strike="noStrike">
                <a:solidFill>
                  <a:srgbClr val="23325D"/>
                </a:solidFill>
                <a:latin typeface="Calibri"/>
                <a:ea typeface="Calibri"/>
                <a:cs typeface="Calibri"/>
                <a:sym typeface="Calibri"/>
              </a:rPr>
              <a:t>Just HTML.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4000"/>
              <a:buFont typeface="Calibri"/>
              <a:buNone/>
            </a:pPr>
            <a:r>
              <a:rPr lang="en-US" sz="4000">
                <a:solidFill>
                  <a:srgbClr val="23325D"/>
                </a:solidFill>
              </a:rPr>
              <a:t>Ruturaj Chaubey</a:t>
            </a:r>
            <a:endParaRPr/>
          </a:p>
        </p:txBody>
      </p:sp>
      <p:sp>
        <p:nvSpPr>
          <p:cNvPr id="84" name="Google Shape;84;p11"/>
          <p:cNvSpPr txBox="1"/>
          <p:nvPr>
            <p:ph idx="1" type="body"/>
          </p:nvPr>
        </p:nvSpPr>
        <p:spPr>
          <a:xfrm>
            <a:off x="640080" y="2377440"/>
            <a:ext cx="10908792" cy="292608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9AA3B5"/>
              </a:buClr>
              <a:buSzPts val="1800"/>
              <a:buChar char="•"/>
            </a:pPr>
            <a:r>
              <a:rPr b="0" i="1" lang="en-US" sz="1800">
                <a:solidFill>
                  <a:srgbClr val="9AA3B5"/>
                </a:solidFill>
                <a:latin typeface="Calibri"/>
                <a:ea typeface="Calibri"/>
                <a:cs typeface="Calibri"/>
                <a:sym typeface="Calibri"/>
              </a:rPr>
              <a:t>add role / company</a:t>
            </a:r>
            <a:endParaRPr/>
          </a:p>
          <a:p>
            <a:pPr indent="-114300" lvl="0" marL="228600" rtl="0" algn="l">
              <a:lnSpc>
                <a:spcPct val="90000"/>
              </a:lnSpc>
              <a:spcBef>
                <a:spcPts val="1000"/>
              </a:spcBef>
              <a:spcAft>
                <a:spcPts val="0"/>
              </a:spcAft>
              <a:buClr>
                <a:schemeClr val="dk1"/>
              </a:buClr>
              <a:buSzPts val="1800"/>
              <a:buNone/>
            </a:pPr>
            <a:r>
              <a:t/>
            </a:r>
            <a:endParaRPr b="0" i="1" sz="1800">
              <a:solidFill>
                <a:srgbClr val="9AA3B5"/>
              </a:solidFill>
              <a:latin typeface="Calibri"/>
              <a:ea typeface="Calibri"/>
              <a:cs typeface="Calibri"/>
              <a:sym typeface="Calibri"/>
            </a:endParaRPr>
          </a:p>
          <a:p>
            <a:pPr indent="-228600" lvl="0" marL="228600" rtl="0" algn="l">
              <a:lnSpc>
                <a:spcPct val="130000"/>
              </a:lnSpc>
              <a:spcBef>
                <a:spcPts val="1000"/>
              </a:spcBef>
              <a:spcAft>
                <a:spcPts val="0"/>
              </a:spcAft>
              <a:buClr>
                <a:srgbClr val="5B6378"/>
              </a:buClr>
              <a:buSzPts val="2000"/>
              <a:buChar char="•"/>
            </a:pPr>
            <a:r>
              <a:rPr b="0" i="0" lang="en-US" sz="2000">
                <a:solidFill>
                  <a:srgbClr val="5B6378"/>
                </a:solidFill>
                <a:latin typeface="Calibri"/>
                <a:ea typeface="Calibri"/>
                <a:cs typeface="Calibri"/>
                <a:sym typeface="Calibri"/>
              </a:rPr>
              <a:t>Spent a good chunk of the last few years building interactive Drupal sites the traditional way – callbacks and all. Which is exactly why HTMX got me excited.</a:t>
            </a:r>
            <a:endParaRPr/>
          </a:p>
        </p:txBody>
      </p:sp>
      <p:sp>
        <p:nvSpPr>
          <p:cNvPr id="85" name="Google Shape;85;p11"/>
          <p:cNvSpPr/>
          <p:nvPr/>
        </p:nvSpPr>
        <p:spPr>
          <a:xfrm>
            <a:off x="9509760" y="1737360"/>
            <a:ext cx="1463040" cy="1463040"/>
          </a:xfrm>
          <a:prstGeom prst="ellipse">
            <a:avLst/>
          </a:prstGeom>
          <a:solidFill>
            <a:srgbClr val="202C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3200" u="none" cap="none" strike="noStrike">
                <a:solidFill>
                  <a:srgbClr val="FFFFFF"/>
                </a:solidFill>
                <a:latin typeface="Calibri"/>
                <a:ea typeface="Calibri"/>
                <a:cs typeface="Calibri"/>
                <a:sym typeface="Calibri"/>
              </a:rPr>
              <a:t>RC</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2"/>
          <p:cNvSpPr txBox="1"/>
          <p:nvPr>
            <p:ph type="title"/>
          </p:nvPr>
        </p:nvSpPr>
        <p:spPr>
          <a:xfrm>
            <a:off x="553720" y="2813090"/>
            <a:ext cx="10760700" cy="1231800"/>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90000"/>
              </a:lnSpc>
              <a:spcBef>
                <a:spcPts val="0"/>
              </a:spcBef>
              <a:spcAft>
                <a:spcPts val="0"/>
              </a:spcAft>
              <a:buClr>
                <a:srgbClr val="FFFFFF"/>
              </a:buClr>
              <a:buSzPct val="100000"/>
              <a:buFont typeface="Calibri"/>
              <a:buNone/>
            </a:pPr>
            <a:r>
              <a:rPr b="1" i="0" lang="en-US" sz="3400">
                <a:solidFill>
                  <a:srgbClr val="FFFFFF"/>
                </a:solidFill>
                <a:latin typeface="Calibri"/>
                <a:ea typeface="Calibri"/>
                <a:cs typeface="Calibri"/>
                <a:sym typeface="Calibri"/>
              </a:rPr>
              <a:t>“The future of Drupal UX </a:t>
            </a:r>
            <a:r>
              <a:rPr b="1" i="0" lang="en-US" sz="3400">
                <a:solidFill>
                  <a:srgbClr val="FFFFFF"/>
                </a:solidFill>
                <a:latin typeface="Calibri"/>
                <a:ea typeface="Calibri"/>
                <a:cs typeface="Calibri"/>
                <a:sym typeface="Calibri"/>
              </a:rPr>
              <a:t>isn</a:t>
            </a:r>
            <a:r>
              <a:rPr b="1" i="0" lang="en-US" sz="3400">
                <a:solidFill>
                  <a:srgbClr val="FFFFFF"/>
                </a:solidFill>
                <a:latin typeface="Calibri"/>
                <a:ea typeface="Calibri"/>
                <a:cs typeface="Calibri"/>
                <a:sym typeface="Calibri"/>
              </a:rPr>
              <a:t>'t more</a:t>
            </a:r>
            <a:r>
              <a:rPr b="1" i="0" lang="en-US" sz="3400">
                <a:solidFill>
                  <a:srgbClr val="FFFFFF"/>
                </a:solidFill>
                <a:latin typeface="Calibri"/>
                <a:ea typeface="Calibri"/>
                <a:cs typeface="Calibri"/>
                <a:sym typeface="Calibri"/>
              </a:rPr>
              <a:t> </a:t>
            </a:r>
            <a:r>
              <a:rPr b="1" i="0" lang="en-US" sz="3400">
                <a:solidFill>
                  <a:srgbClr val="FFFFFF"/>
                </a:solidFill>
                <a:latin typeface="Calibri"/>
                <a:ea typeface="Calibri"/>
                <a:cs typeface="Calibri"/>
                <a:sym typeface="Calibri"/>
              </a:rPr>
              <a:t>JS.</a:t>
            </a:r>
            <a:endParaRPr/>
          </a:p>
          <a:p>
            <a:pPr indent="0" lvl="0" marL="0" rtl="0" algn="ctr">
              <a:lnSpc>
                <a:spcPct val="90000"/>
              </a:lnSpc>
              <a:spcBef>
                <a:spcPts val="0"/>
              </a:spcBef>
              <a:spcAft>
                <a:spcPts val="0"/>
              </a:spcAft>
              <a:buClr>
                <a:schemeClr val="lt1"/>
              </a:buClr>
              <a:buSzPct val="100000"/>
              <a:buFont typeface="Calibri"/>
              <a:buNone/>
            </a:pPr>
            <a:r>
              <a:rPr b="1" lang="en-US" sz="6000">
                <a:solidFill>
                  <a:schemeClr val="lt1"/>
                </a:solidFill>
              </a:rPr>
              <a:t>It's smarter HTML</a:t>
            </a:r>
            <a:r>
              <a:rPr lang="en-US"/>
              <a:t>,</a:t>
            </a:r>
            <a:r>
              <a:rPr b="1" lang="en-US" sz="6000">
                <a:solidFill>
                  <a:schemeClr val="lt1"/>
                </a:solidFill>
              </a:rPr>
              <a:t> with HTMX.”</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3"/>
          <p:cNvSpPr txBox="1"/>
          <p:nvPr>
            <p:ph type="title"/>
          </p:nvPr>
        </p:nvSpPr>
        <p:spPr>
          <a:xfrm>
            <a:off x="604075" y="365050"/>
            <a:ext cx="10713600" cy="753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400"/>
              <a:buFont typeface="Calibri"/>
              <a:buNone/>
            </a:pPr>
            <a:r>
              <a:rPr lang="en-US" sz="3400">
                <a:solidFill>
                  <a:srgbClr val="23325D"/>
                </a:solidFill>
              </a:rPr>
              <a:t>Where we're headed</a:t>
            </a:r>
            <a:endParaRPr/>
          </a:p>
        </p:txBody>
      </p:sp>
      <p:sp>
        <p:nvSpPr>
          <p:cNvPr id="98" name="Google Shape;98;p13"/>
          <p:cNvSpPr/>
          <p:nvPr/>
        </p:nvSpPr>
        <p:spPr>
          <a:xfrm>
            <a:off x="603504" y="1325880"/>
            <a:ext cx="592200" cy="504600"/>
          </a:xfrm>
          <a:prstGeom prst="ellipse">
            <a:avLst/>
          </a:prstGeom>
          <a:solidFill>
            <a:srgbClr val="202C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ourier New"/>
                <a:ea typeface="Courier New"/>
                <a:cs typeface="Courier New"/>
                <a:sym typeface="Courier New"/>
              </a:rPr>
              <a:t>01</a:t>
            </a:r>
            <a:endParaRPr/>
          </a:p>
        </p:txBody>
      </p:sp>
      <p:sp>
        <p:nvSpPr>
          <p:cNvPr id="99" name="Google Shape;99;p13"/>
          <p:cNvSpPr txBox="1"/>
          <p:nvPr/>
        </p:nvSpPr>
        <p:spPr>
          <a:xfrm>
            <a:off x="1325880" y="1444752"/>
            <a:ext cx="9875400" cy="26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700" u="none" cap="none" strike="noStrike">
                <a:solidFill>
                  <a:srgbClr val="23325D"/>
                </a:solidFill>
                <a:latin typeface="Calibri"/>
                <a:ea typeface="Calibri"/>
                <a:cs typeface="Calibri"/>
                <a:sym typeface="Calibri"/>
              </a:rPr>
              <a:t>Why the Ajax API gets painful at scale</a:t>
            </a:r>
            <a:endParaRPr/>
          </a:p>
        </p:txBody>
      </p:sp>
      <p:cxnSp>
        <p:nvCxnSpPr>
          <p:cNvPr id="100" name="Google Shape;100;p13"/>
          <p:cNvCxnSpPr/>
          <p:nvPr/>
        </p:nvCxnSpPr>
        <p:spPr>
          <a:xfrm>
            <a:off x="640080" y="1892807"/>
            <a:ext cx="10515600" cy="0"/>
          </a:xfrm>
          <a:prstGeom prst="straightConnector1">
            <a:avLst/>
          </a:prstGeom>
          <a:noFill/>
          <a:ln cap="flat" cmpd="sng" w="9525">
            <a:solidFill>
              <a:srgbClr val="E3E6EC"/>
            </a:solidFill>
            <a:prstDash val="solid"/>
            <a:miter lim="8000"/>
            <a:headEnd len="sm" w="sm" type="none"/>
            <a:tailEnd len="sm" w="sm" type="none"/>
          </a:ln>
        </p:spPr>
      </p:cxnSp>
      <p:sp>
        <p:nvSpPr>
          <p:cNvPr id="101" name="Google Shape;101;p13"/>
          <p:cNvSpPr txBox="1"/>
          <p:nvPr/>
        </p:nvSpPr>
        <p:spPr>
          <a:xfrm>
            <a:off x="1325880" y="2084831"/>
            <a:ext cx="9875400" cy="261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23325D"/>
                </a:solidFill>
                <a:latin typeface="Calibri"/>
                <a:ea typeface="Calibri"/>
                <a:cs typeface="Calibri"/>
                <a:sym typeface="Calibri"/>
              </a:rPr>
              <a:t>HTMX's core idea</a:t>
            </a:r>
            <a:endParaRPr/>
          </a:p>
        </p:txBody>
      </p:sp>
      <p:cxnSp>
        <p:nvCxnSpPr>
          <p:cNvPr id="102" name="Google Shape;102;p13"/>
          <p:cNvCxnSpPr/>
          <p:nvPr/>
        </p:nvCxnSpPr>
        <p:spPr>
          <a:xfrm>
            <a:off x="640080" y="2532888"/>
            <a:ext cx="10515600" cy="0"/>
          </a:xfrm>
          <a:prstGeom prst="straightConnector1">
            <a:avLst/>
          </a:prstGeom>
          <a:noFill/>
          <a:ln cap="flat" cmpd="sng" w="9525">
            <a:solidFill>
              <a:srgbClr val="E3E6EC"/>
            </a:solidFill>
            <a:prstDash val="solid"/>
            <a:miter lim="8000"/>
            <a:headEnd len="sm" w="sm" type="none"/>
            <a:tailEnd len="sm" w="sm" type="none"/>
          </a:ln>
        </p:spPr>
      </p:cxnSp>
      <p:sp>
        <p:nvSpPr>
          <p:cNvPr id="103" name="Google Shape;103;p13"/>
          <p:cNvSpPr txBox="1"/>
          <p:nvPr/>
        </p:nvSpPr>
        <p:spPr>
          <a:xfrm>
            <a:off x="1325880" y="2724911"/>
            <a:ext cx="9875400" cy="261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23325D"/>
                </a:solidFill>
                <a:latin typeface="Calibri"/>
                <a:ea typeface="Calibri"/>
                <a:cs typeface="Calibri"/>
                <a:sym typeface="Calibri"/>
              </a:rPr>
              <a:t>Mapping that idea onto Drupal's render, routing &amp; caching</a:t>
            </a:r>
            <a:endParaRPr/>
          </a:p>
        </p:txBody>
      </p:sp>
      <p:cxnSp>
        <p:nvCxnSpPr>
          <p:cNvPr id="104" name="Google Shape;104;p13"/>
          <p:cNvCxnSpPr/>
          <p:nvPr/>
        </p:nvCxnSpPr>
        <p:spPr>
          <a:xfrm>
            <a:off x="640080" y="3172968"/>
            <a:ext cx="10515600" cy="0"/>
          </a:xfrm>
          <a:prstGeom prst="straightConnector1">
            <a:avLst/>
          </a:prstGeom>
          <a:noFill/>
          <a:ln cap="flat" cmpd="sng" w="9525">
            <a:solidFill>
              <a:srgbClr val="E3E6EC"/>
            </a:solidFill>
            <a:prstDash val="solid"/>
            <a:miter lim="8000"/>
            <a:headEnd len="sm" w="sm" type="none"/>
            <a:tailEnd len="sm" w="sm" type="none"/>
          </a:ln>
        </p:spPr>
      </p:cxnSp>
      <p:sp>
        <p:nvSpPr>
          <p:cNvPr id="105" name="Google Shape;105;p13"/>
          <p:cNvSpPr txBox="1"/>
          <p:nvPr/>
        </p:nvSpPr>
        <p:spPr>
          <a:xfrm>
            <a:off x="1325880" y="3364991"/>
            <a:ext cx="9875400" cy="261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23325D"/>
                </a:solidFill>
                <a:latin typeface="Calibri"/>
                <a:ea typeface="Calibri"/>
                <a:cs typeface="Calibri"/>
                <a:sym typeface="Calibri"/>
              </a:rPr>
              <a:t>Live: a form, a filter, a partial update — barely any JS</a:t>
            </a:r>
            <a:endParaRPr/>
          </a:p>
        </p:txBody>
      </p:sp>
      <p:cxnSp>
        <p:nvCxnSpPr>
          <p:cNvPr id="106" name="Google Shape;106;p13"/>
          <p:cNvCxnSpPr/>
          <p:nvPr/>
        </p:nvCxnSpPr>
        <p:spPr>
          <a:xfrm>
            <a:off x="640080" y="3813048"/>
            <a:ext cx="10515600" cy="0"/>
          </a:xfrm>
          <a:prstGeom prst="straightConnector1">
            <a:avLst/>
          </a:prstGeom>
          <a:noFill/>
          <a:ln cap="flat" cmpd="sng" w="9525">
            <a:solidFill>
              <a:srgbClr val="E3E6EC"/>
            </a:solidFill>
            <a:prstDash val="solid"/>
            <a:miter lim="8000"/>
            <a:headEnd len="sm" w="sm" type="none"/>
            <a:tailEnd len="sm" w="sm" type="none"/>
          </a:ln>
        </p:spPr>
      </p:cxnSp>
      <p:sp>
        <p:nvSpPr>
          <p:cNvPr id="107" name="Google Shape;107;p13"/>
          <p:cNvSpPr txBox="1"/>
          <p:nvPr/>
        </p:nvSpPr>
        <p:spPr>
          <a:xfrm>
            <a:off x="1325880" y="4005072"/>
            <a:ext cx="9875400" cy="261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23325D"/>
                </a:solidFill>
                <a:latin typeface="Calibri"/>
                <a:ea typeface="Calibri"/>
                <a:cs typeface="Calibri"/>
                <a:sym typeface="Calibri"/>
              </a:rPr>
              <a:t>Ajax API vs HTMX, compared honestly</a:t>
            </a:r>
            <a:endParaRPr/>
          </a:p>
        </p:txBody>
      </p:sp>
      <p:cxnSp>
        <p:nvCxnSpPr>
          <p:cNvPr id="108" name="Google Shape;108;p13"/>
          <p:cNvCxnSpPr/>
          <p:nvPr/>
        </p:nvCxnSpPr>
        <p:spPr>
          <a:xfrm>
            <a:off x="640080" y="4453128"/>
            <a:ext cx="10515600" cy="0"/>
          </a:xfrm>
          <a:prstGeom prst="straightConnector1">
            <a:avLst/>
          </a:prstGeom>
          <a:noFill/>
          <a:ln cap="flat" cmpd="sng" w="9525">
            <a:solidFill>
              <a:srgbClr val="E3E6EC"/>
            </a:solidFill>
            <a:prstDash val="solid"/>
            <a:miter lim="8000"/>
            <a:headEnd len="sm" w="sm" type="none"/>
            <a:tailEnd len="sm" w="sm" type="none"/>
          </a:ln>
        </p:spPr>
      </p:cxnSp>
      <p:sp>
        <p:nvSpPr>
          <p:cNvPr id="109" name="Google Shape;109;p13"/>
          <p:cNvSpPr txBox="1"/>
          <p:nvPr/>
        </p:nvSpPr>
        <p:spPr>
          <a:xfrm>
            <a:off x="1325880" y="4645152"/>
            <a:ext cx="9875400" cy="261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23325D"/>
                </a:solidFill>
                <a:latin typeface="Calibri"/>
                <a:ea typeface="Calibri"/>
                <a:cs typeface="Calibri"/>
                <a:sym typeface="Calibri"/>
              </a:rPr>
              <a:t>Bringing it into a project you already have</a:t>
            </a:r>
            <a:endParaRPr/>
          </a:p>
        </p:txBody>
      </p:sp>
      <p:sp>
        <p:nvSpPr>
          <p:cNvPr id="110" name="Google Shape;110;p13"/>
          <p:cNvSpPr/>
          <p:nvPr/>
        </p:nvSpPr>
        <p:spPr>
          <a:xfrm>
            <a:off x="603504" y="1965960"/>
            <a:ext cx="592200" cy="504600"/>
          </a:xfrm>
          <a:prstGeom prst="ellipse">
            <a:avLst/>
          </a:prstGeom>
          <a:solidFill>
            <a:srgbClr val="202C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ourier New"/>
                <a:ea typeface="Courier New"/>
                <a:cs typeface="Courier New"/>
                <a:sym typeface="Courier New"/>
              </a:rPr>
              <a:t>0</a:t>
            </a:r>
            <a:r>
              <a:rPr b="1" lang="en-US" sz="1300">
                <a:solidFill>
                  <a:srgbClr val="FFFFFF"/>
                </a:solidFill>
                <a:latin typeface="Courier New"/>
                <a:ea typeface="Courier New"/>
                <a:cs typeface="Courier New"/>
                <a:sym typeface="Courier New"/>
              </a:rPr>
              <a:t>2</a:t>
            </a:r>
            <a:endParaRPr/>
          </a:p>
        </p:txBody>
      </p:sp>
      <p:sp>
        <p:nvSpPr>
          <p:cNvPr id="111" name="Google Shape;111;p13"/>
          <p:cNvSpPr/>
          <p:nvPr/>
        </p:nvSpPr>
        <p:spPr>
          <a:xfrm>
            <a:off x="603504" y="2606039"/>
            <a:ext cx="592200" cy="504600"/>
          </a:xfrm>
          <a:prstGeom prst="ellipse">
            <a:avLst/>
          </a:prstGeom>
          <a:solidFill>
            <a:srgbClr val="202C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ourier New"/>
                <a:ea typeface="Courier New"/>
                <a:cs typeface="Courier New"/>
                <a:sym typeface="Courier New"/>
              </a:rPr>
              <a:t>0</a:t>
            </a:r>
            <a:r>
              <a:rPr b="1" lang="en-US" sz="1300">
                <a:solidFill>
                  <a:srgbClr val="FFFFFF"/>
                </a:solidFill>
                <a:latin typeface="Courier New"/>
                <a:ea typeface="Courier New"/>
                <a:cs typeface="Courier New"/>
                <a:sym typeface="Courier New"/>
              </a:rPr>
              <a:t>3</a:t>
            </a:r>
            <a:endParaRPr/>
          </a:p>
        </p:txBody>
      </p:sp>
      <p:sp>
        <p:nvSpPr>
          <p:cNvPr id="112" name="Google Shape;112;p13"/>
          <p:cNvSpPr/>
          <p:nvPr/>
        </p:nvSpPr>
        <p:spPr>
          <a:xfrm>
            <a:off x="603504" y="3246120"/>
            <a:ext cx="592200" cy="504600"/>
          </a:xfrm>
          <a:prstGeom prst="ellipse">
            <a:avLst/>
          </a:prstGeom>
          <a:solidFill>
            <a:srgbClr val="202C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ourier New"/>
                <a:ea typeface="Courier New"/>
                <a:cs typeface="Courier New"/>
                <a:sym typeface="Courier New"/>
              </a:rPr>
              <a:t>0</a:t>
            </a:r>
            <a:r>
              <a:rPr b="1" lang="en-US" sz="1300">
                <a:solidFill>
                  <a:srgbClr val="FFFFFF"/>
                </a:solidFill>
                <a:latin typeface="Courier New"/>
                <a:ea typeface="Courier New"/>
                <a:cs typeface="Courier New"/>
                <a:sym typeface="Courier New"/>
              </a:rPr>
              <a:t>4</a:t>
            </a:r>
            <a:endParaRPr/>
          </a:p>
        </p:txBody>
      </p:sp>
      <p:sp>
        <p:nvSpPr>
          <p:cNvPr id="113" name="Google Shape;113;p13"/>
          <p:cNvSpPr/>
          <p:nvPr/>
        </p:nvSpPr>
        <p:spPr>
          <a:xfrm>
            <a:off x="603504" y="3886200"/>
            <a:ext cx="592200" cy="504600"/>
          </a:xfrm>
          <a:prstGeom prst="ellipse">
            <a:avLst/>
          </a:prstGeom>
          <a:solidFill>
            <a:srgbClr val="202C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ourier New"/>
                <a:ea typeface="Courier New"/>
                <a:cs typeface="Courier New"/>
                <a:sym typeface="Courier New"/>
              </a:rPr>
              <a:t>0</a:t>
            </a:r>
            <a:r>
              <a:rPr b="1" lang="en-US" sz="1300">
                <a:solidFill>
                  <a:srgbClr val="FFFFFF"/>
                </a:solidFill>
                <a:latin typeface="Courier New"/>
                <a:ea typeface="Courier New"/>
                <a:cs typeface="Courier New"/>
                <a:sym typeface="Courier New"/>
              </a:rPr>
              <a:t>5</a:t>
            </a:r>
            <a:endParaRPr/>
          </a:p>
        </p:txBody>
      </p:sp>
      <p:sp>
        <p:nvSpPr>
          <p:cNvPr id="114" name="Google Shape;114;p13"/>
          <p:cNvSpPr/>
          <p:nvPr/>
        </p:nvSpPr>
        <p:spPr>
          <a:xfrm>
            <a:off x="603504" y="4526280"/>
            <a:ext cx="592200" cy="504600"/>
          </a:xfrm>
          <a:prstGeom prst="ellipse">
            <a:avLst/>
          </a:prstGeom>
          <a:solidFill>
            <a:srgbClr val="202C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ourier New"/>
                <a:ea typeface="Courier New"/>
                <a:cs typeface="Courier New"/>
                <a:sym typeface="Courier New"/>
              </a:rPr>
              <a:t>0</a:t>
            </a:r>
            <a:r>
              <a:rPr b="1" lang="en-US" sz="1300">
                <a:solidFill>
                  <a:srgbClr val="FFFFFF"/>
                </a:solidFill>
                <a:latin typeface="Courier New"/>
                <a:ea typeface="Courier New"/>
                <a:cs typeface="Courier New"/>
                <a:sym typeface="Courier New"/>
              </a:rPr>
              <a:t>6</a:t>
            </a:r>
            <a:endParaRPr/>
          </a:p>
        </p:txBody>
      </p:sp>
      <p:sp>
        <p:nvSpPr>
          <p:cNvPr id="3001" name="Shape 3001"/>
          <p:cNvSpPr/>
          <p:nvPr/>
        </p:nvSpPr>
        <p:spPr>
          <a:xfrm>
            <a:off x="603504" y="5166359"/>
            <a:ext cx="592200" cy="504600"/>
          </a:xfrm>
          <a:prstGeom prst="ellipse">
            <a:avLst/>
          </a:prstGeom>
          <a:solidFill>
            <a:srgbClr val="202C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ourier New"/>
                <a:ea typeface="Courier New"/>
                <a:cs typeface="Courier New"/>
                <a:sym typeface="Courier New"/>
              </a:rPr>
              <a:t>0</a:t>
            </a:r>
            <a:r>
              <a:rPr b="1" lang="en-US" sz="1300">
                <a:solidFill>
                  <a:srgbClr val="FFFFFF"/>
                </a:solidFill>
                <a:latin typeface="Courier New"/>
                <a:ea typeface="Courier New"/>
                <a:cs typeface="Courier New"/>
                <a:sym typeface="Courier New"/>
              </a:rPr>
              <a:t>7</a:t>
            </a:r>
            <a:endParaRPr/>
          </a:p>
        </p:txBody>
      </p:sp>
      <p:sp>
        <p:nvSpPr>
          <p:cNvPr id="3002" name="Shape 3002"/>
          <p:cNvSpPr txBox="1"/>
          <p:nvPr/>
        </p:nvSpPr>
        <p:spPr>
          <a:xfrm>
            <a:off x="1325880" y="5285231"/>
            <a:ext cx="9875400" cy="261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23325D"/>
                </a:solidFill>
                <a:latin typeface="Calibri"/>
                <a:ea typeface="Calibri"/>
                <a:cs typeface="Calibri"/>
                <a:sym typeface="Calibri"/>
              </a:rPr>
              <a:t>Where HTMX stands in Drupal core today, and how to contribute</a:t>
            </a:r>
            <a:endParaRPr/>
          </a:p>
        </p:txBody>
      </p:sp>
      <p:cxnSp>
        <p:nvCxnSpPr>
          <p:cNvPr id="3003" name="Shape 3003"/>
          <p:cNvCxnSpPr/>
          <p:nvPr/>
        </p:nvCxnSpPr>
        <p:spPr>
          <a:xfrm>
            <a:off x="640080" y="5093208"/>
            <a:ext cx="10515600" cy="0"/>
          </a:xfrm>
          <a:prstGeom prst="straightConnector1">
            <a:avLst/>
          </a:prstGeom>
          <a:noFill/>
          <a:ln cap="flat" cmpd="sng" w="9525">
            <a:solidFill>
              <a:srgbClr val="E3E6EC"/>
            </a:solidFill>
            <a:prstDash val="solid"/>
            <a:miter lim="8000"/>
            <a:headEnd len="sm" w="sm" type="none"/>
            <a:tailEnd len="sm" w="sm"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4"/>
          <p:cNvSpPr txBox="1"/>
          <p:nvPr>
            <p:ph type="title"/>
          </p:nvPr>
        </p:nvSpPr>
        <p:spPr>
          <a:xfrm>
            <a:off x="799925" y="1847575"/>
            <a:ext cx="10922700" cy="1086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3325D"/>
              </a:buClr>
              <a:buSzPts val="3600"/>
              <a:buFont typeface="Calibri"/>
              <a:buNone/>
            </a:pPr>
            <a:r>
              <a:rPr lang="en-US" sz="3600">
                <a:solidFill>
                  <a:srgbClr val="23325D"/>
                </a:solidFill>
              </a:rPr>
              <a:t>Ajax API: Evolution &amp; Pain Points</a:t>
            </a:r>
            <a:endParaRPr/>
          </a:p>
        </p:txBody>
      </p:sp>
      <p:sp>
        <p:nvSpPr>
          <p:cNvPr id="121" name="Google Shape;121;p14"/>
          <p:cNvSpPr txBox="1"/>
          <p:nvPr/>
        </p:nvSpPr>
        <p:spPr>
          <a:xfrm>
            <a:off x="7589520" y="4297680"/>
            <a:ext cx="3931920" cy="210312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i="0" lang="en-US" sz="17000" u="none" cap="none" strike="noStrike">
                <a:solidFill>
                  <a:srgbClr val="DDE3EF"/>
                </a:solidFill>
                <a:latin typeface="Courier New"/>
                <a:ea typeface="Courier New"/>
                <a:cs typeface="Courier New"/>
                <a:sym typeface="Courier New"/>
              </a:rPr>
              <a:t>02</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5"/>
          <p:cNvSpPr txBox="1"/>
          <p:nvPr>
            <p:ph type="title"/>
          </p:nvPr>
        </p:nvSpPr>
        <p:spPr>
          <a:xfrm>
            <a:off x="530175" y="600650"/>
            <a:ext cx="105156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000"/>
              <a:buFont typeface="Calibri"/>
              <a:buNone/>
            </a:pPr>
            <a:r>
              <a:rPr lang="en-US" sz="3000">
                <a:solidFill>
                  <a:srgbClr val="23325D"/>
                </a:solidFill>
              </a:rPr>
              <a:t>Ajax API: Evolution &amp; Pain Points</a:t>
            </a:r>
            <a:endParaRPr/>
          </a:p>
        </p:txBody>
      </p:sp>
      <p:sp>
        <p:nvSpPr>
          <p:cNvPr id="128" name="Google Shape;128;p15"/>
          <p:cNvSpPr txBox="1"/>
          <p:nvPr/>
        </p:nvSpPr>
        <p:spPr>
          <a:xfrm>
            <a:off x="640080" y="327891"/>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0D6DAC"/>
                </a:solidFill>
                <a:latin typeface="Calibri"/>
                <a:ea typeface="Calibri"/>
                <a:cs typeface="Calibri"/>
                <a:sym typeface="Calibri"/>
              </a:rPr>
              <a:t>— </a:t>
            </a:r>
            <a:r>
              <a:rPr b="1" i="0" lang="en-US" sz="1200" u="none" cap="none" strike="noStrike">
                <a:solidFill>
                  <a:srgbClr val="0D6DAC"/>
                </a:solidFill>
                <a:latin typeface="Calibri"/>
                <a:ea typeface="Calibri"/>
                <a:cs typeface="Calibri"/>
                <a:sym typeface="Calibri"/>
              </a:rPr>
              <a:t>A BRIEF HISTORY</a:t>
            </a:r>
            <a:endParaRPr/>
          </a:p>
        </p:txBody>
      </p:sp>
      <p:sp>
        <p:nvSpPr>
          <p:cNvPr id="129" name="Google Shape;129;p15"/>
          <p:cNvSpPr txBox="1"/>
          <p:nvPr/>
        </p:nvSpPr>
        <p:spPr>
          <a:xfrm>
            <a:off x="640080" y="1783080"/>
            <a:ext cx="201168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0D6DAC"/>
                </a:solidFill>
                <a:latin typeface="Courier New"/>
                <a:ea typeface="Courier New"/>
                <a:cs typeface="Courier New"/>
                <a:sym typeface="Courier New"/>
              </a:rPr>
              <a:t>DRUPAL 7</a:t>
            </a:r>
            <a:endParaRPr/>
          </a:p>
        </p:txBody>
      </p:sp>
      <p:sp>
        <p:nvSpPr>
          <p:cNvPr id="130" name="Google Shape;130;p15"/>
          <p:cNvSpPr txBox="1"/>
          <p:nvPr/>
        </p:nvSpPr>
        <p:spPr>
          <a:xfrm>
            <a:off x="640080" y="2103120"/>
            <a:ext cx="10908900" cy="541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600" u="none" cap="none" strike="noStrike">
                <a:solidFill>
                  <a:srgbClr val="23325D"/>
                </a:solidFill>
                <a:latin typeface="Calibri"/>
                <a:ea typeface="Calibri"/>
                <a:cs typeface="Calibri"/>
                <a:sym typeface="Calibri"/>
              </a:rPr>
              <a:t>Ajax API unified into a single core framework</a:t>
            </a:r>
            <a:endParaRPr b="0" i="0" sz="1600" u="none" cap="none" strike="noStrike">
              <a:solidFill>
                <a:srgbClr val="23325D"/>
              </a:solidFill>
              <a:latin typeface="Calibri"/>
              <a:ea typeface="Calibri"/>
              <a:cs typeface="Calibri"/>
              <a:sym typeface="Calibri"/>
            </a:endParaRPr>
          </a:p>
          <a:p>
            <a:pPr indent="0" lvl="0" marL="0" marR="0" rtl="0" algn="l">
              <a:lnSpc>
                <a:spcPct val="120000"/>
              </a:lnSpc>
              <a:spcBef>
                <a:spcPts val="0"/>
              </a:spcBef>
              <a:spcAft>
                <a:spcPts val="0"/>
              </a:spcAft>
              <a:buNone/>
            </a:pPr>
            <a:r>
              <a:t/>
            </a:r>
            <a:endParaRPr sz="1600">
              <a:solidFill>
                <a:srgbClr val="23325D"/>
              </a:solidFill>
              <a:latin typeface="Calibri"/>
              <a:ea typeface="Calibri"/>
              <a:cs typeface="Calibri"/>
              <a:sym typeface="Calibri"/>
            </a:endParaRPr>
          </a:p>
        </p:txBody>
      </p:sp>
      <p:sp>
        <p:nvSpPr>
          <p:cNvPr id="131" name="Google Shape;131;p15"/>
          <p:cNvSpPr txBox="1"/>
          <p:nvPr/>
        </p:nvSpPr>
        <p:spPr>
          <a:xfrm>
            <a:off x="640075" y="2892375"/>
            <a:ext cx="20118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0D6DAC"/>
                </a:solidFill>
                <a:latin typeface="Courier New"/>
                <a:ea typeface="Courier New"/>
                <a:cs typeface="Courier New"/>
                <a:sym typeface="Courier New"/>
              </a:rPr>
              <a:t>DRUPAL 8 → 11</a:t>
            </a:r>
            <a:endParaRPr/>
          </a:p>
        </p:txBody>
      </p:sp>
      <p:sp>
        <p:nvSpPr>
          <p:cNvPr id="132" name="Google Shape;132;p15"/>
          <p:cNvSpPr txBox="1"/>
          <p:nvPr/>
        </p:nvSpPr>
        <p:spPr>
          <a:xfrm>
            <a:off x="640075" y="3212421"/>
            <a:ext cx="10908900" cy="246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600" u="none" cap="none" strike="noStrike">
                <a:solidFill>
                  <a:srgbClr val="23325D"/>
                </a:solidFill>
                <a:latin typeface="Calibri"/>
                <a:ea typeface="Calibri"/>
                <a:cs typeface="Calibri"/>
                <a:sym typeface="Calibri"/>
              </a:rPr>
              <a:t>Rebuilt on Symfony's HttpKernel</a:t>
            </a:r>
            <a:r>
              <a:rPr lang="en-US" sz="1600">
                <a:solidFill>
                  <a:srgbClr val="23325D"/>
                </a:solidFill>
                <a:latin typeface="Calibri"/>
                <a:ea typeface="Calibri"/>
                <a:cs typeface="Calibri"/>
                <a:sym typeface="Calibri"/>
              </a:rPr>
              <a:t>, </a:t>
            </a:r>
            <a:r>
              <a:rPr b="0" i="0" lang="en-US" sz="1600" u="none" cap="none" strike="noStrike">
                <a:solidFill>
                  <a:srgbClr val="23325D"/>
                </a:solidFill>
                <a:latin typeface="Calibri"/>
                <a:ea typeface="Calibri"/>
                <a:cs typeface="Calibri"/>
                <a:sym typeface="Calibri"/>
              </a:rPr>
              <a:t>AjaxResponse extends JsonResponse; interactions become a stack of Commands</a:t>
            </a:r>
            <a:endParaRPr/>
          </a:p>
        </p:txBody>
      </p:sp>
      <p:sp>
        <p:nvSpPr>
          <p:cNvPr id="133" name="Google Shape;133;p15"/>
          <p:cNvSpPr txBox="1"/>
          <p:nvPr/>
        </p:nvSpPr>
        <p:spPr>
          <a:xfrm>
            <a:off x="640080" y="3554072"/>
            <a:ext cx="109089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23325D"/>
                </a:solidFill>
                <a:latin typeface="Calibri"/>
                <a:ea typeface="Calibri"/>
                <a:cs typeface="Calibri"/>
                <a:sym typeface="Calibri"/>
              </a:rPr>
              <a:t>Mature. Well-documented. Everywhere in core</a:t>
            </a:r>
            <a:r>
              <a:rPr lang="en-US" sz="1600">
                <a:solidFill>
                  <a:srgbClr val="23325D"/>
                </a:solidFill>
                <a:latin typeface="Calibri"/>
                <a:ea typeface="Calibri"/>
                <a:cs typeface="Calibri"/>
                <a:sym typeface="Calibri"/>
              </a:rPr>
              <a:t>:</a:t>
            </a:r>
            <a:r>
              <a:rPr b="0" i="0" lang="en-US" sz="1600" u="none" cap="none" strike="noStrike">
                <a:solidFill>
                  <a:srgbClr val="23325D"/>
                </a:solidFill>
                <a:latin typeface="Calibri"/>
                <a:ea typeface="Calibri"/>
                <a:cs typeface="Calibri"/>
                <a:sym typeface="Calibri"/>
              </a:rPr>
              <a:t> exposed filters, autocomplete, modals, inline entity forms.</a:t>
            </a:r>
            <a:endParaRPr>
              <a:solidFill>
                <a:srgbClr val="23325D"/>
              </a:solidFill>
            </a:endParaRPr>
          </a:p>
        </p:txBody>
      </p:sp>
      <p:sp>
        <p:nvSpPr>
          <p:cNvPr id="134" name="Google Shape;134;p15"/>
          <p:cNvSpPr txBox="1"/>
          <p:nvPr/>
        </p:nvSpPr>
        <p:spPr>
          <a:xfrm>
            <a:off x="640080" y="3974215"/>
            <a:ext cx="109089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1500" u="none" cap="none" strike="noStrike">
                <a:solidFill>
                  <a:srgbClr val="9AA3B5"/>
                </a:solidFill>
                <a:latin typeface="Calibri"/>
                <a:ea typeface="Calibri"/>
                <a:cs typeface="Calibri"/>
                <a:sym typeface="Calibri"/>
              </a:rPr>
              <a:t>The right answer for 2011.</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6"/>
          <p:cNvSpPr txBox="1"/>
          <p:nvPr/>
        </p:nvSpPr>
        <p:spPr>
          <a:xfrm>
            <a:off x="640075" y="320047"/>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0D6DAC"/>
                </a:solidFill>
                <a:latin typeface="Calibri"/>
                <a:ea typeface="Calibri"/>
                <a:cs typeface="Calibri"/>
                <a:sym typeface="Calibri"/>
              </a:rPr>
              <a:t>— </a:t>
            </a:r>
            <a:r>
              <a:rPr b="1" i="0" lang="en-US" sz="1200" u="none" cap="none" strike="noStrike">
                <a:solidFill>
                  <a:srgbClr val="0D6DAC"/>
                </a:solidFill>
                <a:latin typeface="Calibri"/>
                <a:ea typeface="Calibri"/>
                <a:cs typeface="Calibri"/>
                <a:sym typeface="Calibri"/>
              </a:rPr>
              <a:t>THE MECHANICS</a:t>
            </a:r>
            <a:endParaRPr/>
          </a:p>
        </p:txBody>
      </p:sp>
      <p:sp>
        <p:nvSpPr>
          <p:cNvPr id="141" name="Google Shape;141;p16"/>
          <p:cNvSpPr txBox="1"/>
          <p:nvPr/>
        </p:nvSpPr>
        <p:spPr>
          <a:xfrm>
            <a:off x="640080" y="2569080"/>
            <a:ext cx="640200" cy="24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600" u="none" cap="none" strike="noStrike">
                <a:solidFill>
                  <a:srgbClr val="0D6DAC"/>
                </a:solidFill>
                <a:latin typeface="Courier New"/>
                <a:ea typeface="Courier New"/>
                <a:cs typeface="Courier New"/>
                <a:sym typeface="Courier New"/>
              </a:rPr>
              <a:t>01</a:t>
            </a:r>
            <a:endParaRPr/>
          </a:p>
        </p:txBody>
      </p:sp>
      <p:sp>
        <p:nvSpPr>
          <p:cNvPr id="142" name="Google Shape;142;p16"/>
          <p:cNvSpPr txBox="1"/>
          <p:nvPr/>
        </p:nvSpPr>
        <p:spPr>
          <a:xfrm>
            <a:off x="1463040" y="2576931"/>
            <a:ext cx="9875400" cy="26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700" u="none" cap="none" strike="noStrike">
                <a:solidFill>
                  <a:srgbClr val="23325D"/>
                </a:solidFill>
                <a:latin typeface="Calibri"/>
                <a:ea typeface="Calibri"/>
                <a:cs typeface="Calibri"/>
                <a:sym typeface="Calibri"/>
              </a:rPr>
              <a:t>An element gets an </a:t>
            </a:r>
            <a:r>
              <a:rPr b="1" i="0" lang="en-US" sz="1700" u="none" cap="none" strike="noStrike">
                <a:solidFill>
                  <a:srgbClr val="0D6DAC"/>
                </a:solidFill>
                <a:latin typeface="Courier New"/>
                <a:ea typeface="Courier New"/>
                <a:cs typeface="Courier New"/>
                <a:sym typeface="Courier New"/>
              </a:rPr>
              <a:t>#ajax</a:t>
            </a:r>
            <a:r>
              <a:rPr b="0" i="0" lang="en-US" sz="1700" u="none" cap="none" strike="noStrike">
                <a:solidFill>
                  <a:srgbClr val="23325D"/>
                </a:solidFill>
                <a:latin typeface="Calibri"/>
                <a:ea typeface="Calibri"/>
                <a:cs typeface="Calibri"/>
                <a:sym typeface="Calibri"/>
              </a:rPr>
              <a:t> property – callback, wrapper, event</a:t>
            </a:r>
            <a:endParaRPr/>
          </a:p>
        </p:txBody>
      </p:sp>
      <p:sp>
        <p:nvSpPr>
          <p:cNvPr id="143" name="Google Shape;143;p16"/>
          <p:cNvSpPr txBox="1"/>
          <p:nvPr/>
        </p:nvSpPr>
        <p:spPr>
          <a:xfrm>
            <a:off x="640080" y="3200395"/>
            <a:ext cx="640200" cy="24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600">
                <a:solidFill>
                  <a:srgbClr val="0D6DAC"/>
                </a:solidFill>
                <a:latin typeface="Courier New"/>
                <a:ea typeface="Courier New"/>
                <a:cs typeface="Courier New"/>
                <a:sym typeface="Courier New"/>
              </a:rPr>
              <a:t>02</a:t>
            </a:r>
            <a:endParaRPr/>
          </a:p>
        </p:txBody>
      </p:sp>
      <p:sp>
        <p:nvSpPr>
          <p:cNvPr id="144" name="Google Shape;144;p16"/>
          <p:cNvSpPr txBox="1"/>
          <p:nvPr/>
        </p:nvSpPr>
        <p:spPr>
          <a:xfrm>
            <a:off x="1463050" y="3200398"/>
            <a:ext cx="9875400" cy="26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700">
                <a:solidFill>
                  <a:srgbClr val="23325D"/>
                </a:solidFill>
                <a:latin typeface="Calibri"/>
                <a:ea typeface="Calibri"/>
                <a:cs typeface="Calibri"/>
                <a:sym typeface="Calibri"/>
              </a:rPr>
              <a:t>The callback returns an </a:t>
            </a:r>
            <a:r>
              <a:rPr b="1" i="0" lang="en-US" sz="1700">
                <a:solidFill>
                  <a:srgbClr val="0D6DAC"/>
                </a:solidFill>
                <a:latin typeface="Courier New"/>
                <a:ea typeface="Courier New"/>
                <a:cs typeface="Courier New"/>
                <a:sym typeface="Courier New"/>
              </a:rPr>
              <a:t>AjaxResponse</a:t>
            </a:r>
            <a:r>
              <a:rPr b="0" i="0" lang="en-US" sz="1700">
                <a:solidFill>
                  <a:srgbClr val="23325D"/>
                </a:solidFill>
                <a:latin typeface="Calibri"/>
                <a:ea typeface="Calibri"/>
                <a:cs typeface="Calibri"/>
                <a:sym typeface="Calibri"/>
              </a:rPr>
              <a:t> built from one or more Commands</a:t>
            </a:r>
            <a:endParaRPr/>
          </a:p>
        </p:txBody>
      </p:sp>
      <p:sp>
        <p:nvSpPr>
          <p:cNvPr id="145" name="Google Shape;145;p16"/>
          <p:cNvSpPr txBox="1"/>
          <p:nvPr/>
        </p:nvSpPr>
        <p:spPr>
          <a:xfrm>
            <a:off x="640080" y="3779985"/>
            <a:ext cx="640200" cy="24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600">
                <a:solidFill>
                  <a:srgbClr val="0D6DAC"/>
                </a:solidFill>
                <a:latin typeface="Courier New"/>
                <a:ea typeface="Courier New"/>
                <a:cs typeface="Courier New"/>
                <a:sym typeface="Courier New"/>
              </a:rPr>
              <a:t>03</a:t>
            </a:r>
            <a:endParaRPr/>
          </a:p>
        </p:txBody>
      </p:sp>
      <p:sp>
        <p:nvSpPr>
          <p:cNvPr id="146" name="Google Shape;146;p16"/>
          <p:cNvSpPr txBox="1"/>
          <p:nvPr/>
        </p:nvSpPr>
        <p:spPr>
          <a:xfrm>
            <a:off x="1463050" y="3779980"/>
            <a:ext cx="9875400" cy="26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700">
                <a:solidFill>
                  <a:srgbClr val="0D6DAC"/>
                </a:solidFill>
                <a:latin typeface="Courier New"/>
                <a:ea typeface="Courier New"/>
                <a:cs typeface="Courier New"/>
                <a:sym typeface="Courier New"/>
              </a:rPr>
              <a:t>core/drupal.ajax</a:t>
            </a:r>
            <a:r>
              <a:rPr b="0" i="0" lang="en-US" sz="1700">
                <a:solidFill>
                  <a:srgbClr val="23325D"/>
                </a:solidFill>
                <a:latin typeface="Calibri"/>
                <a:ea typeface="Calibri"/>
                <a:cs typeface="Calibri"/>
                <a:sym typeface="Calibri"/>
              </a:rPr>
              <a:t> runs each command client-side; Drupal.behaviors re-attach to the new markup</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txBox="1"/>
          <p:nvPr>
            <p:ph type="title"/>
          </p:nvPr>
        </p:nvSpPr>
        <p:spPr>
          <a:xfrm>
            <a:off x="1414780" y="365125"/>
            <a:ext cx="9939020" cy="13258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200"/>
              <a:buFont typeface="Calibri"/>
              <a:buNone/>
            </a:pPr>
            <a:r>
              <a:rPr lang="en-US" sz="3200">
                <a:solidFill>
                  <a:srgbClr val="23325D"/>
                </a:solidFill>
              </a:rPr>
              <a:t>Ajax API request/response cycle</a:t>
            </a:r>
            <a:endParaRPr/>
          </a:p>
        </p:txBody>
      </p:sp>
      <p:sp>
        <p:nvSpPr>
          <p:cNvPr id="153" name="Google Shape;153;p17"/>
          <p:cNvSpPr txBox="1"/>
          <p:nvPr/>
        </p:nvSpPr>
        <p:spPr>
          <a:xfrm>
            <a:off x="1417320" y="320040"/>
            <a:ext cx="6400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0D6DAC"/>
                </a:solidFill>
                <a:latin typeface="Calibri"/>
                <a:ea typeface="Calibri"/>
                <a:cs typeface="Calibri"/>
                <a:sym typeface="Calibri"/>
              </a:rPr>
              <a:t>— </a:t>
            </a:r>
            <a:r>
              <a:rPr b="1" i="0" lang="en-US" sz="1200">
                <a:solidFill>
                  <a:srgbClr val="0D6DAC"/>
                </a:solidFill>
                <a:latin typeface="Calibri"/>
                <a:ea typeface="Calibri"/>
                <a:cs typeface="Calibri"/>
                <a:sym typeface="Calibri"/>
              </a:rPr>
              <a:t>THE REQUEST/RESPONSE CYCLE</a:t>
            </a:r>
            <a:endParaRPr/>
          </a:p>
        </p:txBody>
      </p:sp>
      <p:pic>
        <p:nvPicPr>
          <p:cNvPr descr="ajax_sequence.png" id="154" name="Google Shape;154;p17"/>
          <p:cNvPicPr preferRelativeResize="0"/>
          <p:nvPr/>
        </p:nvPicPr>
        <p:blipFill rotWithShape="1">
          <a:blip r:embed="rId3">
            <a:alphaModFix/>
          </a:blip>
          <a:srcRect b="0" l="0" r="0" t="0"/>
          <a:stretch/>
        </p:blipFill>
        <p:spPr>
          <a:xfrm>
            <a:off x="2735988" y="1691000"/>
            <a:ext cx="7296601" cy="4836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8"/>
          <p:cNvSpPr txBox="1"/>
          <p:nvPr>
            <p:ph type="title"/>
          </p:nvPr>
        </p:nvSpPr>
        <p:spPr>
          <a:xfrm>
            <a:off x="517275" y="640075"/>
            <a:ext cx="10765800" cy="78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400"/>
              <a:buFont typeface="Calibri"/>
              <a:buNone/>
            </a:pPr>
            <a:r>
              <a:rPr lang="en-US" sz="3400">
                <a:solidFill>
                  <a:srgbClr val="23325D"/>
                </a:solidFill>
              </a:rPr>
              <a:t>The #ajax property</a:t>
            </a:r>
            <a:endParaRPr/>
          </a:p>
        </p:txBody>
      </p:sp>
      <p:sp>
        <p:nvSpPr>
          <p:cNvPr id="161" name="Google Shape;161;p18"/>
          <p:cNvSpPr txBox="1"/>
          <p:nvPr/>
        </p:nvSpPr>
        <p:spPr>
          <a:xfrm>
            <a:off x="640080" y="320040"/>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0D6DAC"/>
                </a:solidFill>
                <a:latin typeface="Calibri"/>
                <a:ea typeface="Calibri"/>
                <a:cs typeface="Calibri"/>
                <a:sym typeface="Calibri"/>
              </a:rPr>
              <a:t>— </a:t>
            </a:r>
            <a:r>
              <a:rPr b="1" i="0" lang="en-US" sz="1200">
                <a:solidFill>
                  <a:srgbClr val="0D6DAC"/>
                </a:solidFill>
                <a:latin typeface="Calibri"/>
                <a:ea typeface="Calibri"/>
                <a:cs typeface="Calibri"/>
                <a:sym typeface="Calibri"/>
              </a:rPr>
              <a:t>IN CODE</a:t>
            </a:r>
            <a:endParaRPr/>
          </a:p>
        </p:txBody>
      </p:sp>
      <p:sp>
        <p:nvSpPr>
          <p:cNvPr id="162" name="Google Shape;162;p18"/>
          <p:cNvSpPr/>
          <p:nvPr/>
        </p:nvSpPr>
        <p:spPr>
          <a:xfrm>
            <a:off x="640075" y="1378625"/>
            <a:ext cx="10954500" cy="3812400"/>
          </a:xfrm>
          <a:prstGeom prst="roundRect">
            <a:avLst>
              <a:gd fmla="val 4000" name="adj"/>
            </a:avLst>
          </a:prstGeom>
          <a:solidFill>
            <a:srgbClr val="23325D"/>
          </a:solidFill>
          <a:ln>
            <a:noFill/>
          </a:ln>
        </p:spPr>
        <p:txBody>
          <a:bodyPr anchorCtr="0" anchor="ctr" bIns="228600" lIns="320025" spcFirstLastPara="1" rIns="274300" wrap="square" tIns="228600">
            <a:noAutofit/>
          </a:bodyPr>
          <a:lstStyle/>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$form['filter'] =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'#type' =&gt; 'select',</a:t>
            </a:r>
            <a:endParaRPr/>
          </a:p>
          <a:p>
            <a:pPr indent="0" lvl="0" marL="0" marR="0" rtl="0" algn="l">
              <a:lnSpc>
                <a:spcPct val="122000"/>
              </a:lnSpc>
              <a:spcBef>
                <a:spcPts val="0"/>
              </a:spcBef>
              <a:spcAft>
                <a:spcPts val="0"/>
              </a:spcAft>
              <a:buNone/>
            </a:pPr>
            <a:r>
              <a:rPr b="1" i="0" lang="en-US" sz="1250">
                <a:solidFill>
                  <a:srgbClr val="FFC427"/>
                </a:solidFill>
                <a:latin typeface="Courier New"/>
                <a:ea typeface="Courier New"/>
                <a:cs typeface="Courier New"/>
                <a:sym typeface="Courier New"/>
              </a:rPr>
              <a:t>  '#ajax' =&gt;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'callback' =&gt; '::updateResults',</a:t>
            </a:r>
            <a:endParaRPr/>
          </a:p>
          <a:p>
            <a:pPr indent="0" lvl="0" marL="0" marR="0" rtl="0" algn="l">
              <a:lnSpc>
                <a:spcPct val="122000"/>
              </a:lnSpc>
              <a:spcBef>
                <a:spcPts val="0"/>
              </a:spcBef>
              <a:spcAft>
                <a:spcPts val="0"/>
              </a:spcAft>
              <a:buNone/>
            </a:pPr>
            <a:r>
              <a:rPr b="1" i="0" lang="en-US" sz="1250">
                <a:solidFill>
                  <a:srgbClr val="FFC427"/>
                </a:solidFill>
                <a:latin typeface="Courier New"/>
                <a:ea typeface="Courier New"/>
                <a:cs typeface="Courier New"/>
                <a:sym typeface="Courier New"/>
              </a:rPr>
              <a:t>    'wrapper' =&gt; 'results-wrapper',</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'event' =&gt; 'change',</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public function updateResults(...) {</a:t>
            </a:r>
            <a:endParaRPr/>
          </a:p>
          <a:p>
            <a:pPr indent="0" lvl="0" marL="0" marR="0" rtl="0" algn="l">
              <a:lnSpc>
                <a:spcPct val="122000"/>
              </a:lnSpc>
              <a:spcBef>
                <a:spcPts val="0"/>
              </a:spcBef>
              <a:spcAft>
                <a:spcPts val="0"/>
              </a:spcAft>
              <a:buNone/>
            </a:pPr>
            <a:r>
              <a:rPr b="1" i="0" lang="en-US" sz="1250">
                <a:solidFill>
                  <a:srgbClr val="FFC427"/>
                </a:solidFill>
                <a:latin typeface="Courier New"/>
                <a:ea typeface="Courier New"/>
                <a:cs typeface="Courier New"/>
                <a:sym typeface="Courier New"/>
              </a:rPr>
              <a:t>  $response = new AjaxResponse();</a:t>
            </a:r>
            <a:endParaRPr/>
          </a:p>
          <a:p>
            <a:pPr indent="0" lvl="0" marL="0" marR="0" rtl="0" algn="l">
              <a:lnSpc>
                <a:spcPct val="122000"/>
              </a:lnSpc>
              <a:spcBef>
                <a:spcPts val="0"/>
              </a:spcBef>
              <a:spcAft>
                <a:spcPts val="0"/>
              </a:spcAft>
              <a:buNone/>
            </a:pPr>
            <a:r>
              <a:rPr b="1" i="0" lang="en-US" sz="1250">
                <a:solidFill>
                  <a:srgbClr val="FFC427"/>
                </a:solidFill>
                <a:latin typeface="Courier New"/>
                <a:ea typeface="Courier New"/>
                <a:cs typeface="Courier New"/>
                <a:sym typeface="Courier New"/>
              </a:rPr>
              <a:t>  $response-&gt;addCommand(new ReplaceCommand(</a:t>
            </a:r>
            <a:endParaRPr/>
          </a:p>
          <a:p>
            <a:pPr indent="0" lvl="0" marL="0" marR="0" rtl="0" algn="l">
              <a:lnSpc>
                <a:spcPct val="122000"/>
              </a:lnSpc>
              <a:spcBef>
                <a:spcPts val="0"/>
              </a:spcBef>
              <a:spcAft>
                <a:spcPts val="0"/>
              </a:spcAft>
              <a:buNone/>
            </a:pPr>
            <a:r>
              <a:rPr b="1" i="0" lang="en-US" sz="1250">
                <a:solidFill>
                  <a:srgbClr val="FFC427"/>
                </a:solidFill>
                <a:latin typeface="Courier New"/>
                <a:ea typeface="Courier New"/>
                <a:cs typeface="Courier New"/>
                <a:sym typeface="Courier New"/>
              </a:rPr>
              <a:t>    '#results-wrapper', $form['results']));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return $response;</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a:t>
            </a:r>
            <a:endParaRPr/>
          </a:p>
        </p:txBody>
      </p:sp>
      <p:sp>
        <p:nvSpPr>
          <p:cNvPr id="163" name="Google Shape;163;p18"/>
          <p:cNvSpPr txBox="1"/>
          <p:nvPr/>
        </p:nvSpPr>
        <p:spPr>
          <a:xfrm>
            <a:off x="640080" y="5328285"/>
            <a:ext cx="109089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400">
                <a:solidFill>
                  <a:srgbClr val="5B6378"/>
                </a:solidFill>
                <a:latin typeface="Calibri"/>
                <a:ea typeface="Calibri"/>
                <a:cs typeface="Calibri"/>
                <a:sym typeface="Calibri"/>
              </a:rPr>
              <a:t>Two files. Two languages. One wrapper ID that has to match exactly or nothing happens. Silently.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9"/>
          <p:cNvSpPr txBox="1"/>
          <p:nvPr>
            <p:ph type="title"/>
          </p:nvPr>
        </p:nvSpPr>
        <p:spPr>
          <a:xfrm>
            <a:off x="1414780" y="365125"/>
            <a:ext cx="9939020" cy="13258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200"/>
              <a:buFont typeface="Calibri"/>
              <a:buNone/>
            </a:pPr>
            <a:r>
              <a:rPr lang="en-US" sz="3200">
                <a:solidFill>
                  <a:srgbClr val="23325D"/>
                </a:solidFill>
              </a:rPr>
              <a:t>One string, two files, no compiler</a:t>
            </a:r>
            <a:endParaRPr/>
          </a:p>
        </p:txBody>
      </p:sp>
      <p:sp>
        <p:nvSpPr>
          <p:cNvPr id="170" name="Google Shape;170;p19"/>
          <p:cNvSpPr txBox="1"/>
          <p:nvPr/>
        </p:nvSpPr>
        <p:spPr>
          <a:xfrm>
            <a:off x="1417320" y="320040"/>
            <a:ext cx="6400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0D6DAC"/>
                </a:solidFill>
                <a:latin typeface="Calibri"/>
                <a:ea typeface="Calibri"/>
                <a:cs typeface="Calibri"/>
                <a:sym typeface="Calibri"/>
              </a:rPr>
              <a:t>— </a:t>
            </a:r>
            <a:r>
              <a:rPr b="1" i="0" lang="en-US" sz="1200">
                <a:solidFill>
                  <a:srgbClr val="0D6DAC"/>
                </a:solidFill>
                <a:latin typeface="Calibri"/>
                <a:ea typeface="Calibri"/>
                <a:cs typeface="Calibri"/>
                <a:sym typeface="Calibri"/>
              </a:rPr>
              <a:t>WHERE IT SILENTLY BREAKS</a:t>
            </a:r>
            <a:endParaRPr/>
          </a:p>
        </p:txBody>
      </p:sp>
      <p:pic>
        <p:nvPicPr>
          <p:cNvPr descr="coupling_flowchart.png" id="171" name="Google Shape;171;p19"/>
          <p:cNvPicPr preferRelativeResize="0"/>
          <p:nvPr/>
        </p:nvPicPr>
        <p:blipFill rotWithShape="1">
          <a:blip r:embed="rId3">
            <a:alphaModFix/>
          </a:blip>
          <a:srcRect b="0" l="0" r="0" t="0"/>
          <a:stretch/>
        </p:blipFill>
        <p:spPr>
          <a:xfrm>
            <a:off x="1820702" y="1825625"/>
            <a:ext cx="8934136" cy="3984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0"/>
          <p:cNvSpPr txBox="1"/>
          <p:nvPr>
            <p:ph type="title"/>
          </p:nvPr>
        </p:nvSpPr>
        <p:spPr>
          <a:xfrm>
            <a:off x="540850" y="365125"/>
            <a:ext cx="108132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400"/>
              <a:buFont typeface="Calibri"/>
              <a:buNone/>
            </a:pPr>
            <a:r>
              <a:rPr lang="en-US" sz="3400">
                <a:solidFill>
                  <a:srgbClr val="23325D"/>
                </a:solidFill>
              </a:rPr>
              <a:t>Four pain points</a:t>
            </a:r>
            <a:endParaRPr/>
          </a:p>
        </p:txBody>
      </p:sp>
      <p:sp>
        <p:nvSpPr>
          <p:cNvPr id="178" name="Google Shape;178;p20"/>
          <p:cNvSpPr/>
          <p:nvPr/>
        </p:nvSpPr>
        <p:spPr>
          <a:xfrm>
            <a:off x="640080" y="1783080"/>
            <a:ext cx="5317236" cy="1417320"/>
          </a:xfrm>
          <a:prstGeom prst="roundRect">
            <a:avLst>
              <a:gd fmla="val 6000" name="adj"/>
            </a:avLst>
          </a:prstGeom>
          <a:solidFill>
            <a:srgbClr val="EAF6FC"/>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0D6DAC"/>
                </a:solidFill>
                <a:latin typeface="Courier New"/>
                <a:ea typeface="Courier New"/>
                <a:cs typeface="Courier New"/>
                <a:sym typeface="Courier New"/>
              </a:rPr>
              <a:t>JS COUPLING</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Custom interactions need a PHP command plus a matching JS command handler.</a:t>
            </a:r>
            <a:endParaRPr/>
          </a:p>
        </p:txBody>
      </p:sp>
      <p:sp>
        <p:nvSpPr>
          <p:cNvPr id="179" name="Google Shape;179;p20"/>
          <p:cNvSpPr/>
          <p:nvPr/>
        </p:nvSpPr>
        <p:spPr>
          <a:xfrm>
            <a:off x="6231636" y="1783080"/>
            <a:ext cx="5317236" cy="1417320"/>
          </a:xfrm>
          <a:prstGeom prst="roundRect">
            <a:avLst>
              <a:gd fmla="val 6000" name="adj"/>
            </a:avLst>
          </a:prstGeom>
          <a:solidFill>
            <a:srgbClr val="EAF6FC"/>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0D6DAC"/>
                </a:solidFill>
                <a:latin typeface="Courier New"/>
                <a:ea typeface="Courier New"/>
                <a:cs typeface="Courier New"/>
                <a:sym typeface="Courier New"/>
              </a:rPr>
              <a:t>COMPLEXITY</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An imperative command stack, not a description of the result.</a:t>
            </a:r>
            <a:endParaRPr/>
          </a:p>
        </p:txBody>
      </p:sp>
      <p:sp>
        <p:nvSpPr>
          <p:cNvPr id="180" name="Google Shape;180;p20"/>
          <p:cNvSpPr/>
          <p:nvPr/>
        </p:nvSpPr>
        <p:spPr>
          <a:xfrm>
            <a:off x="640080" y="3474720"/>
            <a:ext cx="5317236" cy="1417320"/>
          </a:xfrm>
          <a:prstGeom prst="roundRect">
            <a:avLst>
              <a:gd fmla="val 6000" name="adj"/>
            </a:avLst>
          </a:prstGeom>
          <a:solidFill>
            <a:srgbClr val="EAF6FC"/>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0D6DAC"/>
                </a:solidFill>
                <a:latin typeface="Courier New"/>
                <a:ea typeface="Courier New"/>
                <a:cs typeface="Courier New"/>
                <a:sym typeface="Courier New"/>
              </a:rPr>
              <a:t>MAINTENANCE OVERHEAD</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One typo, no error, silent failure.</a:t>
            </a:r>
            <a:endParaRPr/>
          </a:p>
        </p:txBody>
      </p:sp>
      <p:sp>
        <p:nvSpPr>
          <p:cNvPr id="181" name="Google Shape;181;p20"/>
          <p:cNvSpPr/>
          <p:nvPr/>
        </p:nvSpPr>
        <p:spPr>
          <a:xfrm>
            <a:off x="6231636" y="3474720"/>
            <a:ext cx="5317236" cy="1417320"/>
          </a:xfrm>
          <a:prstGeom prst="roundRect">
            <a:avLst>
              <a:gd fmla="val 6000" name="adj"/>
            </a:avLst>
          </a:prstGeom>
          <a:solidFill>
            <a:srgbClr val="EAF6FC"/>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0D6DAC"/>
                </a:solidFill>
                <a:latin typeface="Courier New"/>
                <a:ea typeface="Courier New"/>
                <a:cs typeface="Courier New"/>
                <a:sym typeface="Courier New"/>
              </a:rPr>
              <a:t>DISCOVERABILITY</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The markup never says it's interactive.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1"/>
          <p:cNvSpPr txBox="1"/>
          <p:nvPr>
            <p:ph type="title"/>
          </p:nvPr>
        </p:nvSpPr>
        <p:spPr>
          <a:xfrm>
            <a:off x="322580" y="2272665"/>
            <a:ext cx="11376660" cy="94805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t/>
            </a:r>
            <a:endParaRPr b="1">
              <a:solidFill>
                <a:schemeClr val="lt1"/>
              </a:solidFill>
            </a:endParaRPr>
          </a:p>
        </p:txBody>
      </p:sp>
      <p:sp>
        <p:nvSpPr>
          <p:cNvPr id="188" name="Google Shape;188;p21"/>
          <p:cNvSpPr txBox="1"/>
          <p:nvPr/>
        </p:nvSpPr>
        <p:spPr>
          <a:xfrm>
            <a:off x="640080" y="320040"/>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0D6DAC"/>
                </a:solidFill>
                <a:latin typeface="Calibri"/>
                <a:ea typeface="Calibri"/>
                <a:cs typeface="Calibri"/>
                <a:sym typeface="Calibri"/>
              </a:rPr>
              <a:t>— </a:t>
            </a:r>
            <a:r>
              <a:rPr b="1" i="0" lang="en-US" sz="1200">
                <a:solidFill>
                  <a:srgbClr val="0D6DAC"/>
                </a:solidFill>
                <a:latin typeface="Calibri"/>
                <a:ea typeface="Calibri"/>
                <a:cs typeface="Calibri"/>
                <a:sym typeface="Calibri"/>
              </a:rPr>
              <a:t>A TRUE STORY</a:t>
            </a:r>
            <a:endParaRPr/>
          </a:p>
        </p:txBody>
      </p:sp>
      <p:sp>
        <p:nvSpPr>
          <p:cNvPr id="189" name="Google Shape;189;p21"/>
          <p:cNvSpPr txBox="1"/>
          <p:nvPr/>
        </p:nvSpPr>
        <p:spPr>
          <a:xfrm>
            <a:off x="914400" y="2745590"/>
            <a:ext cx="10332600" cy="1366800"/>
          </a:xfrm>
          <a:prstGeom prst="rect">
            <a:avLst/>
          </a:prstGeom>
          <a:noFill/>
          <a:ln>
            <a:noFill/>
          </a:ln>
        </p:spPr>
        <p:txBody>
          <a:bodyPr anchorCtr="0" anchor="ctr" bIns="0" lIns="0" spcFirstLastPara="1" rIns="0" wrap="square" tIns="0">
            <a:spAutoFit/>
          </a:bodyPr>
          <a:lstStyle/>
          <a:p>
            <a:pPr indent="0" lvl="0" marL="0" marR="0" rtl="0" algn="l">
              <a:lnSpc>
                <a:spcPct val="135000"/>
              </a:lnSpc>
              <a:spcBef>
                <a:spcPts val="0"/>
              </a:spcBef>
              <a:spcAft>
                <a:spcPts val="0"/>
              </a:spcAft>
              <a:buNone/>
            </a:pPr>
            <a:r>
              <a:rPr b="0" i="1" lang="en-US" sz="2400">
                <a:solidFill>
                  <a:srgbClr val="23325D"/>
                </a:solidFill>
                <a:latin typeface="Calibri"/>
                <a:ea typeface="Calibri"/>
                <a:cs typeface="Calibri"/>
                <a:sym typeface="Calibri"/>
              </a:rPr>
              <a:t>“40 minutes in devtools. The bug wasn't PHP. It wasn't JS logic. It was one mismatched wrapper ID</a:t>
            </a:r>
            <a:r>
              <a:rPr i="1" lang="en-US" sz="2400">
                <a:solidFill>
                  <a:srgbClr val="23325D"/>
                </a:solidFill>
                <a:latin typeface="Calibri"/>
                <a:ea typeface="Calibri"/>
                <a:cs typeface="Calibri"/>
                <a:sym typeface="Calibri"/>
              </a:rPr>
              <a:t>,</a:t>
            </a:r>
            <a:r>
              <a:rPr b="0" i="1" lang="en-US" sz="2400">
                <a:solidFill>
                  <a:srgbClr val="23325D"/>
                </a:solidFill>
                <a:latin typeface="Calibri"/>
                <a:ea typeface="Calibri"/>
                <a:cs typeface="Calibri"/>
                <a:sym typeface="Calibri"/>
              </a:rPr>
              <a:t> three directories away. Nothing threw an error. It just didn't work.”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2"/>
          <p:cNvSpPr txBox="1"/>
          <p:nvPr>
            <p:ph type="title"/>
          </p:nvPr>
        </p:nvSpPr>
        <p:spPr>
          <a:xfrm>
            <a:off x="553725" y="2904920"/>
            <a:ext cx="10760700" cy="5772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FFFF"/>
              </a:buClr>
              <a:buSzPts val="3200"/>
              <a:buFont typeface="Calibri"/>
              <a:buNone/>
            </a:pPr>
            <a:r>
              <a:rPr b="1" i="0" lang="en-US" sz="3200">
                <a:solidFill>
                  <a:srgbClr val="FFFFFF"/>
                </a:solidFill>
                <a:latin typeface="Calibri"/>
                <a:ea typeface="Calibri"/>
                <a:cs typeface="Calibri"/>
                <a:sym typeface="Calibri"/>
              </a:rPr>
              <a:t>…the element itself could just describe what it needs?</a:t>
            </a:r>
            <a:endParaRPr/>
          </a:p>
        </p:txBody>
      </p:sp>
      <p:sp>
        <p:nvSpPr>
          <p:cNvPr id="196" name="Google Shape;196;p22"/>
          <p:cNvSpPr txBox="1"/>
          <p:nvPr>
            <p:ph idx="1" type="body"/>
          </p:nvPr>
        </p:nvSpPr>
        <p:spPr>
          <a:xfrm>
            <a:off x="593100" y="3482125"/>
            <a:ext cx="10760700" cy="406800"/>
          </a:xfrm>
          <a:prstGeom prst="rect">
            <a:avLst/>
          </a:prstGeom>
          <a:noFill/>
          <a:ln>
            <a:noFill/>
          </a:ln>
        </p:spPr>
        <p:txBody>
          <a:bodyPr anchorCtr="0" anchor="t" bIns="45700" lIns="91425" spcFirstLastPara="1" rIns="91425" wrap="square" tIns="45700">
            <a:normAutofit/>
          </a:bodyPr>
          <a:lstStyle/>
          <a:p>
            <a:pPr indent="0" lvl="0" marL="0" rtl="0" algn="ctr">
              <a:lnSpc>
                <a:spcPct val="125000"/>
              </a:lnSpc>
              <a:spcBef>
                <a:spcPts val="0"/>
              </a:spcBef>
              <a:spcAft>
                <a:spcPts val="0"/>
              </a:spcAft>
              <a:buClr>
                <a:srgbClr val="FFC427"/>
              </a:buClr>
              <a:buSzPts val="1800"/>
              <a:buNone/>
            </a:pPr>
            <a:r>
              <a:rPr b="0" i="0" lang="en-US" sz="1800">
                <a:solidFill>
                  <a:srgbClr val="FFC427"/>
                </a:solidFill>
                <a:latin typeface="Calibri"/>
                <a:ea typeface="Calibri"/>
                <a:cs typeface="Calibri"/>
                <a:sym typeface="Calibri"/>
              </a:rPr>
              <a:t>No command classes. No wrapper-ID matching. No second file to go find.</a:t>
            </a:r>
            <a:endParaRPr/>
          </a:p>
        </p:txBody>
      </p:sp>
      <p:sp>
        <p:nvSpPr>
          <p:cNvPr id="197" name="Google Shape;197;p22"/>
          <p:cNvSpPr txBox="1"/>
          <p:nvPr/>
        </p:nvSpPr>
        <p:spPr>
          <a:xfrm>
            <a:off x="6468100" y="6355080"/>
            <a:ext cx="4846200" cy="2001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300">
                <a:solidFill>
                  <a:srgbClr val="FFC427"/>
                </a:solidFill>
                <a:latin typeface="Calibri"/>
                <a:ea typeface="Calibri"/>
                <a:cs typeface="Calibri"/>
                <a:sym typeface="Calibri"/>
              </a:rPr>
              <a:t>→ next: HTMX</a:t>
            </a:r>
            <a:endParaRPr/>
          </a:p>
        </p:txBody>
      </p:sp>
      <p:sp>
        <p:nvSpPr>
          <p:cNvPr id="198" name="Google Shape;198;p22"/>
          <p:cNvSpPr txBox="1"/>
          <p:nvPr/>
        </p:nvSpPr>
        <p:spPr>
          <a:xfrm>
            <a:off x="640075" y="320047"/>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FC427"/>
                </a:solidFill>
                <a:latin typeface="Calibri"/>
                <a:ea typeface="Calibri"/>
                <a:cs typeface="Calibri"/>
                <a:sym typeface="Calibri"/>
              </a:rPr>
              <a:t>— </a:t>
            </a:r>
            <a:r>
              <a:rPr b="1" lang="en-US" sz="1200">
                <a:solidFill>
                  <a:srgbClr val="FFC427"/>
                </a:solidFill>
                <a:latin typeface="Calibri"/>
                <a:ea typeface="Calibri"/>
                <a:cs typeface="Calibri"/>
                <a:sym typeface="Calibri"/>
              </a:rPr>
              <a:t>SO WHAT IF…</a:t>
            </a:r>
            <a:endParaRPr>
              <a:solidFill>
                <a:srgbClr val="FFC427"/>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3"/>
          <p:cNvSpPr txBox="1"/>
          <p:nvPr>
            <p:ph type="title"/>
          </p:nvPr>
        </p:nvSpPr>
        <p:spPr>
          <a:xfrm>
            <a:off x="322580" y="2689490"/>
            <a:ext cx="11376600" cy="948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t/>
            </a:r>
            <a:endParaRPr b="1">
              <a:solidFill>
                <a:schemeClr val="lt1"/>
              </a:solidFill>
            </a:endParaRPr>
          </a:p>
        </p:txBody>
      </p:sp>
      <p:sp>
        <p:nvSpPr>
          <p:cNvPr id="205" name="Google Shape;205;p23"/>
          <p:cNvSpPr txBox="1"/>
          <p:nvPr/>
        </p:nvSpPr>
        <p:spPr>
          <a:xfrm>
            <a:off x="822960" y="2428505"/>
            <a:ext cx="10515600" cy="200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4000">
                <a:solidFill>
                  <a:srgbClr val="9AA3B5"/>
                </a:solidFill>
                <a:latin typeface="Calibri"/>
                <a:ea typeface="Calibri"/>
                <a:cs typeface="Calibri"/>
                <a:sym typeface="Calibri"/>
              </a:rPr>
              <a:t>That's not a hypothetical.</a:t>
            </a:r>
            <a:endParaRPr/>
          </a:p>
          <a:p>
            <a:pPr indent="0" lvl="0" marL="0" marR="0" rtl="0" algn="l">
              <a:spcBef>
                <a:spcPts val="600"/>
              </a:spcBef>
              <a:spcAft>
                <a:spcPts val="0"/>
              </a:spcAft>
              <a:buNone/>
            </a:pPr>
            <a:r>
              <a:rPr b="1" i="0" lang="en-US" sz="4000">
                <a:solidFill>
                  <a:srgbClr val="23325D"/>
                </a:solidFill>
                <a:latin typeface="Calibri"/>
                <a:ea typeface="Calibri"/>
                <a:cs typeface="Calibri"/>
                <a:sym typeface="Calibri"/>
              </a:rPr>
              <a:t>It's called HTMX.</a:t>
            </a:r>
            <a:endParaRPr/>
          </a:p>
          <a:p>
            <a:pPr indent="0" lvl="0" marL="0" marR="0" rtl="0" algn="l">
              <a:spcBef>
                <a:spcPts val="600"/>
              </a:spcBef>
              <a:spcAft>
                <a:spcPts val="0"/>
              </a:spcAft>
              <a:buNone/>
            </a:pPr>
            <a:r>
              <a:rPr b="1" i="0" lang="en-US" sz="4000">
                <a:solidFill>
                  <a:srgbClr val="23325D"/>
                </a:solidFill>
                <a:latin typeface="Calibri"/>
                <a:ea typeface="Calibri"/>
                <a:cs typeface="Calibri"/>
                <a:sym typeface="Calibri"/>
              </a:rPr>
              <a:t>Built on an idea older than Ajax: hypermedia.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4"/>
          <p:cNvSpPr txBox="1"/>
          <p:nvPr>
            <p:ph type="title"/>
          </p:nvPr>
        </p:nvSpPr>
        <p:spPr>
          <a:xfrm>
            <a:off x="322580" y="2272665"/>
            <a:ext cx="11376660" cy="94805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t/>
            </a:r>
            <a:endParaRPr b="1">
              <a:solidFill>
                <a:schemeClr val="lt1"/>
              </a:solidFill>
            </a:endParaRPr>
          </a:p>
        </p:txBody>
      </p:sp>
      <p:sp>
        <p:nvSpPr>
          <p:cNvPr id="212" name="Google Shape;212;p24"/>
          <p:cNvSpPr txBox="1"/>
          <p:nvPr/>
        </p:nvSpPr>
        <p:spPr>
          <a:xfrm>
            <a:off x="640080" y="320040"/>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26351"/>
                </a:solidFill>
                <a:latin typeface="Calibri"/>
                <a:ea typeface="Calibri"/>
                <a:cs typeface="Calibri"/>
                <a:sym typeface="Calibri"/>
              </a:rPr>
              <a:t>— </a:t>
            </a:r>
            <a:r>
              <a:rPr b="1" i="0" lang="en-US" sz="1200">
                <a:solidFill>
                  <a:srgbClr val="F26351"/>
                </a:solidFill>
                <a:latin typeface="Calibri"/>
                <a:ea typeface="Calibri"/>
                <a:cs typeface="Calibri"/>
                <a:sym typeface="Calibri"/>
              </a:rPr>
              <a:t>THE IDEA</a:t>
            </a:r>
            <a:endParaRPr/>
          </a:p>
        </p:txBody>
      </p:sp>
      <p:sp>
        <p:nvSpPr>
          <p:cNvPr id="213" name="Google Shape;213;p24"/>
          <p:cNvSpPr txBox="1"/>
          <p:nvPr/>
        </p:nvSpPr>
        <p:spPr>
          <a:xfrm>
            <a:off x="914400" y="2573990"/>
            <a:ext cx="10332600" cy="1710000"/>
          </a:xfrm>
          <a:prstGeom prst="rect">
            <a:avLst/>
          </a:prstGeom>
          <a:noFill/>
          <a:ln>
            <a:noFill/>
          </a:ln>
        </p:spPr>
        <p:txBody>
          <a:bodyPr anchorCtr="0" anchor="ctr" bIns="0" lIns="0" spcFirstLastPara="1" rIns="0" wrap="square" tIns="0">
            <a:spAutoFit/>
          </a:bodyPr>
          <a:lstStyle/>
          <a:p>
            <a:pPr indent="0" lvl="0" marL="0" marR="0" rtl="0" algn="l">
              <a:lnSpc>
                <a:spcPct val="135000"/>
              </a:lnSpc>
              <a:spcBef>
                <a:spcPts val="0"/>
              </a:spcBef>
              <a:spcAft>
                <a:spcPts val="0"/>
              </a:spcAft>
              <a:buNone/>
            </a:pPr>
            <a:r>
              <a:rPr b="0" i="1" lang="en-US" sz="2200">
                <a:solidFill>
                  <a:srgbClr val="23325D"/>
                </a:solidFill>
                <a:latin typeface="Calibri"/>
                <a:ea typeface="Calibri"/>
                <a:cs typeface="Calibri"/>
                <a:sym typeface="Calibri"/>
              </a:rPr>
              <a:t>You already know hypermedia. Every &lt;a href&gt; and every &lt;form&gt; you've ever written is a hypermedia control</a:t>
            </a:r>
            <a:r>
              <a:rPr i="1" lang="en-US" sz="2200">
                <a:solidFill>
                  <a:srgbClr val="23325D"/>
                </a:solidFill>
                <a:latin typeface="Calibri"/>
                <a:ea typeface="Calibri"/>
                <a:cs typeface="Calibri"/>
                <a:sym typeface="Calibri"/>
              </a:rPr>
              <a:t>,</a:t>
            </a:r>
            <a:r>
              <a:rPr b="0" i="1" lang="en-US" sz="2200">
                <a:solidFill>
                  <a:srgbClr val="23325D"/>
                </a:solidFill>
                <a:latin typeface="Calibri"/>
                <a:ea typeface="Calibri"/>
                <a:cs typeface="Calibri"/>
                <a:sym typeface="Calibri"/>
              </a:rPr>
              <a:t> an element that tells the browser what to fetch and where to put the result. HTMX just extends that vocabulary: any element, any event, any HTTP verb, any part of the page as the target.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5"/>
          <p:cNvSpPr txBox="1"/>
          <p:nvPr>
            <p:ph type="title"/>
          </p:nvPr>
        </p:nvSpPr>
        <p:spPr>
          <a:xfrm>
            <a:off x="564400" y="365125"/>
            <a:ext cx="10789200" cy="958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400"/>
              <a:buFont typeface="Calibri"/>
              <a:buNone/>
            </a:pPr>
            <a:r>
              <a:rPr lang="en-US" sz="3400">
                <a:solidFill>
                  <a:srgbClr val="23325D"/>
                </a:solidFill>
              </a:rPr>
              <a:t>One element. Four attributes.</a:t>
            </a:r>
            <a:endParaRPr/>
          </a:p>
        </p:txBody>
      </p:sp>
      <p:sp>
        <p:nvSpPr>
          <p:cNvPr id="220" name="Google Shape;220;p25"/>
          <p:cNvSpPr txBox="1"/>
          <p:nvPr/>
        </p:nvSpPr>
        <p:spPr>
          <a:xfrm>
            <a:off x="640080" y="320040"/>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26351"/>
                </a:solidFill>
                <a:latin typeface="Calibri"/>
                <a:ea typeface="Calibri"/>
                <a:cs typeface="Calibri"/>
                <a:sym typeface="Calibri"/>
              </a:rPr>
              <a:t>— </a:t>
            </a:r>
            <a:r>
              <a:rPr b="1" i="0" lang="en-US" sz="1200">
                <a:solidFill>
                  <a:srgbClr val="F26351"/>
                </a:solidFill>
                <a:latin typeface="Calibri"/>
                <a:ea typeface="Calibri"/>
                <a:cs typeface="Calibri"/>
                <a:sym typeface="Calibri"/>
              </a:rPr>
              <a:t>IN CODE</a:t>
            </a:r>
            <a:endParaRPr/>
          </a:p>
        </p:txBody>
      </p:sp>
      <p:sp>
        <p:nvSpPr>
          <p:cNvPr id="221" name="Google Shape;221;p25"/>
          <p:cNvSpPr/>
          <p:nvPr/>
        </p:nvSpPr>
        <p:spPr>
          <a:xfrm>
            <a:off x="640080" y="1987165"/>
            <a:ext cx="10908900" cy="2531100"/>
          </a:xfrm>
          <a:prstGeom prst="roundRect">
            <a:avLst>
              <a:gd fmla="val 4000" name="adj"/>
            </a:avLst>
          </a:prstGeom>
          <a:solidFill>
            <a:srgbClr val="23325D"/>
          </a:solidFill>
          <a:ln>
            <a:noFill/>
          </a:ln>
        </p:spPr>
        <p:txBody>
          <a:bodyPr anchorCtr="0" anchor="ctr" bIns="228600" lIns="320025" spcFirstLastPara="1" rIns="274300" wrap="square" tIns="228600">
            <a:noAutofit/>
          </a:bodyPr>
          <a:lstStyle/>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&lt;select </a:t>
            </a:r>
            <a:r>
              <a:rPr b="1" i="0" lang="en-US" sz="1250">
                <a:solidFill>
                  <a:srgbClr val="F26351"/>
                </a:solidFill>
                <a:latin typeface="Courier New"/>
                <a:ea typeface="Courier New"/>
                <a:cs typeface="Courier New"/>
                <a:sym typeface="Courier New"/>
              </a:rPr>
              <a:t>hx-get</a:t>
            </a:r>
            <a:r>
              <a:rPr b="0" i="0" lang="en-US" sz="1250">
                <a:solidFill>
                  <a:srgbClr val="D8E4F5"/>
                </a:solidFill>
                <a:latin typeface="Courier New"/>
                <a:ea typeface="Courier New"/>
                <a:cs typeface="Courier New"/>
                <a:sym typeface="Courier New"/>
              </a:rPr>
              <a:t>="/filter-results"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r>
              <a:rPr b="1" i="0" lang="en-US" sz="1250">
                <a:solidFill>
                  <a:srgbClr val="F26351"/>
                </a:solidFill>
                <a:latin typeface="Courier New"/>
                <a:ea typeface="Courier New"/>
                <a:cs typeface="Courier New"/>
                <a:sym typeface="Courier New"/>
              </a:rPr>
              <a:t>hx-trigger</a:t>
            </a:r>
            <a:r>
              <a:rPr b="0" i="0" lang="en-US" sz="1250">
                <a:solidFill>
                  <a:srgbClr val="D8E4F5"/>
                </a:solidFill>
                <a:latin typeface="Courier New"/>
                <a:ea typeface="Courier New"/>
                <a:cs typeface="Courier New"/>
                <a:sym typeface="Courier New"/>
              </a:rPr>
              <a:t>="change"</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r>
              <a:rPr b="1" i="0" lang="en-US" sz="1250">
                <a:solidFill>
                  <a:srgbClr val="F26351"/>
                </a:solidFill>
                <a:latin typeface="Courier New"/>
                <a:ea typeface="Courier New"/>
                <a:cs typeface="Courier New"/>
                <a:sym typeface="Courier New"/>
              </a:rPr>
              <a:t>hx-target</a:t>
            </a:r>
            <a:r>
              <a:rPr b="0" i="0" lang="en-US" sz="1250">
                <a:solidFill>
                  <a:srgbClr val="D8E4F5"/>
                </a:solidFill>
                <a:latin typeface="Courier New"/>
                <a:ea typeface="Courier New"/>
                <a:cs typeface="Courier New"/>
                <a:sym typeface="Courier New"/>
              </a:rPr>
              <a:t>="#results"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r>
              <a:rPr b="1" i="0" lang="en-US" sz="1250">
                <a:solidFill>
                  <a:srgbClr val="F26351"/>
                </a:solidFill>
                <a:latin typeface="Courier New"/>
                <a:ea typeface="Courier New"/>
                <a:cs typeface="Courier New"/>
                <a:sym typeface="Courier New"/>
              </a:rPr>
              <a:t>hx-swap</a:t>
            </a:r>
            <a:r>
              <a:rPr b="0" i="0" lang="en-US" sz="1250">
                <a:solidFill>
                  <a:srgbClr val="D8E4F5"/>
                </a:solidFill>
                <a:latin typeface="Courier New"/>
                <a:ea typeface="Courier New"/>
                <a:cs typeface="Courier New"/>
                <a:sym typeface="Courier New"/>
              </a:rPr>
              <a:t>="innerHTML"&gt;</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&lt;/select&gt;</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&lt;div id="results"&gt;</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&lt;!-- server returns just this fragment --&gt;</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&lt;/div&gt;</a:t>
            </a:r>
            <a:endParaRPr/>
          </a:p>
        </p:txBody>
      </p:sp>
      <p:sp>
        <p:nvSpPr>
          <p:cNvPr id="222" name="Google Shape;222;p25"/>
          <p:cNvSpPr txBox="1"/>
          <p:nvPr/>
        </p:nvSpPr>
        <p:spPr>
          <a:xfrm>
            <a:off x="640080" y="4655434"/>
            <a:ext cx="109089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400">
                <a:solidFill>
                  <a:srgbClr val="5B6378"/>
                </a:solidFill>
                <a:latin typeface="Calibri"/>
                <a:ea typeface="Calibri"/>
                <a:cs typeface="Calibri"/>
                <a:sym typeface="Calibri"/>
              </a:rPr>
              <a:t>One element. Four attributes. The behavior lives right there in the tag — no PHP file to go find, no wrapper ID to keep in sync across two files.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6"/>
          <p:cNvSpPr txBox="1"/>
          <p:nvPr>
            <p:ph type="title"/>
          </p:nvPr>
        </p:nvSpPr>
        <p:spPr>
          <a:xfrm>
            <a:off x="1341600" y="365125"/>
            <a:ext cx="10012200" cy="1326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200"/>
              <a:buFont typeface="Calibri"/>
              <a:buNone/>
            </a:pPr>
            <a:r>
              <a:rPr lang="en-US" sz="3200">
                <a:solidFill>
                  <a:srgbClr val="23325D"/>
                </a:solidFill>
              </a:rPr>
              <a:t>HTMX request/response cycle</a:t>
            </a:r>
            <a:endParaRPr/>
          </a:p>
        </p:txBody>
      </p:sp>
      <p:sp>
        <p:nvSpPr>
          <p:cNvPr id="229" name="Google Shape;229;p26"/>
          <p:cNvSpPr txBox="1"/>
          <p:nvPr/>
        </p:nvSpPr>
        <p:spPr>
          <a:xfrm>
            <a:off x="1417320" y="320040"/>
            <a:ext cx="6400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26351"/>
                </a:solidFill>
                <a:latin typeface="Calibri"/>
                <a:ea typeface="Calibri"/>
                <a:cs typeface="Calibri"/>
                <a:sym typeface="Calibri"/>
              </a:rPr>
              <a:t>— </a:t>
            </a:r>
            <a:r>
              <a:rPr b="1" i="0" lang="en-US" sz="1200">
                <a:solidFill>
                  <a:srgbClr val="F26351"/>
                </a:solidFill>
                <a:latin typeface="Calibri"/>
                <a:ea typeface="Calibri"/>
                <a:cs typeface="Calibri"/>
                <a:sym typeface="Calibri"/>
              </a:rPr>
              <a:t>THE REQUEST/RESPONSE CYCLE</a:t>
            </a:r>
            <a:endParaRPr/>
          </a:p>
        </p:txBody>
      </p:sp>
      <p:pic>
        <p:nvPicPr>
          <p:cNvPr descr="htmx_sequence.png" id="230" name="Google Shape;230;p26"/>
          <p:cNvPicPr preferRelativeResize="0"/>
          <p:nvPr/>
        </p:nvPicPr>
        <p:blipFill rotWithShape="1">
          <a:blip r:embed="rId3">
            <a:alphaModFix/>
          </a:blip>
          <a:srcRect b="0" l="0" r="0" t="0"/>
          <a:stretch/>
        </p:blipFill>
        <p:spPr>
          <a:xfrm>
            <a:off x="1421996" y="1885689"/>
            <a:ext cx="9747252" cy="3864497"/>
          </a:xfrm>
          <a:prstGeom prst="rect">
            <a:avLst/>
          </a:prstGeom>
          <a:noFill/>
          <a:ln>
            <a:noFill/>
          </a:ln>
        </p:spPr>
      </p:pic>
      <p:sp>
        <p:nvSpPr>
          <p:cNvPr id="231" name="Google Shape;231;p26"/>
          <p:cNvSpPr txBox="1"/>
          <p:nvPr/>
        </p:nvSpPr>
        <p:spPr>
          <a:xfrm>
            <a:off x="640080" y="6263640"/>
            <a:ext cx="10908900" cy="200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300">
                <a:solidFill>
                  <a:srgbClr val="5B6378"/>
                </a:solidFill>
                <a:latin typeface="Calibri"/>
                <a:ea typeface="Calibri"/>
                <a:cs typeface="Calibri"/>
                <a:sym typeface="Calibri"/>
              </a:rPr>
              <a:t>Same three participants</a:t>
            </a:r>
            <a:r>
              <a:rPr lang="en-US" sz="1300">
                <a:solidFill>
                  <a:srgbClr val="5B6378"/>
                </a:solidFill>
                <a:latin typeface="Calibri"/>
                <a:ea typeface="Calibri"/>
                <a:cs typeface="Calibri"/>
                <a:sym typeface="Calibri"/>
              </a:rPr>
              <a:t>:</a:t>
            </a:r>
            <a:r>
              <a:rPr b="0" i="0" lang="en-US" sz="1300">
                <a:solidFill>
                  <a:srgbClr val="5B6378"/>
                </a:solidFill>
                <a:latin typeface="Calibri"/>
                <a:ea typeface="Calibri"/>
                <a:cs typeface="Calibri"/>
                <a:sym typeface="Calibri"/>
              </a:rPr>
              <a:t> user, browser, server. Seven steps in the Ajax version. Four here.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7"/>
          <p:cNvSpPr txBox="1"/>
          <p:nvPr>
            <p:ph type="title"/>
          </p:nvPr>
        </p:nvSpPr>
        <p:spPr>
          <a:xfrm>
            <a:off x="553725" y="2250974"/>
            <a:ext cx="10760700" cy="736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Calibri"/>
              <a:buNone/>
            </a:pPr>
            <a:r>
              <a:rPr b="1" i="0" lang="en-US" sz="3200">
                <a:solidFill>
                  <a:srgbClr val="FFFFFF"/>
                </a:solidFill>
                <a:latin typeface="Calibri"/>
                <a:ea typeface="Calibri"/>
                <a:cs typeface="Calibri"/>
                <a:sym typeface="Calibri"/>
              </a:rPr>
              <a:t>The response </a:t>
            </a:r>
            <a:r>
              <a:rPr b="1" i="1" lang="en-US" sz="3200">
                <a:solidFill>
                  <a:srgbClr val="FFFFFF"/>
                </a:solidFill>
                <a:latin typeface="Calibri"/>
                <a:ea typeface="Calibri"/>
                <a:cs typeface="Calibri"/>
                <a:sym typeface="Calibri"/>
              </a:rPr>
              <a:t>is</a:t>
            </a:r>
            <a:r>
              <a:rPr b="1" i="0" lang="en-US" sz="3200">
                <a:solidFill>
                  <a:srgbClr val="FFFFFF"/>
                </a:solidFill>
                <a:latin typeface="Calibri"/>
                <a:ea typeface="Calibri"/>
                <a:cs typeface="Calibri"/>
                <a:sym typeface="Calibri"/>
              </a:rPr>
              <a:t> the next state of the UI — already rendered.</a:t>
            </a:r>
            <a:endParaRPr/>
          </a:p>
        </p:txBody>
      </p:sp>
      <p:sp>
        <p:nvSpPr>
          <p:cNvPr id="238" name="Google Shape;238;p27"/>
          <p:cNvSpPr txBox="1"/>
          <p:nvPr>
            <p:ph idx="1" type="body"/>
          </p:nvPr>
        </p:nvSpPr>
        <p:spPr>
          <a:xfrm>
            <a:off x="593100" y="3042225"/>
            <a:ext cx="10760700" cy="1564800"/>
          </a:xfrm>
          <a:prstGeom prst="rect">
            <a:avLst/>
          </a:prstGeom>
          <a:noFill/>
          <a:ln>
            <a:noFill/>
          </a:ln>
        </p:spPr>
        <p:txBody>
          <a:bodyPr anchorCtr="0" anchor="t" bIns="45700" lIns="91425" spcFirstLastPara="1" rIns="91425" wrap="square" tIns="45700">
            <a:normAutofit/>
          </a:bodyPr>
          <a:lstStyle/>
          <a:p>
            <a:pPr indent="0" lvl="0" marL="0" rtl="0" algn="l">
              <a:lnSpc>
                <a:spcPct val="125000"/>
              </a:lnSpc>
              <a:spcBef>
                <a:spcPts val="0"/>
              </a:spcBef>
              <a:spcAft>
                <a:spcPts val="0"/>
              </a:spcAft>
              <a:buClr>
                <a:srgbClr val="FFC427"/>
              </a:buClr>
              <a:buSzPts val="1800"/>
              <a:buNone/>
            </a:pPr>
            <a:r>
              <a:rPr b="0" i="0" lang="en-US" sz="1800">
                <a:solidFill>
                  <a:srgbClr val="FFC427"/>
                </a:solidFill>
                <a:latin typeface="Calibri"/>
                <a:ea typeface="Calibri"/>
                <a:cs typeface="Calibri"/>
                <a:sym typeface="Calibri"/>
              </a:rPr>
              <a:t>No separate JSON API. </a:t>
            </a:r>
            <a:endParaRPr b="0" i="0" sz="1800">
              <a:solidFill>
                <a:srgbClr val="FFC427"/>
              </a:solidFill>
              <a:latin typeface="Calibri"/>
              <a:ea typeface="Calibri"/>
              <a:cs typeface="Calibri"/>
              <a:sym typeface="Calibri"/>
            </a:endParaRPr>
          </a:p>
          <a:p>
            <a:pPr indent="0" lvl="0" marL="0" rtl="0" algn="l">
              <a:lnSpc>
                <a:spcPct val="125000"/>
              </a:lnSpc>
              <a:spcBef>
                <a:spcPts val="0"/>
              </a:spcBef>
              <a:spcAft>
                <a:spcPts val="0"/>
              </a:spcAft>
              <a:buClr>
                <a:srgbClr val="FFC427"/>
              </a:buClr>
              <a:buSzPts val="1800"/>
              <a:buNone/>
            </a:pPr>
            <a:r>
              <a:rPr b="0" i="0" lang="en-US" sz="1800">
                <a:solidFill>
                  <a:srgbClr val="FFC427"/>
                </a:solidFill>
                <a:latin typeface="Calibri"/>
                <a:ea typeface="Calibri"/>
                <a:cs typeface="Calibri"/>
                <a:sym typeface="Calibri"/>
              </a:rPr>
              <a:t>No client-side templating layer. </a:t>
            </a:r>
            <a:endParaRPr b="0" i="0" sz="1800">
              <a:solidFill>
                <a:srgbClr val="FFC427"/>
              </a:solidFill>
              <a:latin typeface="Calibri"/>
              <a:ea typeface="Calibri"/>
              <a:cs typeface="Calibri"/>
              <a:sym typeface="Calibri"/>
            </a:endParaRPr>
          </a:p>
          <a:p>
            <a:pPr indent="0" lvl="0" marL="0" rtl="0" algn="l">
              <a:lnSpc>
                <a:spcPct val="125000"/>
              </a:lnSpc>
              <a:spcBef>
                <a:spcPts val="0"/>
              </a:spcBef>
              <a:spcAft>
                <a:spcPts val="0"/>
              </a:spcAft>
              <a:buClr>
                <a:srgbClr val="FFC427"/>
              </a:buClr>
              <a:buSzPts val="1800"/>
              <a:buNone/>
            </a:pPr>
            <a:r>
              <a:rPr b="0" i="0" lang="en-US" sz="1800">
                <a:solidFill>
                  <a:srgbClr val="FFC427"/>
                </a:solidFill>
                <a:latin typeface="Calibri"/>
                <a:ea typeface="Calibri"/>
                <a:cs typeface="Calibri"/>
                <a:sym typeface="Calibri"/>
              </a:rPr>
              <a:t>HTMX just closes the gap between the first page load and everything after, so both work the same way.</a:t>
            </a:r>
            <a:endParaRPr/>
          </a:p>
        </p:txBody>
      </p:sp>
      <p:sp>
        <p:nvSpPr>
          <p:cNvPr id="239" name="Google Shape;239;p27"/>
          <p:cNvSpPr txBox="1"/>
          <p:nvPr/>
        </p:nvSpPr>
        <p:spPr>
          <a:xfrm>
            <a:off x="640075" y="320047"/>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FC427"/>
                </a:solidFill>
                <a:latin typeface="Calibri"/>
                <a:ea typeface="Calibri"/>
                <a:cs typeface="Calibri"/>
                <a:sym typeface="Calibri"/>
              </a:rPr>
              <a:t>— </a:t>
            </a:r>
            <a:r>
              <a:rPr b="1" lang="en-US" sz="1200">
                <a:solidFill>
                  <a:srgbClr val="FFC427"/>
                </a:solidFill>
                <a:latin typeface="Calibri"/>
                <a:ea typeface="Calibri"/>
                <a:cs typeface="Calibri"/>
                <a:sym typeface="Calibri"/>
              </a:rPr>
              <a:t>THE BIGGER IDEA</a:t>
            </a:r>
            <a:endParaRPr>
              <a:solidFill>
                <a:srgbClr val="FFC427"/>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8"/>
          <p:cNvSpPr txBox="1"/>
          <p:nvPr>
            <p:ph type="title"/>
          </p:nvPr>
        </p:nvSpPr>
        <p:spPr>
          <a:xfrm>
            <a:off x="548700" y="365125"/>
            <a:ext cx="108051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400"/>
              <a:buFont typeface="Calibri"/>
              <a:buNone/>
            </a:pPr>
            <a:r>
              <a:rPr lang="en-US" sz="3400">
                <a:solidFill>
                  <a:srgbClr val="23325D"/>
                </a:solidFill>
              </a:rPr>
              <a:t>Four attributes</a:t>
            </a:r>
            <a:endParaRPr/>
          </a:p>
        </p:txBody>
      </p:sp>
      <p:sp>
        <p:nvSpPr>
          <p:cNvPr id="246" name="Google Shape;246;p28"/>
          <p:cNvSpPr/>
          <p:nvPr/>
        </p:nvSpPr>
        <p:spPr>
          <a:xfrm>
            <a:off x="640080" y="178308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VERB</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hx-get / hx-post / hx-put / hx-delete</a:t>
            </a:r>
            <a:endParaRPr/>
          </a:p>
        </p:txBody>
      </p:sp>
      <p:sp>
        <p:nvSpPr>
          <p:cNvPr id="247" name="Google Shape;247;p28"/>
          <p:cNvSpPr/>
          <p:nvPr/>
        </p:nvSpPr>
        <p:spPr>
          <a:xfrm>
            <a:off x="6231636" y="178308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TRIGGER</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hx-trigger — any DOM event, not just click/submit</a:t>
            </a:r>
            <a:endParaRPr/>
          </a:p>
        </p:txBody>
      </p:sp>
      <p:sp>
        <p:nvSpPr>
          <p:cNvPr id="248" name="Google Shape;248;p28"/>
          <p:cNvSpPr/>
          <p:nvPr/>
        </p:nvSpPr>
        <p:spPr>
          <a:xfrm>
            <a:off x="640080" y="347472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TARGET</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hx-target — any element, not just the one that triggered this</a:t>
            </a:r>
            <a:endParaRPr/>
          </a:p>
        </p:txBody>
      </p:sp>
      <p:sp>
        <p:nvSpPr>
          <p:cNvPr id="249" name="Google Shape;249;p28"/>
          <p:cNvSpPr/>
          <p:nvPr/>
        </p:nvSpPr>
        <p:spPr>
          <a:xfrm>
            <a:off x="6231636" y="347472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SWAP</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hx-swap — innerHTML, outerHTML, beforeend, afterbegin, and more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9"/>
          <p:cNvSpPr txBox="1"/>
          <p:nvPr>
            <p:ph type="title"/>
          </p:nvPr>
        </p:nvSpPr>
        <p:spPr>
          <a:xfrm>
            <a:off x="553720" y="2163440"/>
            <a:ext cx="10760700" cy="1231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Calibri"/>
              <a:buNone/>
            </a:pPr>
            <a:r>
              <a:rPr b="1" i="0" lang="en-US" sz="3200">
                <a:solidFill>
                  <a:srgbClr val="FFFFFF"/>
                </a:solidFill>
                <a:latin typeface="Calibri"/>
                <a:ea typeface="Calibri"/>
                <a:cs typeface="Calibri"/>
                <a:sym typeface="Calibri"/>
              </a:rPr>
              <a:t>HTMX gives Drupal back a vocabulary </a:t>
            </a:r>
            <a:endParaRPr b="1" i="0" sz="3200">
              <a:solidFill>
                <a:srgbClr val="FFFFFF"/>
              </a:solidFill>
              <a:latin typeface="Calibri"/>
              <a:ea typeface="Calibri"/>
              <a:cs typeface="Calibri"/>
              <a:sym typeface="Calibri"/>
            </a:endParaRPr>
          </a:p>
          <a:p>
            <a:pPr indent="0" lvl="0" marL="0" rtl="0" algn="l">
              <a:lnSpc>
                <a:spcPct val="90000"/>
              </a:lnSpc>
              <a:spcBef>
                <a:spcPts val="0"/>
              </a:spcBef>
              <a:spcAft>
                <a:spcPts val="0"/>
              </a:spcAft>
              <a:buClr>
                <a:srgbClr val="FFFFFF"/>
              </a:buClr>
              <a:buSzPts val="3200"/>
              <a:buFont typeface="Calibri"/>
              <a:buNone/>
            </a:pPr>
            <a:r>
              <a:rPr b="1" i="0" lang="en-US" sz="3200">
                <a:solidFill>
                  <a:srgbClr val="FFFFFF"/>
                </a:solidFill>
                <a:latin typeface="Calibri"/>
                <a:ea typeface="Calibri"/>
                <a:cs typeface="Calibri"/>
                <a:sym typeface="Calibri"/>
              </a:rPr>
              <a:t>it never lost: </a:t>
            </a:r>
            <a:r>
              <a:rPr lang="en-US" sz="3200">
                <a:solidFill>
                  <a:srgbClr val="FFC428"/>
                </a:solidFill>
              </a:rPr>
              <a:t>H</a:t>
            </a:r>
            <a:r>
              <a:rPr b="1" i="0" lang="en-US" sz="3200">
                <a:solidFill>
                  <a:srgbClr val="FFC428"/>
                </a:solidFill>
                <a:latin typeface="Calibri"/>
                <a:ea typeface="Calibri"/>
                <a:cs typeface="Calibri"/>
                <a:sym typeface="Calibri"/>
              </a:rPr>
              <a:t>ypermedia</a:t>
            </a:r>
            <a:r>
              <a:rPr b="1" i="0" lang="en-US" sz="3200">
                <a:solidFill>
                  <a:srgbClr val="FFFFFF"/>
                </a:solidFill>
                <a:latin typeface="Calibri"/>
                <a:ea typeface="Calibri"/>
                <a:cs typeface="Calibri"/>
                <a:sym typeface="Calibri"/>
              </a:rPr>
              <a:t>.</a:t>
            </a:r>
            <a:endParaRPr/>
          </a:p>
        </p:txBody>
      </p:sp>
      <p:sp>
        <p:nvSpPr>
          <p:cNvPr id="256" name="Google Shape;256;p29"/>
          <p:cNvSpPr txBox="1"/>
          <p:nvPr>
            <p:ph idx="1" type="body"/>
          </p:nvPr>
        </p:nvSpPr>
        <p:spPr>
          <a:xfrm>
            <a:off x="553725" y="3322950"/>
            <a:ext cx="10800000" cy="1371600"/>
          </a:xfrm>
          <a:prstGeom prst="rect">
            <a:avLst/>
          </a:prstGeom>
          <a:noFill/>
          <a:ln>
            <a:noFill/>
          </a:ln>
        </p:spPr>
        <p:txBody>
          <a:bodyPr anchorCtr="0" anchor="t" bIns="45700" lIns="91425" spcFirstLastPara="1" rIns="91425" wrap="square" tIns="45700">
            <a:normAutofit/>
          </a:bodyPr>
          <a:lstStyle/>
          <a:p>
            <a:pPr indent="0" lvl="0" marL="0" rtl="0" algn="l">
              <a:lnSpc>
                <a:spcPct val="125000"/>
              </a:lnSpc>
              <a:spcBef>
                <a:spcPts val="0"/>
              </a:spcBef>
              <a:spcAft>
                <a:spcPts val="0"/>
              </a:spcAft>
              <a:buClr>
                <a:srgbClr val="FFC427"/>
              </a:buClr>
              <a:buSzPts val="1800"/>
              <a:buNone/>
            </a:pPr>
            <a:r>
              <a:rPr b="0" i="0" lang="en-US" sz="1800">
                <a:solidFill>
                  <a:srgbClr val="FFC427"/>
                </a:solidFill>
                <a:latin typeface="Calibri"/>
                <a:ea typeface="Calibri"/>
                <a:cs typeface="Calibri"/>
                <a:sym typeface="Calibri"/>
              </a:rPr>
              <a:t>Next: mapping that onto Drupal's own architecture</a:t>
            </a:r>
            <a:r>
              <a:rPr lang="en-US" sz="1800">
                <a:solidFill>
                  <a:srgbClr val="FFC427"/>
                </a:solidFill>
              </a:rPr>
              <a:t>:</a:t>
            </a:r>
            <a:r>
              <a:rPr b="0" i="0" lang="en-US" sz="1800">
                <a:solidFill>
                  <a:srgbClr val="FFC427"/>
                </a:solidFill>
                <a:latin typeface="Calibri"/>
                <a:ea typeface="Calibri"/>
                <a:cs typeface="Calibri"/>
                <a:sym typeface="Calibri"/>
              </a:rPr>
              <a:t> render arrays, routing, caching.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0"/>
          <p:cNvSpPr txBox="1"/>
          <p:nvPr/>
        </p:nvSpPr>
        <p:spPr>
          <a:xfrm>
            <a:off x="7589520" y="4297680"/>
            <a:ext cx="3931920" cy="210312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i="0" lang="en-US" sz="17000">
                <a:solidFill>
                  <a:srgbClr val="FBDAD3"/>
                </a:solidFill>
                <a:latin typeface="Courier New"/>
                <a:ea typeface="Courier New"/>
                <a:cs typeface="Courier New"/>
                <a:sym typeface="Courier New"/>
              </a:rPr>
              <a:t>04</a:t>
            </a:r>
            <a:endParaRPr/>
          </a:p>
        </p:txBody>
      </p:sp>
      <p:sp>
        <p:nvSpPr>
          <p:cNvPr id="263" name="Google Shape;263;p30"/>
          <p:cNvSpPr txBox="1"/>
          <p:nvPr>
            <p:ph type="title"/>
          </p:nvPr>
        </p:nvSpPr>
        <p:spPr>
          <a:xfrm>
            <a:off x="799925" y="1847575"/>
            <a:ext cx="10922700" cy="1086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3325D"/>
              </a:buClr>
              <a:buSzPts val="3600"/>
              <a:buFont typeface="Calibri"/>
              <a:buNone/>
            </a:pPr>
            <a:r>
              <a:rPr lang="en-US" sz="3600"/>
              <a:t>Mapping HTMX onto Drupal's Architecture</a:t>
            </a:r>
            <a:endParaRPr/>
          </a:p>
          <a:p>
            <a:pPr indent="0" lvl="0" marL="0" rtl="0" algn="l">
              <a:lnSpc>
                <a:spcPct val="90000"/>
              </a:lnSpc>
              <a:spcBef>
                <a:spcPts val="0"/>
              </a:spcBef>
              <a:spcAft>
                <a:spcPts val="0"/>
              </a:spcAft>
              <a:buClr>
                <a:srgbClr val="23325D"/>
              </a:buClr>
              <a:buSzPts val="3600"/>
              <a:buFont typeface="Calibri"/>
              <a:buNone/>
            </a:pPr>
            <a:r>
              <a:t/>
            </a:r>
            <a:endParaRPr sz="36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1"/>
          <p:cNvSpPr txBox="1"/>
          <p:nvPr>
            <p:ph type="title"/>
          </p:nvPr>
        </p:nvSpPr>
        <p:spPr>
          <a:xfrm>
            <a:off x="322580" y="2272665"/>
            <a:ext cx="11376660" cy="94805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t/>
            </a:r>
            <a:endParaRPr b="1">
              <a:solidFill>
                <a:schemeClr val="lt1"/>
              </a:solidFill>
            </a:endParaRPr>
          </a:p>
        </p:txBody>
      </p:sp>
      <p:sp>
        <p:nvSpPr>
          <p:cNvPr id="270" name="Google Shape;270;p31"/>
          <p:cNvSpPr txBox="1"/>
          <p:nvPr/>
        </p:nvSpPr>
        <p:spPr>
          <a:xfrm>
            <a:off x="640080" y="320040"/>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26351"/>
                </a:solidFill>
                <a:latin typeface="Calibri"/>
                <a:ea typeface="Calibri"/>
                <a:cs typeface="Calibri"/>
                <a:sym typeface="Calibri"/>
              </a:rPr>
              <a:t>— </a:t>
            </a:r>
            <a:r>
              <a:rPr b="1" i="0" lang="en-US" sz="1200">
                <a:solidFill>
                  <a:srgbClr val="F26351"/>
                </a:solidFill>
                <a:latin typeface="Calibri"/>
                <a:ea typeface="Calibri"/>
                <a:cs typeface="Calibri"/>
                <a:sym typeface="Calibri"/>
              </a:rPr>
              <a:t>THE QUESTION</a:t>
            </a:r>
            <a:endParaRPr/>
          </a:p>
        </p:txBody>
      </p:sp>
      <p:sp>
        <p:nvSpPr>
          <p:cNvPr id="271" name="Google Shape;271;p31"/>
          <p:cNvSpPr txBox="1"/>
          <p:nvPr/>
        </p:nvSpPr>
        <p:spPr>
          <a:xfrm>
            <a:off x="914400" y="2958740"/>
            <a:ext cx="10332600" cy="940500"/>
          </a:xfrm>
          <a:prstGeom prst="rect">
            <a:avLst/>
          </a:prstGeom>
          <a:noFill/>
          <a:ln>
            <a:noFill/>
          </a:ln>
        </p:spPr>
        <p:txBody>
          <a:bodyPr anchorCtr="0" anchor="ctr" bIns="0" lIns="0" spcFirstLastPara="1" rIns="0" wrap="square" tIns="0">
            <a:spAutoFit/>
          </a:bodyPr>
          <a:lstStyle/>
          <a:p>
            <a:pPr indent="0" lvl="0" marL="0" marR="0" rtl="0" algn="l">
              <a:lnSpc>
                <a:spcPct val="135000"/>
              </a:lnSpc>
              <a:spcBef>
                <a:spcPts val="0"/>
              </a:spcBef>
              <a:spcAft>
                <a:spcPts val="0"/>
              </a:spcAft>
              <a:buNone/>
            </a:pPr>
            <a:r>
              <a:rPr b="0" i="1" lang="en-US" sz="2600">
                <a:solidFill>
                  <a:srgbClr val="23325D"/>
                </a:solidFill>
                <a:latin typeface="Calibri"/>
                <a:ea typeface="Calibri"/>
                <a:cs typeface="Calibri"/>
                <a:sym typeface="Calibri"/>
              </a:rPr>
              <a:t>HTMX doesn't need anything special from Drupal. It needs three things Drupal already has </a:t>
            </a:r>
            <a:r>
              <a:rPr b="1" i="1" lang="en-US" sz="2600">
                <a:solidFill>
                  <a:srgbClr val="23325D"/>
                </a:solidFill>
                <a:latin typeface="Calibri"/>
                <a:ea typeface="Calibri"/>
                <a:cs typeface="Calibri"/>
                <a:sym typeface="Calibri"/>
              </a:rPr>
              <a:t>and has had for over a decade.</a:t>
            </a:r>
            <a:endParaRPr b="1"/>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2"/>
          <p:cNvSpPr txBox="1"/>
          <p:nvPr>
            <p:ph type="title"/>
          </p:nvPr>
        </p:nvSpPr>
        <p:spPr>
          <a:xfrm>
            <a:off x="525150" y="428675"/>
            <a:ext cx="10773600" cy="627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400"/>
              <a:buFont typeface="Calibri"/>
              <a:buNone/>
            </a:pPr>
            <a:r>
              <a:rPr lang="en-US" sz="3400">
                <a:solidFill>
                  <a:srgbClr val="23325D"/>
                </a:solidFill>
              </a:rPr>
              <a:t>A normal Drupal route</a:t>
            </a:r>
            <a:endParaRPr/>
          </a:p>
        </p:txBody>
      </p:sp>
      <p:sp>
        <p:nvSpPr>
          <p:cNvPr id="278" name="Google Shape;278;p32"/>
          <p:cNvSpPr txBox="1"/>
          <p:nvPr/>
        </p:nvSpPr>
        <p:spPr>
          <a:xfrm>
            <a:off x="640080" y="320040"/>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26351"/>
                </a:solidFill>
                <a:latin typeface="Calibri"/>
                <a:ea typeface="Calibri"/>
                <a:cs typeface="Calibri"/>
                <a:sym typeface="Calibri"/>
              </a:rPr>
              <a:t>— </a:t>
            </a:r>
            <a:r>
              <a:rPr b="1" i="0" lang="en-US" sz="1200">
                <a:solidFill>
                  <a:srgbClr val="F26351"/>
                </a:solidFill>
                <a:latin typeface="Calibri"/>
                <a:ea typeface="Calibri"/>
                <a:cs typeface="Calibri"/>
                <a:sym typeface="Calibri"/>
              </a:rPr>
              <a:t>ROUTING</a:t>
            </a:r>
            <a:endParaRPr/>
          </a:p>
        </p:txBody>
      </p:sp>
      <p:sp>
        <p:nvSpPr>
          <p:cNvPr id="279" name="Google Shape;279;p32"/>
          <p:cNvSpPr/>
          <p:nvPr/>
        </p:nvSpPr>
        <p:spPr>
          <a:xfrm>
            <a:off x="640080" y="1463040"/>
            <a:ext cx="10908900" cy="2240280"/>
          </a:xfrm>
          <a:prstGeom prst="roundRect">
            <a:avLst>
              <a:gd fmla="val 4000" name="adj"/>
            </a:avLst>
          </a:prstGeom>
          <a:solidFill>
            <a:srgbClr val="23325D"/>
          </a:solidFill>
          <a:ln>
            <a:noFill/>
          </a:ln>
        </p:spPr>
        <p:txBody>
          <a:bodyPr anchorCtr="0" anchor="ctr" bIns="228600" lIns="320025" spcFirstLastPara="1" rIns="274300" wrap="square" tIns="228600">
            <a:noAutofit/>
          </a:bodyPr>
          <a:lstStyle/>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my_module.filter_results: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path: </a:t>
            </a:r>
            <a:r>
              <a:rPr b="1" i="0" lang="en-US" sz="1250">
                <a:solidFill>
                  <a:srgbClr val="F26351"/>
                </a:solidFill>
                <a:latin typeface="Courier New"/>
                <a:ea typeface="Courier New"/>
                <a:cs typeface="Courier New"/>
                <a:sym typeface="Courier New"/>
              </a:rPr>
              <a:t>'/filter-results'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defaults: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_controller: '\Drupal\my_module\Controller\FilterController::results'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requirements: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_access: 'TRUE'</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options: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r>
              <a:rPr b="1" i="0" lang="en-US" sz="1250">
                <a:solidFill>
                  <a:srgbClr val="F26351"/>
                </a:solidFill>
                <a:latin typeface="Courier New"/>
                <a:ea typeface="Courier New"/>
                <a:cs typeface="Courier New"/>
                <a:sym typeface="Courier New"/>
              </a:rPr>
              <a:t>_htmx_route: TRUE</a:t>
            </a:r>
            <a:endParaRPr/>
          </a:p>
        </p:txBody>
      </p:sp>
      <p:sp>
        <p:nvSpPr>
          <p:cNvPr id="280" name="Google Shape;280;p32"/>
          <p:cNvSpPr txBox="1"/>
          <p:nvPr/>
        </p:nvSpPr>
        <p:spPr>
          <a:xfrm>
            <a:off x="640080" y="3886200"/>
            <a:ext cx="109089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400">
                <a:solidFill>
                  <a:srgbClr val="5B6378"/>
                </a:solidFill>
                <a:latin typeface="Calibri"/>
                <a:ea typeface="Calibri"/>
                <a:cs typeface="Calibri"/>
                <a:sym typeface="Calibri"/>
              </a:rPr>
              <a:t>hx-get="/filter-results" isn't a special Ajax callback. It's a normal Drupal route with one flag: _htmx_route returns just the main content and its assets, not the whole themed page.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3"/>
          <p:cNvSpPr txBox="1"/>
          <p:nvPr/>
        </p:nvSpPr>
        <p:spPr>
          <a:xfrm>
            <a:off x="640080" y="320040"/>
            <a:ext cx="7315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F26351"/>
                </a:solidFill>
                <a:latin typeface="Calibri"/>
                <a:ea typeface="Calibri"/>
                <a:cs typeface="Calibri"/>
                <a:sym typeface="Calibri"/>
              </a:rPr>
              <a:t>RENDER ARRAYS</a:t>
            </a:r>
            <a:endParaRPr/>
          </a:p>
        </p:txBody>
      </p:sp>
      <p:sp>
        <p:nvSpPr>
          <p:cNvPr id="287" name="Google Shape;287;p33"/>
          <p:cNvSpPr/>
          <p:nvPr/>
        </p:nvSpPr>
        <p:spPr>
          <a:xfrm>
            <a:off x="640080" y="1723703"/>
            <a:ext cx="10908900" cy="2724900"/>
          </a:xfrm>
          <a:prstGeom prst="roundRect">
            <a:avLst>
              <a:gd fmla="val 4000" name="adj"/>
            </a:avLst>
          </a:prstGeom>
          <a:solidFill>
            <a:srgbClr val="23325D"/>
          </a:solidFill>
          <a:ln>
            <a:noFill/>
          </a:ln>
        </p:spPr>
        <p:txBody>
          <a:bodyPr anchorCtr="0" anchor="ctr" bIns="228600" lIns="320025" spcFirstLastPara="1" rIns="274300" wrap="square" tIns="228600">
            <a:noAutofit/>
          </a:bodyPr>
          <a:lstStyle/>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public function results(Request $request)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$filter = $request-&gt;query-&gt;get('filter');</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return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'#theme' =&gt; 'item_list',</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'#items' =&gt; $this-&gt;getFilteredItems($filter),</a:t>
            </a:r>
            <a:endParaRPr/>
          </a:p>
          <a:p>
            <a:pPr indent="0" lvl="0" marL="0" marR="0" rtl="0" algn="l">
              <a:lnSpc>
                <a:spcPct val="122000"/>
              </a:lnSpc>
              <a:spcBef>
                <a:spcPts val="0"/>
              </a:spcBef>
              <a:spcAft>
                <a:spcPts val="0"/>
              </a:spcAft>
              <a:buNone/>
            </a:pPr>
            <a:r>
              <a:rPr b="1" i="0" lang="en-US" sz="1250">
                <a:solidFill>
                  <a:srgbClr val="F26351"/>
                </a:solidFill>
                <a:latin typeface="Courier New"/>
                <a:ea typeface="Courier New"/>
                <a:cs typeface="Courier New"/>
                <a:sym typeface="Courier New"/>
              </a:rPr>
              <a:t>    '#cache' =&gt;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'tags' =&gt; ['node_list'],</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'contexts' =&gt; ['url.query_args:filter'],</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a:t>
            </a:r>
            <a:endParaRPr/>
          </a:p>
        </p:txBody>
      </p:sp>
      <p:sp>
        <p:nvSpPr>
          <p:cNvPr id="288" name="Google Shape;288;p33"/>
          <p:cNvSpPr txBox="1"/>
          <p:nvPr/>
        </p:nvSpPr>
        <p:spPr>
          <a:xfrm>
            <a:off x="640080" y="4585648"/>
            <a:ext cx="109089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400">
                <a:solidFill>
                  <a:srgbClr val="5B6378"/>
                </a:solidFill>
                <a:latin typeface="Calibri"/>
                <a:ea typeface="Calibri"/>
                <a:cs typeface="Calibri"/>
                <a:sym typeface="Calibri"/>
              </a:rPr>
              <a:t>The same render array every Drupal controller already returns. No AjaxResponse. No Commands. The render pipeline already builds exactly this.</a:t>
            </a:r>
            <a:endParaRPr/>
          </a:p>
        </p:txBody>
      </p:sp>
      <p:sp>
        <p:nvSpPr>
          <p:cNvPr id="289" name="Google Shape;289;p33"/>
          <p:cNvSpPr txBox="1"/>
          <p:nvPr>
            <p:ph type="title"/>
          </p:nvPr>
        </p:nvSpPr>
        <p:spPr>
          <a:xfrm>
            <a:off x="525150" y="428675"/>
            <a:ext cx="10773600" cy="6279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23325D"/>
              </a:buClr>
              <a:buSzPts val="3400"/>
              <a:buFont typeface="Calibri"/>
              <a:buNone/>
            </a:pPr>
            <a:r>
              <a:rPr lang="en-US" sz="3400"/>
              <a:t>The same render array Drupal always returns</a:t>
            </a:r>
            <a:endParaRPr sz="3400"/>
          </a:p>
        </p:txBody>
      </p:sp>
      <p:sp>
        <p:nvSpPr>
          <p:cNvPr id="290" name="Google Shape;290;p33"/>
          <p:cNvSpPr txBox="1"/>
          <p:nvPr/>
        </p:nvSpPr>
        <p:spPr>
          <a:xfrm>
            <a:off x="640080" y="320040"/>
            <a:ext cx="7315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0000"/>
              </a:buClr>
              <a:buFont typeface="Arial"/>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3"/>
          <p:cNvSpPr txBox="1"/>
          <p:nvPr/>
        </p:nvSpPr>
        <p:spPr>
          <a:xfrm>
            <a:off x="640080" y="320040"/>
            <a:ext cx="7315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F26351"/>
                </a:solidFill>
                <a:latin typeface="Calibri"/>
                <a:ea typeface="Calibri"/>
                <a:cs typeface="Calibri"/>
                <a:sym typeface="Calibri"/>
              </a:rPr>
              <a:t>CORE'S HTMX CLASS</a:t>
            </a:r>
            <a:endParaRPr/>
          </a:p>
        </p:txBody>
      </p:sp>
      <p:sp>
        <p:nvSpPr>
          <p:cNvPr id="287" name="Google Shape;287;p33"/>
          <p:cNvSpPr/>
          <p:nvPr/>
        </p:nvSpPr>
        <p:spPr>
          <a:xfrm>
            <a:off x="640080" y="1723703"/>
            <a:ext cx="10908900" cy="2724900"/>
          </a:xfrm>
          <a:prstGeom prst="roundRect">
            <a:avLst>
              <a:gd fmla="val 4000" name="adj"/>
            </a:avLst>
          </a:prstGeom>
          <a:solidFill>
            <a:srgbClr val="23325D"/>
          </a:solidFill>
          <a:ln>
            <a:noFill/>
          </a:ln>
        </p:spPr>
        <p:txBody>
          <a:bodyPr anchorCtr="0" anchor="ctr" bIns="228600" lIns="320025" spcFirstLastPara="1" rIns="274300" wrap="square" tIns="228600">
            <a:noAutofit/>
          </a:bodyPr>
          <a:lstStyle/>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use Drupal\Core\Htmx\Htmx;</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(new Htmx())</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-&gt;get(Url::fromRoute('my_module.filter_results'))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-&gt;trigger('change')</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-&gt;target('#results')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-&gt;swap('innerHTML')</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-&gt;applyTo($form['filter']);</a:t>
            </a:r>
            <a:endParaRPr/>
          </a:p>
        </p:txBody>
      </p:sp>
      <p:sp>
        <p:nvSpPr>
          <p:cNvPr id="288" name="Google Shape;288;p33"/>
          <p:cNvSpPr txBox="1"/>
          <p:nvPr/>
        </p:nvSpPr>
        <p:spPr>
          <a:xfrm>
            <a:off x="640080" y="4585648"/>
            <a:ext cx="109089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400">
                <a:solidFill>
                  <a:srgbClr val="5B6378"/>
                </a:solidFill>
                <a:latin typeface="Calibri"/>
                <a:ea typeface="Calibri"/>
                <a:cs typeface="Calibri"/>
                <a:sym typeface="Calibri"/>
              </a:rPr>
              <a:t>The same four attributes from §3, built in PHP. applyTo() attaches core/drupal.htmx, which loads the response's assets and re-attaches Drupal.behaviors after every swap.</a:t>
            </a:r>
            <a:endParaRPr/>
          </a:p>
        </p:txBody>
      </p:sp>
      <p:sp>
        <p:nvSpPr>
          <p:cNvPr id="289" name="Google Shape;289;p33"/>
          <p:cNvSpPr txBox="1"/>
          <p:nvPr>
            <p:ph type="title"/>
          </p:nvPr>
        </p:nvSpPr>
        <p:spPr>
          <a:xfrm>
            <a:off x="525150" y="428675"/>
            <a:ext cx="10773600" cy="6279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23325D"/>
              </a:buClr>
              <a:buSzPts val="3400"/>
              <a:buFont typeface="Calibri"/>
              <a:buNone/>
            </a:pPr>
            <a:r>
              <a:rPr lang="en-US" sz="3400"/>
              <a:t>Core does the glue</a:t>
            </a:r>
            <a:endParaRPr sz="3400"/>
          </a:p>
        </p:txBody>
      </p:sp>
      <p:sp>
        <p:nvSpPr>
          <p:cNvPr id="290" name="Google Shape;290;p33"/>
          <p:cNvSpPr txBox="1"/>
          <p:nvPr/>
        </p:nvSpPr>
        <p:spPr>
          <a:xfrm>
            <a:off x="640080" y="320040"/>
            <a:ext cx="7315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0000"/>
              </a:buClr>
              <a:buFont typeface="Arial"/>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4"/>
          <p:cNvSpPr txBox="1"/>
          <p:nvPr/>
        </p:nvSpPr>
        <p:spPr>
          <a:xfrm>
            <a:off x="640080" y="320040"/>
            <a:ext cx="7315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F26351"/>
                </a:solidFill>
                <a:latin typeface="Calibri"/>
                <a:ea typeface="Calibri"/>
                <a:cs typeface="Calibri"/>
                <a:sym typeface="Calibri"/>
              </a:rPr>
              <a:t>WHERE THIS PAYS OFF</a:t>
            </a:r>
            <a:endParaRPr/>
          </a:p>
        </p:txBody>
      </p:sp>
      <p:sp>
        <p:nvSpPr>
          <p:cNvPr id="297" name="Google Shape;297;p34"/>
          <p:cNvSpPr/>
          <p:nvPr/>
        </p:nvSpPr>
        <p:spPr>
          <a:xfrm>
            <a:off x="640080" y="2516217"/>
            <a:ext cx="5317200" cy="1417200"/>
          </a:xfrm>
          <a:prstGeom prst="roundRect">
            <a:avLst>
              <a:gd fmla="val 6000" name="adj"/>
            </a:avLst>
          </a:prstGeom>
          <a:solidFill>
            <a:srgbClr val="EAF6FC"/>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0D6DAC"/>
                </a:solidFill>
                <a:latin typeface="Courier New"/>
                <a:ea typeface="Courier New"/>
                <a:cs typeface="Courier New"/>
                <a:sym typeface="Courier New"/>
              </a:rPr>
              <a:t>AJAX API</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An AjaxResponse built from Commands doesn't sit in the cache pipeline. You're mostly on your own.</a:t>
            </a:r>
            <a:endParaRPr/>
          </a:p>
        </p:txBody>
      </p:sp>
      <p:sp>
        <p:nvSpPr>
          <p:cNvPr id="298" name="Google Shape;298;p34"/>
          <p:cNvSpPr/>
          <p:nvPr/>
        </p:nvSpPr>
        <p:spPr>
          <a:xfrm>
            <a:off x="6231636" y="2516217"/>
            <a:ext cx="5317200" cy="141720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HTMX</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A plain render array — cache tags bubble up, contexts vary the response automatically. Caching for free.</a:t>
            </a:r>
            <a:endParaRPr/>
          </a:p>
        </p:txBody>
      </p:sp>
      <p:sp>
        <p:nvSpPr>
          <p:cNvPr id="299" name="Google Shape;299;p34"/>
          <p:cNvSpPr txBox="1"/>
          <p:nvPr/>
        </p:nvSpPr>
        <p:spPr>
          <a:xfrm>
            <a:off x="640080" y="320040"/>
            <a:ext cx="7315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5"/>
          <p:cNvSpPr txBox="1"/>
          <p:nvPr/>
        </p:nvSpPr>
        <p:spPr>
          <a:xfrm>
            <a:off x="640080" y="320040"/>
            <a:ext cx="7315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F26351"/>
                </a:solidFill>
                <a:latin typeface="Calibri"/>
                <a:ea typeface="Calibri"/>
                <a:cs typeface="Calibri"/>
                <a:sym typeface="Calibri"/>
              </a:rPr>
              <a:t>RECAP</a:t>
            </a:r>
            <a:endParaRPr/>
          </a:p>
        </p:txBody>
      </p:sp>
      <p:graphicFrame>
        <p:nvGraphicFramePr>
          <p:cNvPr id="306" name="Google Shape;306;p35"/>
          <p:cNvGraphicFramePr/>
          <p:nvPr/>
        </p:nvGraphicFramePr>
        <p:xfrm>
          <a:off x="640080" y="1920240"/>
          <a:ext cx="3000000" cy="3000000"/>
        </p:xfrm>
        <a:graphic>
          <a:graphicData uri="http://schemas.openxmlformats.org/drawingml/2006/table">
            <a:tbl>
              <a:tblPr bandRow="1" firstRow="1">
                <a:noFill/>
                <a:tableStyleId>{82BA0FA9-774D-4D84-A5C6-C2667BA39461}</a:tableStyleId>
              </a:tblPr>
              <a:tblGrid>
                <a:gridCol w="5454400"/>
                <a:gridCol w="5454400"/>
              </a:tblGrid>
              <a:tr h="502925">
                <a:tc>
                  <a:txBody>
                    <a:bodyPr/>
                    <a:lstStyle/>
                    <a:p>
                      <a:pPr indent="0" lvl="0" marL="0" marR="0" rtl="0" algn="l">
                        <a:spcBef>
                          <a:spcPts val="0"/>
                        </a:spcBef>
                        <a:spcAft>
                          <a:spcPts val="0"/>
                        </a:spcAft>
                        <a:buNone/>
                      </a:pPr>
                      <a:r>
                        <a:rPr b="1" i="0" lang="en-US" sz="1400" u="none" cap="none" strike="noStrike">
                          <a:solidFill>
                            <a:srgbClr val="FFFFFF"/>
                          </a:solidFill>
                          <a:latin typeface="Calibri"/>
                          <a:ea typeface="Calibri"/>
                          <a:cs typeface="Calibri"/>
                          <a:sym typeface="Calibri"/>
                        </a:rPr>
                        <a:t>HTMX asks for</a:t>
                      </a:r>
                      <a:endParaRPr/>
                    </a:p>
                  </a:txBody>
                  <a:tcPr marT="45725" marB="45725" marR="91450" marL="91450" anchor="ctr">
                    <a:solidFill>
                      <a:srgbClr val="23325D"/>
                    </a:solidFill>
                  </a:tcPr>
                </a:tc>
                <a:tc>
                  <a:txBody>
                    <a:bodyPr/>
                    <a:lstStyle/>
                    <a:p>
                      <a:pPr indent="0" lvl="0" marL="0" marR="0" rtl="0" algn="l">
                        <a:spcBef>
                          <a:spcPts val="0"/>
                        </a:spcBef>
                        <a:spcAft>
                          <a:spcPts val="0"/>
                        </a:spcAft>
                        <a:buNone/>
                      </a:pPr>
                      <a:r>
                        <a:rPr b="1" i="0" lang="en-US" sz="1400">
                          <a:solidFill>
                            <a:srgbClr val="FFFFFF"/>
                          </a:solidFill>
                          <a:latin typeface="Calibri"/>
                          <a:ea typeface="Calibri"/>
                          <a:cs typeface="Calibri"/>
                          <a:sym typeface="Calibri"/>
                        </a:rPr>
                        <a:t>Drupal already has</a:t>
                      </a:r>
                      <a:endParaRPr/>
                    </a:p>
                  </a:txBody>
                  <a:tcPr marT="45725" marB="45725" marR="91450" marL="91450" anchor="ctr">
                    <a:solidFill>
                      <a:srgbClr val="23325D"/>
                    </a:solidFill>
                  </a:tcPr>
                </a:tc>
              </a:tr>
              <a:tr h="502925">
                <a:tc>
                  <a:txBody>
                    <a:bodyPr/>
                    <a:lstStyle/>
                    <a:p>
                      <a:pPr indent="0" lvl="0" marL="0" marR="0" rtl="0" algn="l">
                        <a:spcBef>
                          <a:spcPts val="0"/>
                        </a:spcBef>
                        <a:spcAft>
                          <a:spcPts val="0"/>
                        </a:spcAft>
                        <a:buNone/>
                      </a:pPr>
                      <a:r>
                        <a:rPr b="1" i="0" lang="en-US" sz="1350">
                          <a:solidFill>
                            <a:srgbClr val="F26351"/>
                          </a:solidFill>
                          <a:latin typeface="Calibri"/>
                          <a:ea typeface="Calibri"/>
                          <a:cs typeface="Calibri"/>
                          <a:sym typeface="Calibri"/>
                        </a:rPr>
                        <a:t>A URL (hx-get/hx-post)</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A route + controller (_htmx_route)</a:t>
                      </a:r>
                      <a:endParaRPr/>
                    </a:p>
                  </a:txBody>
                  <a:tcPr marT="45725" marB="45725" marR="91450" marL="91450" anchor="ctr">
                    <a:solidFill>
                      <a:srgbClr val="FFFFFF"/>
                    </a:solidFill>
                  </a:tcPr>
                </a:tc>
              </a:tr>
              <a:tr h="502925">
                <a:tc>
                  <a:txBody>
                    <a:bodyPr/>
                    <a:lstStyle/>
                    <a:p>
                      <a:pPr indent="0" lvl="0" marL="0" marR="0" rtl="0" algn="l">
                        <a:spcBef>
                          <a:spcPts val="0"/>
                        </a:spcBef>
                        <a:spcAft>
                          <a:spcPts val="0"/>
                        </a:spcAft>
                        <a:buNone/>
                      </a:pPr>
                      <a:r>
                        <a:rPr b="1" i="0" lang="en-US" sz="1350">
                          <a:solidFill>
                            <a:srgbClr val="F26351"/>
                          </a:solidFill>
                          <a:latin typeface="Calibri"/>
                          <a:ea typeface="Calibri"/>
                          <a:cs typeface="Calibri"/>
                          <a:sym typeface="Calibri"/>
                        </a:rPr>
                        <a:t>HTML to swap in</a:t>
                      </a:r>
                      <a:endParaRPr/>
                    </a:p>
                  </a:txBody>
                  <a:tcPr marT="45725" marB="45725" marR="91450" marL="91450" anchor="ctr">
                    <a:solidFill>
                      <a:srgbClr val="EAF6FC"/>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A render array</a:t>
                      </a:r>
                      <a:endParaRPr/>
                    </a:p>
                  </a:txBody>
                  <a:tcPr marT="45725" marB="45725" marR="91450" marL="91450" anchor="ctr">
                    <a:solidFill>
                      <a:srgbClr val="EAF6FC"/>
                    </a:solidFill>
                  </a:tcPr>
                </a:tc>
              </a:tr>
              <a:tr h="502925">
                <a:tc>
                  <a:txBody>
                    <a:bodyPr/>
                    <a:lstStyle/>
                    <a:p>
                      <a:pPr indent="0" lvl="0" marL="0" marR="0" rtl="0" algn="l">
                        <a:spcBef>
                          <a:spcPts val="0"/>
                        </a:spcBef>
                        <a:spcAft>
                          <a:spcPts val="0"/>
                        </a:spcAft>
                        <a:buNone/>
                      </a:pPr>
                      <a:r>
                        <a:rPr b="1" i="0" lang="en-US" sz="1350">
                          <a:solidFill>
                            <a:srgbClr val="F26351"/>
                          </a:solidFill>
                          <a:latin typeface="Calibri"/>
                          <a:ea typeface="Calibri"/>
                          <a:cs typeface="Calibri"/>
                          <a:sym typeface="Calibri"/>
                        </a:rPr>
                        <a:t>Correctness under caching</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#cache tags &amp; contexts</a:t>
                      </a:r>
                      <a:endParaRPr/>
                    </a:p>
                  </a:txBody>
                  <a:tcPr marT="45725" marB="45725" marR="91450" marL="91450" anchor="ctr">
                    <a:solidFill>
                      <a:srgbClr val="FFFFFF"/>
                    </a:solidFill>
                  </a:tcPr>
                </a:tc>
              </a:tr>
            </a:tbl>
          </a:graphicData>
        </a:graphic>
      </p:graphicFrame>
      <p:sp>
        <p:nvSpPr>
          <p:cNvPr id="307" name="Google Shape;307;p35"/>
          <p:cNvSpPr txBox="1"/>
          <p:nvPr/>
        </p:nvSpPr>
        <p:spPr>
          <a:xfrm>
            <a:off x="4572000" y="6355080"/>
            <a:ext cx="4846320" cy="3200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300">
                <a:solidFill>
                  <a:srgbClr val="F26351"/>
                </a:solidFill>
                <a:latin typeface="Calibri"/>
                <a:ea typeface="Calibri"/>
                <a:cs typeface="Calibri"/>
                <a:sym typeface="Calibri"/>
              </a:rPr>
              <a:t>→ next: live demo</a:t>
            </a:r>
            <a:endParaRPr/>
          </a:p>
        </p:txBody>
      </p:sp>
      <p:sp>
        <p:nvSpPr>
          <p:cNvPr id="308" name="Google Shape;308;p35"/>
          <p:cNvSpPr txBox="1"/>
          <p:nvPr>
            <p:ph type="title"/>
          </p:nvPr>
        </p:nvSpPr>
        <p:spPr>
          <a:xfrm>
            <a:off x="525150" y="428675"/>
            <a:ext cx="10773600" cy="6279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23325D"/>
              </a:buClr>
              <a:buSzPts val="3200"/>
              <a:buFont typeface="Calibri"/>
              <a:buNone/>
            </a:pPr>
            <a:r>
              <a:rPr lang="en-US" sz="3200"/>
              <a:t>Three things Drupal already gives</a:t>
            </a:r>
            <a:endParaRPr sz="34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6"/>
          <p:cNvSpPr txBox="1"/>
          <p:nvPr>
            <p:ph type="title"/>
          </p:nvPr>
        </p:nvSpPr>
        <p:spPr>
          <a:xfrm>
            <a:off x="887095" y="1533525"/>
            <a:ext cx="10835640" cy="10858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3325D"/>
              </a:buClr>
              <a:buSzPts val="3600"/>
              <a:buFont typeface="Calibri"/>
              <a:buNone/>
            </a:pPr>
            <a:r>
              <a:rPr lang="en-US" sz="3600">
                <a:solidFill>
                  <a:srgbClr val="23325D"/>
                </a:solidFill>
              </a:rPr>
              <a:t>Live Demo</a:t>
            </a:r>
            <a:endParaRPr/>
          </a:p>
        </p:txBody>
      </p:sp>
      <p:sp>
        <p:nvSpPr>
          <p:cNvPr id="315" name="Google Shape;315;p36"/>
          <p:cNvSpPr txBox="1"/>
          <p:nvPr>
            <p:ph idx="1" type="body"/>
          </p:nvPr>
        </p:nvSpPr>
        <p:spPr>
          <a:xfrm>
            <a:off x="887095" y="2679065"/>
            <a:ext cx="10835640" cy="1499870"/>
          </a:xfrm>
          <a:prstGeom prst="rect">
            <a:avLst/>
          </a:prstGeom>
          <a:noFill/>
          <a:ln>
            <a:noFill/>
          </a:ln>
        </p:spPr>
        <p:txBody>
          <a:bodyPr anchorCtr="0" anchor="t" bIns="45700" lIns="91425" spcFirstLastPara="1" rIns="91425" wrap="square" tIns="45700">
            <a:normAutofit/>
          </a:bodyPr>
          <a:lstStyle/>
          <a:p>
            <a:pPr indent="0" lvl="0" marL="0" rtl="0" algn="l">
              <a:lnSpc>
                <a:spcPct val="130000"/>
              </a:lnSpc>
              <a:spcBef>
                <a:spcPts val="0"/>
              </a:spcBef>
              <a:spcAft>
                <a:spcPts val="0"/>
              </a:spcAft>
              <a:buClr>
                <a:srgbClr val="9AA3B5"/>
              </a:buClr>
              <a:buSzPts val="1800"/>
              <a:buNone/>
            </a:pPr>
            <a:r>
              <a:rPr b="0" i="1" lang="en-US" sz="1800">
                <a:solidFill>
                  <a:srgbClr val="9AA3B5"/>
                </a:solidFill>
                <a:latin typeface="Calibri"/>
                <a:ea typeface="Calibri"/>
                <a:cs typeface="Calibri"/>
                <a:sym typeface="Calibri"/>
              </a:rPr>
              <a:t>PLACEHOLDER — dynamic form, filter &amp; partial update, one combined demo built/walked through live in the browser.</a:t>
            </a:r>
            <a:endParaRPr/>
          </a:p>
        </p:txBody>
      </p:sp>
      <p:sp>
        <p:nvSpPr>
          <p:cNvPr id="316" name="Google Shape;316;p36"/>
          <p:cNvSpPr txBox="1"/>
          <p:nvPr/>
        </p:nvSpPr>
        <p:spPr>
          <a:xfrm>
            <a:off x="7589520" y="4297680"/>
            <a:ext cx="3931920" cy="210312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i="0" lang="en-US" sz="17000">
                <a:solidFill>
                  <a:srgbClr val="FBDAD3"/>
                </a:solidFill>
                <a:latin typeface="Courier New"/>
                <a:ea typeface="Courier New"/>
                <a:cs typeface="Courier New"/>
                <a:sym typeface="Courier New"/>
              </a:rPr>
              <a:t>05</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7"/>
          <p:cNvSpPr txBox="1"/>
          <p:nvPr/>
        </p:nvSpPr>
        <p:spPr>
          <a:xfrm>
            <a:off x="7589520" y="4297680"/>
            <a:ext cx="3931920" cy="210312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i="0" lang="en-US" sz="17000">
                <a:solidFill>
                  <a:srgbClr val="DDE3EF"/>
                </a:solidFill>
                <a:latin typeface="Courier New"/>
                <a:ea typeface="Courier New"/>
                <a:cs typeface="Courier New"/>
                <a:sym typeface="Courier New"/>
              </a:rPr>
              <a:t>06</a:t>
            </a:r>
            <a:endParaRPr/>
          </a:p>
        </p:txBody>
      </p:sp>
      <p:sp>
        <p:nvSpPr>
          <p:cNvPr id="323" name="Google Shape;323;p37"/>
          <p:cNvSpPr txBox="1"/>
          <p:nvPr>
            <p:ph type="title"/>
          </p:nvPr>
        </p:nvSpPr>
        <p:spPr>
          <a:xfrm>
            <a:off x="799925" y="1847575"/>
            <a:ext cx="10922700" cy="1086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3325D"/>
              </a:buClr>
              <a:buSzPts val="3600"/>
              <a:buFont typeface="Calibri"/>
              <a:buNone/>
            </a:pPr>
            <a:r>
              <a:rPr lang="en-US" sz="3600"/>
              <a:t>Ajax API vs HTMX, Compared Honestly</a:t>
            </a:r>
            <a:endParaRPr/>
          </a:p>
          <a:p>
            <a:pPr indent="0" lvl="0" marL="0" rtl="0" algn="l">
              <a:lnSpc>
                <a:spcPct val="90000"/>
              </a:lnSpc>
              <a:spcBef>
                <a:spcPts val="0"/>
              </a:spcBef>
              <a:spcAft>
                <a:spcPts val="0"/>
              </a:spcAft>
              <a:buClr>
                <a:srgbClr val="23325D"/>
              </a:buClr>
              <a:buSzPts val="3600"/>
              <a:buFont typeface="Calibri"/>
              <a:buNone/>
            </a:pPr>
            <a:r>
              <a:t/>
            </a:r>
            <a:endParaRPr sz="36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8"/>
          <p:cNvSpPr txBox="1"/>
          <p:nvPr/>
        </p:nvSpPr>
        <p:spPr>
          <a:xfrm>
            <a:off x="640080" y="320040"/>
            <a:ext cx="7315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a:solidFill>
                  <a:srgbClr val="0D6DAC"/>
                </a:solidFill>
                <a:latin typeface="Calibri"/>
                <a:ea typeface="Calibri"/>
                <a:cs typeface="Calibri"/>
                <a:sym typeface="Calibri"/>
              </a:rPr>
              <a:t>DX &amp; PERFORMANCE</a:t>
            </a:r>
            <a:endParaRPr/>
          </a:p>
        </p:txBody>
      </p:sp>
      <p:sp>
        <p:nvSpPr>
          <p:cNvPr id="330" name="Google Shape;330;p38"/>
          <p:cNvSpPr txBox="1"/>
          <p:nvPr/>
        </p:nvSpPr>
        <p:spPr>
          <a:xfrm>
            <a:off x="640080" y="1463043"/>
            <a:ext cx="36576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5B6378"/>
                </a:solidFill>
                <a:latin typeface="Calibri"/>
                <a:ea typeface="Calibri"/>
                <a:cs typeface="Calibri"/>
                <a:sym typeface="Calibri"/>
              </a:rPr>
              <a:t>DX</a:t>
            </a:r>
            <a:endParaRPr b="1"/>
          </a:p>
        </p:txBody>
      </p:sp>
      <p:sp>
        <p:nvSpPr>
          <p:cNvPr id="331" name="Google Shape;331;p38"/>
          <p:cNvSpPr/>
          <p:nvPr/>
        </p:nvSpPr>
        <p:spPr>
          <a:xfrm>
            <a:off x="640080" y="1874522"/>
            <a:ext cx="5317200" cy="1371600"/>
          </a:xfrm>
          <a:prstGeom prst="roundRect">
            <a:avLst>
              <a:gd fmla="val 6000" name="adj"/>
            </a:avLst>
          </a:prstGeom>
          <a:solidFill>
            <a:srgbClr val="EAF6FC"/>
          </a:solidFill>
          <a:ln>
            <a:noFill/>
          </a:ln>
        </p:spPr>
        <p:txBody>
          <a:bodyPr anchorCtr="0" anchor="ctr" bIns="146300" lIns="201150" spcFirstLastPara="1" rIns="201150" wrap="square" tIns="146300">
            <a:noAutofit/>
          </a:bodyPr>
          <a:lstStyle/>
          <a:p>
            <a:pPr indent="0" lvl="0" marL="0" marR="0" rtl="0" algn="l">
              <a:spcBef>
                <a:spcPts val="0"/>
              </a:spcBef>
              <a:spcAft>
                <a:spcPts val="0"/>
              </a:spcAft>
              <a:buNone/>
            </a:pPr>
            <a:r>
              <a:rPr b="1" i="0" lang="en-US" sz="1300">
                <a:solidFill>
                  <a:srgbClr val="0D6DAC"/>
                </a:solidFill>
                <a:latin typeface="Courier New"/>
                <a:ea typeface="Courier New"/>
                <a:cs typeface="Courier New"/>
                <a:sym typeface="Courier New"/>
              </a:rPr>
              <a:t>AJAX API</a:t>
            </a:r>
            <a:endParaRPr/>
          </a:p>
          <a:p>
            <a:pPr indent="0" lvl="0" marL="0" marR="0" rtl="0" algn="l">
              <a:lnSpc>
                <a:spcPct val="115000"/>
              </a:lnSpc>
              <a:spcBef>
                <a:spcPts val="0"/>
              </a:spcBef>
              <a:spcAft>
                <a:spcPts val="0"/>
              </a:spcAft>
              <a:buNone/>
            </a:pPr>
            <a:r>
              <a:rPr b="0" i="0" lang="en-US" sz="1300">
                <a:solidFill>
                  <a:srgbClr val="5B6378"/>
                </a:solidFill>
                <a:latin typeface="Calibri"/>
                <a:ea typeface="Calibri"/>
                <a:cs typeface="Calibri"/>
                <a:sym typeface="Calibri"/>
              </a:rPr>
              <a:t>More ceremony - but the most proven path for complex multi-step forms and wizards.</a:t>
            </a:r>
            <a:endParaRPr/>
          </a:p>
        </p:txBody>
      </p:sp>
      <p:sp>
        <p:nvSpPr>
          <p:cNvPr id="332" name="Google Shape;332;p38"/>
          <p:cNvSpPr/>
          <p:nvPr/>
        </p:nvSpPr>
        <p:spPr>
          <a:xfrm>
            <a:off x="6231636" y="1874522"/>
            <a:ext cx="5317200" cy="1371600"/>
          </a:xfrm>
          <a:prstGeom prst="roundRect">
            <a:avLst>
              <a:gd fmla="val 6000" name="adj"/>
            </a:avLst>
          </a:prstGeom>
          <a:solidFill>
            <a:srgbClr val="FBE4DF"/>
          </a:solidFill>
          <a:ln>
            <a:noFill/>
          </a:ln>
        </p:spPr>
        <p:txBody>
          <a:bodyPr anchorCtr="0" anchor="ctr" bIns="146300" lIns="201150" spcFirstLastPara="1" rIns="201150" wrap="square" tIns="146300">
            <a:noAutofit/>
          </a:bodyPr>
          <a:lstStyle/>
          <a:p>
            <a:pPr indent="0" lvl="0" marL="0" marR="0" rtl="0" algn="l">
              <a:spcBef>
                <a:spcPts val="0"/>
              </a:spcBef>
              <a:spcAft>
                <a:spcPts val="0"/>
              </a:spcAft>
              <a:buNone/>
            </a:pPr>
            <a:r>
              <a:rPr b="1" i="0" lang="en-US" sz="1300">
                <a:solidFill>
                  <a:srgbClr val="F26351"/>
                </a:solidFill>
                <a:latin typeface="Courier New"/>
                <a:ea typeface="Courier New"/>
                <a:cs typeface="Courier New"/>
                <a:sym typeface="Courier New"/>
              </a:rPr>
              <a:t>HTMX</a:t>
            </a:r>
            <a:endParaRPr/>
          </a:p>
          <a:p>
            <a:pPr indent="0" lvl="0" marL="0" marR="0" rtl="0" algn="l">
              <a:lnSpc>
                <a:spcPct val="115000"/>
              </a:lnSpc>
              <a:spcBef>
                <a:spcPts val="0"/>
              </a:spcBef>
              <a:spcAft>
                <a:spcPts val="0"/>
              </a:spcAft>
              <a:buNone/>
            </a:pPr>
            <a:r>
              <a:rPr b="0" i="0" lang="en-US" sz="1300">
                <a:solidFill>
                  <a:srgbClr val="5B6378"/>
                </a:solidFill>
                <a:latin typeface="Calibri"/>
                <a:ea typeface="Calibri"/>
                <a:cs typeface="Calibri"/>
                <a:sym typeface="Calibri"/>
              </a:rPr>
              <a:t>Far less ceremony. 11.3 rebuilds forms from HTMX requests, but complex multi-step flows are less proven.</a:t>
            </a:r>
            <a:endParaRPr/>
          </a:p>
        </p:txBody>
      </p:sp>
      <p:sp>
        <p:nvSpPr>
          <p:cNvPr id="333" name="Google Shape;333;p38"/>
          <p:cNvSpPr txBox="1"/>
          <p:nvPr/>
        </p:nvSpPr>
        <p:spPr>
          <a:xfrm>
            <a:off x="640080" y="3611882"/>
            <a:ext cx="36576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5B6378"/>
                </a:solidFill>
                <a:latin typeface="Calibri"/>
                <a:ea typeface="Calibri"/>
                <a:cs typeface="Calibri"/>
                <a:sym typeface="Calibri"/>
              </a:rPr>
              <a:t>PERFORMANCE</a:t>
            </a:r>
            <a:endParaRPr b="1"/>
          </a:p>
        </p:txBody>
      </p:sp>
      <p:sp>
        <p:nvSpPr>
          <p:cNvPr id="334" name="Google Shape;334;p38"/>
          <p:cNvSpPr/>
          <p:nvPr/>
        </p:nvSpPr>
        <p:spPr>
          <a:xfrm>
            <a:off x="640080" y="4023363"/>
            <a:ext cx="5317200" cy="1371600"/>
          </a:xfrm>
          <a:prstGeom prst="roundRect">
            <a:avLst>
              <a:gd fmla="val 6000" name="adj"/>
            </a:avLst>
          </a:prstGeom>
          <a:solidFill>
            <a:srgbClr val="EAF6FC"/>
          </a:solidFill>
          <a:ln>
            <a:noFill/>
          </a:ln>
        </p:spPr>
        <p:txBody>
          <a:bodyPr anchorCtr="0" anchor="ctr" bIns="146300" lIns="201150" spcFirstLastPara="1" rIns="201150" wrap="square" tIns="146300">
            <a:noAutofit/>
          </a:bodyPr>
          <a:lstStyle/>
          <a:p>
            <a:pPr indent="0" lvl="0" marL="0" marR="0" rtl="0" algn="l">
              <a:spcBef>
                <a:spcPts val="0"/>
              </a:spcBef>
              <a:spcAft>
                <a:spcPts val="0"/>
              </a:spcAft>
              <a:buNone/>
            </a:pPr>
            <a:r>
              <a:rPr b="1" i="0" lang="en-US" sz="1300">
                <a:solidFill>
                  <a:srgbClr val="0D6DAC"/>
                </a:solidFill>
                <a:latin typeface="Courier New"/>
                <a:ea typeface="Courier New"/>
                <a:cs typeface="Courier New"/>
                <a:sym typeface="Courier New"/>
              </a:rPr>
              <a:t>AJAX API</a:t>
            </a:r>
            <a:endParaRPr/>
          </a:p>
          <a:p>
            <a:pPr indent="0" lvl="0" marL="0" marR="0" rtl="0" algn="l">
              <a:lnSpc>
                <a:spcPct val="115000"/>
              </a:lnSpc>
              <a:spcBef>
                <a:spcPts val="0"/>
              </a:spcBef>
              <a:spcAft>
                <a:spcPts val="0"/>
              </a:spcAft>
              <a:buNone/>
            </a:pPr>
            <a:r>
              <a:rPr b="0" i="0" lang="en-US" sz="1300">
                <a:solidFill>
                  <a:srgbClr val="5B6378"/>
                </a:solidFill>
                <a:latin typeface="Calibri"/>
                <a:ea typeface="Calibri"/>
                <a:cs typeface="Calibri"/>
                <a:sym typeface="Calibri"/>
              </a:rPr>
              <a:t>JSON command stack, run command by command in the browser.</a:t>
            </a:r>
            <a:endParaRPr/>
          </a:p>
        </p:txBody>
      </p:sp>
      <p:sp>
        <p:nvSpPr>
          <p:cNvPr id="335" name="Google Shape;335;p38"/>
          <p:cNvSpPr/>
          <p:nvPr/>
        </p:nvSpPr>
        <p:spPr>
          <a:xfrm>
            <a:off x="6231636" y="4023363"/>
            <a:ext cx="5317200" cy="1371600"/>
          </a:xfrm>
          <a:prstGeom prst="roundRect">
            <a:avLst>
              <a:gd fmla="val 6000" name="adj"/>
            </a:avLst>
          </a:prstGeom>
          <a:solidFill>
            <a:srgbClr val="FBE4DF"/>
          </a:solidFill>
          <a:ln>
            <a:noFill/>
          </a:ln>
        </p:spPr>
        <p:txBody>
          <a:bodyPr anchorCtr="0" anchor="ctr" bIns="146300" lIns="201150" spcFirstLastPara="1" rIns="201150" wrap="square" tIns="146300">
            <a:noAutofit/>
          </a:bodyPr>
          <a:lstStyle/>
          <a:p>
            <a:pPr indent="0" lvl="0" marL="0" marR="0" rtl="0" algn="l">
              <a:spcBef>
                <a:spcPts val="0"/>
              </a:spcBef>
              <a:spcAft>
                <a:spcPts val="0"/>
              </a:spcAft>
              <a:buNone/>
            </a:pPr>
            <a:r>
              <a:rPr b="1" i="0" lang="en-US" sz="1300">
                <a:solidFill>
                  <a:srgbClr val="F26351"/>
                </a:solidFill>
                <a:latin typeface="Courier New"/>
                <a:ea typeface="Courier New"/>
                <a:cs typeface="Courier New"/>
                <a:sym typeface="Courier New"/>
              </a:rPr>
              <a:t>HTMX</a:t>
            </a:r>
            <a:endParaRPr/>
          </a:p>
          <a:p>
            <a:pPr indent="0" lvl="0" marL="0" marR="0" rtl="0" algn="l">
              <a:lnSpc>
                <a:spcPct val="115000"/>
              </a:lnSpc>
              <a:spcBef>
                <a:spcPts val="0"/>
              </a:spcBef>
              <a:spcAft>
                <a:spcPts val="0"/>
              </a:spcAft>
              <a:buNone/>
            </a:pPr>
            <a:r>
              <a:rPr b="0" i="0" lang="en-US" sz="1300">
                <a:solidFill>
                  <a:srgbClr val="5B6378"/>
                </a:solidFill>
                <a:latin typeface="Calibri"/>
                <a:ea typeface="Calibri"/>
                <a:cs typeface="Calibri"/>
                <a:sym typeface="Calibri"/>
              </a:rPr>
              <a:t>~16kb library; the response is the HTML itself. Up to 71% less JS loaded, per drupal.org.</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9"/>
          <p:cNvSpPr txBox="1"/>
          <p:nvPr/>
        </p:nvSpPr>
        <p:spPr>
          <a:xfrm>
            <a:off x="640080" y="320040"/>
            <a:ext cx="7315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a:solidFill>
                  <a:srgbClr val="0D6DAC"/>
                </a:solidFill>
                <a:latin typeface="Calibri"/>
                <a:ea typeface="Calibri"/>
                <a:cs typeface="Calibri"/>
                <a:sym typeface="Calibri"/>
              </a:rPr>
              <a:t>DEBUGGING &amp; PROGRESSIVE ENHANCEMENT</a:t>
            </a:r>
            <a:endParaRPr/>
          </a:p>
        </p:txBody>
      </p:sp>
      <p:sp>
        <p:nvSpPr>
          <p:cNvPr id="342" name="Google Shape;342;p39"/>
          <p:cNvSpPr txBox="1"/>
          <p:nvPr/>
        </p:nvSpPr>
        <p:spPr>
          <a:xfrm>
            <a:off x="640080" y="1563280"/>
            <a:ext cx="36576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5B6378"/>
                </a:solidFill>
                <a:latin typeface="Calibri"/>
                <a:ea typeface="Calibri"/>
                <a:cs typeface="Calibri"/>
                <a:sym typeface="Calibri"/>
              </a:rPr>
              <a:t>DEBUGGING</a:t>
            </a:r>
            <a:endParaRPr b="1"/>
          </a:p>
        </p:txBody>
      </p:sp>
      <p:sp>
        <p:nvSpPr>
          <p:cNvPr id="343" name="Google Shape;343;p39"/>
          <p:cNvSpPr/>
          <p:nvPr/>
        </p:nvSpPr>
        <p:spPr>
          <a:xfrm>
            <a:off x="640080" y="1974760"/>
            <a:ext cx="5317200" cy="1371600"/>
          </a:xfrm>
          <a:prstGeom prst="roundRect">
            <a:avLst>
              <a:gd fmla="val 6000" name="adj"/>
            </a:avLst>
          </a:prstGeom>
          <a:solidFill>
            <a:srgbClr val="EAF6FC"/>
          </a:solidFill>
          <a:ln>
            <a:noFill/>
          </a:ln>
        </p:spPr>
        <p:txBody>
          <a:bodyPr anchorCtr="0" anchor="ctr" bIns="146300" lIns="201150" spcFirstLastPara="1" rIns="201150" wrap="square" tIns="146300">
            <a:noAutofit/>
          </a:bodyPr>
          <a:lstStyle/>
          <a:p>
            <a:pPr indent="0" lvl="0" marL="0" marR="0" rtl="0" algn="l">
              <a:spcBef>
                <a:spcPts val="0"/>
              </a:spcBef>
              <a:spcAft>
                <a:spcPts val="0"/>
              </a:spcAft>
              <a:buNone/>
            </a:pPr>
            <a:r>
              <a:rPr b="1" i="0" lang="en-US" sz="1300">
                <a:solidFill>
                  <a:srgbClr val="0D6DAC"/>
                </a:solidFill>
                <a:latin typeface="Courier New"/>
                <a:ea typeface="Courier New"/>
                <a:cs typeface="Courier New"/>
                <a:sym typeface="Courier New"/>
              </a:rPr>
              <a:t>AJAX API</a:t>
            </a:r>
            <a:endParaRPr/>
          </a:p>
          <a:p>
            <a:pPr indent="0" lvl="0" marL="0" marR="0" rtl="0" algn="l">
              <a:lnSpc>
                <a:spcPct val="115000"/>
              </a:lnSpc>
              <a:spcBef>
                <a:spcPts val="0"/>
              </a:spcBef>
              <a:spcAft>
                <a:spcPts val="0"/>
              </a:spcAft>
              <a:buNone/>
            </a:pPr>
            <a:r>
              <a:rPr b="0" i="0" lang="en-US" sz="1300">
                <a:solidFill>
                  <a:srgbClr val="5B6378"/>
                </a:solidFill>
                <a:latin typeface="Calibri"/>
                <a:ea typeface="Calibri"/>
                <a:cs typeface="Calibri"/>
                <a:sym typeface="Calibri"/>
              </a:rPr>
              <a:t>Network tab shows an opaque command stack. Wrapper-ID typos fail silently.</a:t>
            </a:r>
            <a:endParaRPr/>
          </a:p>
        </p:txBody>
      </p:sp>
      <p:sp>
        <p:nvSpPr>
          <p:cNvPr id="344" name="Google Shape;344;p39"/>
          <p:cNvSpPr/>
          <p:nvPr/>
        </p:nvSpPr>
        <p:spPr>
          <a:xfrm>
            <a:off x="6231636" y="1974760"/>
            <a:ext cx="5317200" cy="1371600"/>
          </a:xfrm>
          <a:prstGeom prst="roundRect">
            <a:avLst>
              <a:gd fmla="val 6000" name="adj"/>
            </a:avLst>
          </a:prstGeom>
          <a:solidFill>
            <a:srgbClr val="FBE4DF"/>
          </a:solidFill>
          <a:ln>
            <a:noFill/>
          </a:ln>
        </p:spPr>
        <p:txBody>
          <a:bodyPr anchorCtr="0" anchor="ctr" bIns="146300" lIns="201150" spcFirstLastPara="1" rIns="201150" wrap="square" tIns="146300">
            <a:noAutofit/>
          </a:bodyPr>
          <a:lstStyle/>
          <a:p>
            <a:pPr indent="0" lvl="0" marL="0" marR="0" rtl="0" algn="l">
              <a:spcBef>
                <a:spcPts val="0"/>
              </a:spcBef>
              <a:spcAft>
                <a:spcPts val="0"/>
              </a:spcAft>
              <a:buNone/>
            </a:pPr>
            <a:r>
              <a:rPr b="1" i="0" lang="en-US" sz="1300">
                <a:solidFill>
                  <a:srgbClr val="F26351"/>
                </a:solidFill>
                <a:latin typeface="Courier New"/>
                <a:ea typeface="Courier New"/>
                <a:cs typeface="Courier New"/>
                <a:sym typeface="Courier New"/>
              </a:rPr>
              <a:t>HTMX</a:t>
            </a:r>
            <a:endParaRPr/>
          </a:p>
          <a:p>
            <a:pPr indent="0" lvl="0" marL="0" marR="0" rtl="0" algn="l">
              <a:lnSpc>
                <a:spcPct val="115000"/>
              </a:lnSpc>
              <a:spcBef>
                <a:spcPts val="0"/>
              </a:spcBef>
              <a:spcAft>
                <a:spcPts val="0"/>
              </a:spcAft>
              <a:buNone/>
            </a:pPr>
            <a:r>
              <a:rPr b="0" i="0" lang="en-US" sz="1300">
                <a:solidFill>
                  <a:srgbClr val="5B6378"/>
                </a:solidFill>
                <a:latin typeface="Calibri"/>
                <a:ea typeface="Calibri"/>
                <a:cs typeface="Calibri"/>
                <a:sym typeface="Calibri"/>
              </a:rPr>
              <a:t>Network tab shows the literal HTML that got inserted. What you see is what you got.</a:t>
            </a:r>
            <a:endParaRPr/>
          </a:p>
        </p:txBody>
      </p:sp>
      <p:sp>
        <p:nvSpPr>
          <p:cNvPr id="345" name="Google Shape;345;p39"/>
          <p:cNvSpPr txBox="1"/>
          <p:nvPr/>
        </p:nvSpPr>
        <p:spPr>
          <a:xfrm>
            <a:off x="640080" y="3757839"/>
            <a:ext cx="54864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5B6378"/>
                </a:solidFill>
                <a:latin typeface="Calibri"/>
                <a:ea typeface="Calibri"/>
                <a:cs typeface="Calibri"/>
                <a:sym typeface="Calibri"/>
              </a:rPr>
              <a:t>PROGRESSIVE ENHANCEMENT</a:t>
            </a:r>
            <a:endParaRPr b="1"/>
          </a:p>
        </p:txBody>
      </p:sp>
      <p:sp>
        <p:nvSpPr>
          <p:cNvPr id="346" name="Google Shape;346;p39"/>
          <p:cNvSpPr txBox="1"/>
          <p:nvPr/>
        </p:nvSpPr>
        <p:spPr>
          <a:xfrm>
            <a:off x="640080" y="4123600"/>
            <a:ext cx="10908900" cy="5664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600">
                <a:solidFill>
                  <a:srgbClr val="5B6378"/>
                </a:solidFill>
                <a:latin typeface="Calibri"/>
                <a:ea typeface="Calibri"/>
                <a:cs typeface="Calibri"/>
                <a:sym typeface="Calibri"/>
              </a:rPr>
              <a:t>Both layer JS onto a real form/link element the same way. Honestly? Close to a wash — neither gets tested with JS off in most real projects.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0"/>
          <p:cNvSpPr txBox="1"/>
          <p:nvPr>
            <p:ph type="title"/>
          </p:nvPr>
        </p:nvSpPr>
        <p:spPr>
          <a:xfrm>
            <a:off x="603650" y="726275"/>
            <a:ext cx="10750200" cy="738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3325D"/>
              </a:buClr>
              <a:buSzPts val="3200"/>
              <a:buFont typeface="Calibri"/>
              <a:buNone/>
            </a:pPr>
            <a:r>
              <a:rPr lang="en-US" sz="3000">
                <a:solidFill>
                  <a:srgbClr val="23325D"/>
                </a:solidFill>
              </a:rPr>
              <a:t>The verdict, side by side</a:t>
            </a:r>
            <a:endParaRPr sz="4200"/>
          </a:p>
        </p:txBody>
      </p:sp>
      <p:graphicFrame>
        <p:nvGraphicFramePr>
          <p:cNvPr id="353" name="Google Shape;353;p40"/>
          <p:cNvGraphicFramePr/>
          <p:nvPr/>
        </p:nvGraphicFramePr>
        <p:xfrm>
          <a:off x="640080" y="1920240"/>
          <a:ext cx="3000000" cy="3000000"/>
        </p:xfrm>
        <a:graphic>
          <a:graphicData uri="http://schemas.openxmlformats.org/drawingml/2006/table">
            <a:tbl>
              <a:tblPr bandRow="1" firstRow="1">
                <a:noFill/>
                <a:tableStyleId>{82BA0FA9-774D-4D84-A5C6-C2667BA39461}</a:tableStyleId>
              </a:tblPr>
              <a:tblGrid>
                <a:gridCol w="2790625"/>
                <a:gridCol w="4059075"/>
                <a:gridCol w="4059075"/>
              </a:tblGrid>
              <a:tr h="502925">
                <a:tc>
                  <a:txBody>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txBody>
                  <a:tcPr marT="45725" marB="45725" marR="91450" marL="91450" anchor="ctr">
                    <a:solidFill>
                      <a:srgbClr val="23325D"/>
                    </a:solidFill>
                  </a:tcPr>
                </a:tc>
                <a:tc>
                  <a:txBody>
                    <a:bodyPr/>
                    <a:lstStyle/>
                    <a:p>
                      <a:pPr indent="0" lvl="0" marL="0" marR="0" rtl="0" algn="l">
                        <a:spcBef>
                          <a:spcPts val="0"/>
                        </a:spcBef>
                        <a:spcAft>
                          <a:spcPts val="0"/>
                        </a:spcAft>
                        <a:buNone/>
                      </a:pPr>
                      <a:r>
                        <a:rPr b="1" i="0" lang="en-US" sz="1400">
                          <a:solidFill>
                            <a:srgbClr val="FFFFFF"/>
                          </a:solidFill>
                          <a:latin typeface="Calibri"/>
                          <a:ea typeface="Calibri"/>
                          <a:cs typeface="Calibri"/>
                          <a:sym typeface="Calibri"/>
                        </a:rPr>
                        <a:t>Ajax API</a:t>
                      </a:r>
                      <a:endParaRPr/>
                    </a:p>
                  </a:txBody>
                  <a:tcPr marT="45725" marB="45725" marR="91450" marL="91450" anchor="ctr">
                    <a:solidFill>
                      <a:srgbClr val="23325D"/>
                    </a:solidFill>
                  </a:tcPr>
                </a:tc>
                <a:tc>
                  <a:txBody>
                    <a:bodyPr/>
                    <a:lstStyle/>
                    <a:p>
                      <a:pPr indent="0" lvl="0" marL="0" marR="0" rtl="0" algn="l">
                        <a:spcBef>
                          <a:spcPts val="0"/>
                        </a:spcBef>
                        <a:spcAft>
                          <a:spcPts val="0"/>
                        </a:spcAft>
                        <a:buNone/>
                      </a:pPr>
                      <a:r>
                        <a:rPr b="1" i="0" lang="en-US" sz="1400">
                          <a:solidFill>
                            <a:srgbClr val="FFFFFF"/>
                          </a:solidFill>
                          <a:latin typeface="Calibri"/>
                          <a:ea typeface="Calibri"/>
                          <a:cs typeface="Calibri"/>
                          <a:sym typeface="Calibri"/>
                        </a:rPr>
                        <a:t>HTMX</a:t>
                      </a:r>
                      <a:endParaRPr/>
                    </a:p>
                  </a:txBody>
                  <a:tcPr marT="45725" marB="45725" marR="91450" marL="91450" anchor="ctr">
                    <a:solidFill>
                      <a:srgbClr val="23325D"/>
                    </a:solidFill>
                  </a:tcPr>
                </a:tc>
              </a:tr>
              <a:tr h="502925">
                <a:tc>
                  <a:txBody>
                    <a:bodyPr/>
                    <a:lstStyle/>
                    <a:p>
                      <a:pPr indent="0" lvl="0" marL="0" marR="0" rtl="0" algn="l">
                        <a:spcBef>
                          <a:spcPts val="0"/>
                        </a:spcBef>
                        <a:spcAft>
                          <a:spcPts val="0"/>
                        </a:spcAft>
                        <a:buNone/>
                      </a:pPr>
                      <a:r>
                        <a:rPr b="1" i="0" lang="en-US" sz="1350">
                          <a:solidFill>
                            <a:srgbClr val="F26351"/>
                          </a:solidFill>
                          <a:latin typeface="Calibri"/>
                          <a:ea typeface="Calibri"/>
                          <a:cs typeface="Calibri"/>
                          <a:sym typeface="Calibri"/>
                        </a:rPr>
                        <a:t>DX</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More ceremony, most proven for complex multi-step forms</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Less ceremony, multi-step patterns still maturing</a:t>
                      </a:r>
                      <a:endParaRPr/>
                    </a:p>
                  </a:txBody>
                  <a:tcPr marT="45725" marB="45725" marR="91450" marL="91450" anchor="ctr">
                    <a:solidFill>
                      <a:srgbClr val="FFFFFF"/>
                    </a:solidFill>
                  </a:tcPr>
                </a:tc>
              </a:tr>
              <a:tr h="502925">
                <a:tc>
                  <a:txBody>
                    <a:bodyPr/>
                    <a:lstStyle/>
                    <a:p>
                      <a:pPr indent="0" lvl="0" marL="0" marR="0" rtl="0" algn="l">
                        <a:spcBef>
                          <a:spcPts val="0"/>
                        </a:spcBef>
                        <a:spcAft>
                          <a:spcPts val="0"/>
                        </a:spcAft>
                        <a:buNone/>
                      </a:pPr>
                      <a:r>
                        <a:rPr b="1" i="0" lang="en-US" sz="1350">
                          <a:solidFill>
                            <a:srgbClr val="F26351"/>
                          </a:solidFill>
                          <a:latin typeface="Calibri"/>
                          <a:ea typeface="Calibri"/>
                          <a:cs typeface="Calibri"/>
                          <a:sym typeface="Calibri"/>
                        </a:rPr>
                        <a:t>Performance</a:t>
                      </a:r>
                      <a:endParaRPr/>
                    </a:p>
                  </a:txBody>
                  <a:tcPr marT="45725" marB="45725" marR="91450" marL="91450" anchor="ctr">
                    <a:solidFill>
                      <a:srgbClr val="EAF6FC"/>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JSON command stack, executed client-side</a:t>
                      </a:r>
                      <a:endParaRPr/>
                    </a:p>
                  </a:txBody>
                  <a:tcPr marT="45725" marB="45725" marR="91450" marL="91450" anchor="ctr">
                    <a:solidFill>
                      <a:srgbClr val="EAF6FC"/>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Small library, HTML response, up to 71% less JS</a:t>
                      </a:r>
                      <a:endParaRPr/>
                    </a:p>
                  </a:txBody>
                  <a:tcPr marT="45725" marB="45725" marR="91450" marL="91450" anchor="ctr">
                    <a:solidFill>
                      <a:srgbClr val="EAF6FC"/>
                    </a:solidFill>
                  </a:tcPr>
                </a:tc>
              </a:tr>
              <a:tr h="502925">
                <a:tc>
                  <a:txBody>
                    <a:bodyPr/>
                    <a:lstStyle/>
                    <a:p>
                      <a:pPr indent="0" lvl="0" marL="0" marR="0" rtl="0" algn="l">
                        <a:spcBef>
                          <a:spcPts val="0"/>
                        </a:spcBef>
                        <a:spcAft>
                          <a:spcPts val="0"/>
                        </a:spcAft>
                        <a:buNone/>
                      </a:pPr>
                      <a:r>
                        <a:rPr b="1" i="0" lang="en-US" sz="1350">
                          <a:solidFill>
                            <a:srgbClr val="F26351"/>
                          </a:solidFill>
                          <a:latin typeface="Calibri"/>
                          <a:ea typeface="Calibri"/>
                          <a:cs typeface="Calibri"/>
                          <a:sym typeface="Calibri"/>
                        </a:rPr>
                        <a:t>Debugging</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Opaque command stack, silent failures</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Transparent — see the actual HTML</a:t>
                      </a:r>
                      <a:endParaRPr/>
                    </a:p>
                  </a:txBody>
                  <a:tcPr marT="45725" marB="45725" marR="91450" marL="91450" anchor="ctr">
                    <a:solidFill>
                      <a:srgbClr val="FFFFFF"/>
                    </a:solidFill>
                  </a:tcPr>
                </a:tc>
              </a:tr>
              <a:tr h="502925">
                <a:tc>
                  <a:txBody>
                    <a:bodyPr/>
                    <a:lstStyle/>
                    <a:p>
                      <a:pPr indent="0" lvl="0" marL="0" marR="0" rtl="0" algn="l">
                        <a:spcBef>
                          <a:spcPts val="0"/>
                        </a:spcBef>
                        <a:spcAft>
                          <a:spcPts val="0"/>
                        </a:spcAft>
                        <a:buNone/>
                      </a:pPr>
                      <a:r>
                        <a:rPr b="0" i="1" lang="en-US" sz="1350">
                          <a:solidFill>
                            <a:srgbClr val="9AA3B5"/>
                          </a:solidFill>
                          <a:latin typeface="Calibri"/>
                          <a:ea typeface="Calibri"/>
                          <a:cs typeface="Calibri"/>
                          <a:sym typeface="Calibri"/>
                        </a:rPr>
                        <a:t>Progressive enhancement</a:t>
                      </a:r>
                      <a:endParaRPr/>
                    </a:p>
                  </a:txBody>
                  <a:tcPr marT="45725" marB="45725" marR="91450" marL="91450" anchor="ctr">
                    <a:solidFill>
                      <a:srgbClr val="EAF6FC"/>
                    </a:solidFill>
                  </a:tcPr>
                </a:tc>
                <a:tc gridSpan="2">
                  <a:txBody>
                    <a:bodyPr/>
                    <a:lstStyle/>
                    <a:p>
                      <a:pPr indent="0" lvl="0" marL="0" marR="0" rtl="0" algn="l">
                        <a:spcBef>
                          <a:spcPts val="0"/>
                        </a:spcBef>
                        <a:spcAft>
                          <a:spcPts val="0"/>
                        </a:spcAft>
                        <a:buNone/>
                      </a:pPr>
                      <a:r>
                        <a:rPr b="0" i="1" lang="en-US" sz="1350">
                          <a:solidFill>
                            <a:srgbClr val="9AA3B5"/>
                          </a:solidFill>
                          <a:latin typeface="Calibri"/>
                          <a:ea typeface="Calibri"/>
                          <a:cs typeface="Calibri"/>
                          <a:sym typeface="Calibri"/>
                        </a:rPr>
                        <a:t>Built on the same fallback pattern in both — rarely tested either way</a:t>
                      </a:r>
                      <a:endParaRPr/>
                    </a:p>
                  </a:txBody>
                  <a:tcPr marT="45725" marB="45725" marR="91450" marL="91450" anchor="ctr">
                    <a:solidFill>
                      <a:srgbClr val="EAF6FC"/>
                    </a:solidFill>
                  </a:tcPr>
                </a:tc>
                <a:tc hMerge="1"/>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1"/>
          <p:cNvSpPr txBox="1"/>
          <p:nvPr>
            <p:ph type="title"/>
          </p:nvPr>
        </p:nvSpPr>
        <p:spPr>
          <a:xfrm>
            <a:off x="553720" y="2575665"/>
            <a:ext cx="10760700" cy="1231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Calibri"/>
              <a:buNone/>
            </a:pPr>
            <a:r>
              <a:rPr b="1" i="0" lang="en-US" sz="3200">
                <a:solidFill>
                  <a:srgbClr val="FFFFFF"/>
                </a:solidFill>
                <a:latin typeface="Calibri"/>
                <a:ea typeface="Calibri"/>
                <a:cs typeface="Calibri"/>
                <a:sym typeface="Calibri"/>
              </a:rPr>
              <a:t>Pick the tool for the job, not the trend.</a:t>
            </a:r>
            <a:endParaRPr/>
          </a:p>
        </p:txBody>
      </p:sp>
      <p:sp>
        <p:nvSpPr>
          <p:cNvPr id="360" name="Google Shape;360;p41"/>
          <p:cNvSpPr txBox="1"/>
          <p:nvPr>
            <p:ph idx="1" type="body"/>
          </p:nvPr>
        </p:nvSpPr>
        <p:spPr>
          <a:xfrm>
            <a:off x="553715" y="3271975"/>
            <a:ext cx="10760700" cy="1371600"/>
          </a:xfrm>
          <a:prstGeom prst="rect">
            <a:avLst/>
          </a:prstGeom>
          <a:noFill/>
          <a:ln>
            <a:noFill/>
          </a:ln>
        </p:spPr>
        <p:txBody>
          <a:bodyPr anchorCtr="0" anchor="t" bIns="45700" lIns="91425" spcFirstLastPara="1" rIns="91425" wrap="square" tIns="45700">
            <a:normAutofit/>
          </a:bodyPr>
          <a:lstStyle/>
          <a:p>
            <a:pPr indent="0" lvl="0" marL="0" rtl="0" algn="l">
              <a:lnSpc>
                <a:spcPct val="125000"/>
              </a:lnSpc>
              <a:spcBef>
                <a:spcPts val="0"/>
              </a:spcBef>
              <a:spcAft>
                <a:spcPts val="0"/>
              </a:spcAft>
              <a:buClr>
                <a:srgbClr val="FFC427"/>
              </a:buClr>
              <a:buSzPts val="1800"/>
              <a:buNone/>
            </a:pPr>
            <a:r>
              <a:rPr b="0" i="0" lang="en-US" sz="1800">
                <a:solidFill>
                  <a:srgbClr val="FFC427"/>
                </a:solidFill>
                <a:latin typeface="Calibri"/>
                <a:ea typeface="Calibri"/>
                <a:cs typeface="Calibri"/>
                <a:sym typeface="Calibri"/>
              </a:rPr>
              <a:t>HTMX: where round trips are simple and the UI is a fragment. </a:t>
            </a:r>
            <a:endParaRPr b="0" i="0" sz="1800">
              <a:solidFill>
                <a:srgbClr val="FFC427"/>
              </a:solidFill>
              <a:latin typeface="Calibri"/>
              <a:ea typeface="Calibri"/>
              <a:cs typeface="Calibri"/>
              <a:sym typeface="Calibri"/>
            </a:endParaRPr>
          </a:p>
          <a:p>
            <a:pPr indent="0" lvl="0" marL="0" rtl="0" algn="l">
              <a:lnSpc>
                <a:spcPct val="125000"/>
              </a:lnSpc>
              <a:spcBef>
                <a:spcPts val="0"/>
              </a:spcBef>
              <a:spcAft>
                <a:spcPts val="0"/>
              </a:spcAft>
              <a:buClr>
                <a:srgbClr val="FFC427"/>
              </a:buClr>
              <a:buSzPts val="1800"/>
              <a:buNone/>
            </a:pPr>
            <a:r>
              <a:rPr b="0" i="0" lang="en-US" sz="1800">
                <a:solidFill>
                  <a:srgbClr val="FFC427"/>
                </a:solidFill>
                <a:latin typeface="Calibri"/>
                <a:ea typeface="Calibri"/>
                <a:cs typeface="Calibri"/>
                <a:sym typeface="Calibri"/>
              </a:rPr>
              <a:t>Ajax API</a:t>
            </a:r>
            <a:r>
              <a:rPr lang="en-US" sz="1800">
                <a:solidFill>
                  <a:srgbClr val="FFC427"/>
                </a:solidFill>
              </a:rPr>
              <a:t>: </a:t>
            </a:r>
            <a:r>
              <a:rPr b="0" i="0" lang="en-US" sz="1800">
                <a:solidFill>
                  <a:srgbClr val="FFC427"/>
                </a:solidFill>
                <a:latin typeface="Calibri"/>
                <a:ea typeface="Calibri"/>
                <a:cs typeface="Calibri"/>
                <a:sym typeface="Calibri"/>
              </a:rPr>
              <a:t>where it already works, and for complex multi-step flows, for now. This isn't a replace-everything story.</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7" name="Google Shape;367;p42"/>
          <p:cNvSpPr txBox="1"/>
          <p:nvPr/>
        </p:nvSpPr>
        <p:spPr>
          <a:xfrm>
            <a:off x="7589520" y="4297680"/>
            <a:ext cx="3931920" cy="210312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i="0" lang="en-US" sz="17000">
                <a:solidFill>
                  <a:srgbClr val="FBDAD3"/>
                </a:solidFill>
                <a:latin typeface="Courier New"/>
                <a:ea typeface="Courier New"/>
                <a:cs typeface="Courier New"/>
                <a:sym typeface="Courier New"/>
              </a:rPr>
              <a:t>07</a:t>
            </a:r>
            <a:endParaRPr/>
          </a:p>
        </p:txBody>
      </p:sp>
      <p:sp>
        <p:nvSpPr>
          <p:cNvPr id="368" name="Google Shape;368;p42"/>
          <p:cNvSpPr txBox="1"/>
          <p:nvPr>
            <p:ph type="title"/>
          </p:nvPr>
        </p:nvSpPr>
        <p:spPr>
          <a:xfrm>
            <a:off x="799925" y="1847575"/>
            <a:ext cx="10922700" cy="1086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3325D"/>
              </a:buClr>
              <a:buSzPts val="3600"/>
              <a:buFont typeface="Calibri"/>
              <a:buNone/>
            </a:pPr>
            <a:r>
              <a:rPr lang="en-US" sz="3600"/>
              <a:t>Incremental Adoption Strategy</a:t>
            </a:r>
            <a:endParaRPr sz="36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1"/>
          <p:cNvSpPr txBox="1"/>
          <p:nvPr>
            <p:ph type="title"/>
          </p:nvPr>
        </p:nvSpPr>
        <p:spPr>
          <a:xfrm>
            <a:off x="322580" y="2272665"/>
            <a:ext cx="11376660" cy="94805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t/>
            </a:r>
            <a:endParaRPr b="1">
              <a:solidFill>
                <a:schemeClr val="lt1"/>
              </a:solidFill>
            </a:endParaRPr>
          </a:p>
        </p:txBody>
      </p:sp>
      <p:sp>
        <p:nvSpPr>
          <p:cNvPr id="270" name="Google Shape;270;p31"/>
          <p:cNvSpPr txBox="1"/>
          <p:nvPr/>
        </p:nvSpPr>
        <p:spPr>
          <a:xfrm>
            <a:off x="640080" y="320040"/>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26351"/>
                </a:solidFill>
                <a:latin typeface="Calibri"/>
                <a:ea typeface="Calibri"/>
                <a:cs typeface="Calibri"/>
                <a:sym typeface="Calibri"/>
              </a:rPr>
              <a:t>— </a:t>
            </a:r>
            <a:r>
              <a:rPr b="1" i="0" lang="en-US" sz="1200">
                <a:solidFill>
                  <a:srgbClr val="F26351"/>
                </a:solidFill>
                <a:latin typeface="Calibri"/>
                <a:ea typeface="Calibri"/>
                <a:cs typeface="Calibri"/>
                <a:sym typeface="Calibri"/>
              </a:rPr>
              <a:t>NO REWRITE REQUIRED</a:t>
            </a:r>
            <a:endParaRPr/>
          </a:p>
        </p:txBody>
      </p:sp>
      <p:sp>
        <p:nvSpPr>
          <p:cNvPr id="271" name="Google Shape;271;p31"/>
          <p:cNvSpPr txBox="1"/>
          <p:nvPr/>
        </p:nvSpPr>
        <p:spPr>
          <a:xfrm>
            <a:off x="914400" y="2958740"/>
            <a:ext cx="10332600" cy="940500"/>
          </a:xfrm>
          <a:prstGeom prst="rect">
            <a:avLst/>
          </a:prstGeom>
          <a:noFill/>
          <a:ln>
            <a:noFill/>
          </a:ln>
        </p:spPr>
        <p:txBody>
          <a:bodyPr anchorCtr="0" anchor="ctr" bIns="0" lIns="0" spcFirstLastPara="1" rIns="0" wrap="square" tIns="0">
            <a:spAutoFit/>
          </a:bodyPr>
          <a:lstStyle/>
          <a:p>
            <a:pPr indent="0" lvl="0" marL="0" marR="0" rtl="0" algn="l">
              <a:lnSpc>
                <a:spcPct val="135000"/>
              </a:lnSpc>
              <a:spcBef>
                <a:spcPts val="0"/>
              </a:spcBef>
              <a:spcAft>
                <a:spcPts val="0"/>
              </a:spcAft>
              <a:buNone/>
            </a:pPr>
            <a:r>
              <a:rPr b="0" i="1" lang="en-US" sz="2600">
                <a:solidFill>
                  <a:srgbClr val="23325D"/>
                </a:solidFill>
                <a:latin typeface="Calibri"/>
                <a:ea typeface="Calibri"/>
                <a:cs typeface="Calibri"/>
                <a:sym typeface="Calibri"/>
              </a:rPr>
              <a:t>You don't rip out the Ajax API to start using HTMX. </a:t>
            </a:r>
            <a:r>
              <a:rPr b="1" i="1" lang="en-US" sz="2600">
                <a:solidFill>
                  <a:srgbClr val="23325D"/>
                </a:solidFill>
                <a:latin typeface="Calibri"/>
                <a:ea typeface="Calibri"/>
                <a:cs typeface="Calibri"/>
                <a:sym typeface="Calibri"/>
              </a:rPr>
              <a:t>They coexist on the same page - HTMX doesn't touch anything #ajax owns.</a:t>
            </a:r>
            <a:endParaRPr b="1"/>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2"/>
          <p:cNvSpPr txBox="1"/>
          <p:nvPr>
            <p:ph type="title"/>
          </p:nvPr>
        </p:nvSpPr>
        <p:spPr>
          <a:xfrm>
            <a:off x="525150" y="428675"/>
            <a:ext cx="10773600" cy="627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400"/>
              <a:buFont typeface="Calibri"/>
              <a:buNone/>
            </a:pPr>
            <a:r>
              <a:rPr lang="en-US" sz="3400">
                <a:solidFill>
                  <a:srgbClr val="23325D"/>
                </a:solidFill>
              </a:rPr>
              <a:t>Already in core</a:t>
            </a:r>
            <a:endParaRPr/>
          </a:p>
        </p:txBody>
      </p:sp>
      <p:sp>
        <p:nvSpPr>
          <p:cNvPr id="278" name="Google Shape;278;p32"/>
          <p:cNvSpPr txBox="1"/>
          <p:nvPr/>
        </p:nvSpPr>
        <p:spPr>
          <a:xfrm>
            <a:off x="640080" y="320040"/>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26351"/>
                </a:solidFill>
                <a:latin typeface="Calibri"/>
                <a:ea typeface="Calibri"/>
                <a:cs typeface="Calibri"/>
                <a:sym typeface="Calibri"/>
              </a:rPr>
              <a:t>— </a:t>
            </a:r>
            <a:r>
              <a:rPr b="1" i="0" lang="en-US" sz="1200">
                <a:solidFill>
                  <a:srgbClr val="F26351"/>
                </a:solidFill>
                <a:latin typeface="Calibri"/>
                <a:ea typeface="Calibri"/>
                <a:cs typeface="Calibri"/>
                <a:sym typeface="Calibri"/>
              </a:rPr>
              <a:t>HTMX SHIPS WITH DRUPAL 11.3+</a:t>
            </a:r>
            <a:endParaRPr/>
          </a:p>
        </p:txBody>
      </p:sp>
      <p:sp>
        <p:nvSpPr>
          <p:cNvPr id="279" name="Google Shape;279;p32"/>
          <p:cNvSpPr/>
          <p:nvPr/>
        </p:nvSpPr>
        <p:spPr>
          <a:xfrm>
            <a:off x="640080" y="1600200"/>
            <a:ext cx="10908900" cy="1188720"/>
          </a:xfrm>
          <a:prstGeom prst="roundRect">
            <a:avLst>
              <a:gd fmla="val 4000" name="adj"/>
            </a:avLst>
          </a:prstGeom>
          <a:solidFill>
            <a:srgbClr val="23325D"/>
          </a:solidFill>
          <a:ln>
            <a:noFill/>
          </a:ln>
        </p:spPr>
        <p:txBody>
          <a:bodyPr anchorCtr="0" anchor="ctr" bIns="228600" lIns="320025" spcFirstLastPara="1" rIns="274300" wrap="square" tIns="228600">
            <a:noAutofit/>
          </a:bodyPr>
          <a:lstStyle/>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r>
            <a:r>
              <a:rPr b="1" i="0" lang="en-US" sz="1250">
                <a:solidFill>
                  <a:srgbClr val="F26351"/>
                </a:solidFill>
                <a:latin typeface="Courier New"/>
                <a:ea typeface="Courier New"/>
                <a:cs typeface="Courier New"/>
                <a:sym typeface="Courier New"/>
              </a:rPr>
              <a:t>// Using the Htmx class? It attaches core/drupal.htmx for you.</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r>
            <a:r>
              <a:rPr b="1" i="0" lang="en-US" sz="1250">
                <a:solidFill>
                  <a:srgbClr val="F26351"/>
                </a:solidFill>
                <a:latin typeface="Courier New"/>
                <a:ea typeface="Courier New"/>
                <a:cs typeface="Courier New"/>
                <a:sym typeface="Courier New"/>
              </a:rPr>
              <a:t>// Hand-writing hx-* attributes in Twig? One line:</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$build['#attached']['library'][] = </a:t>
            </a:r>
            <a:r>
              <a:rPr b="1" i="0" lang="en-US" sz="1250">
                <a:solidFill>
                  <a:srgbClr val="F26351"/>
                </a:solidFill>
                <a:latin typeface="Courier New"/>
                <a:ea typeface="Courier New"/>
                <a:cs typeface="Courier New"/>
                <a:sym typeface="Courier New"/>
              </a:rPr>
              <a:t>'core/drupal.htmx';</a:t>
            </a:r>
            <a:endParaRPr/>
          </a:p>
        </p:txBody>
      </p:sp>
      <p:sp>
        <p:nvSpPr>
          <p:cNvPr id="280" name="Google Shape;280;p32"/>
          <p:cNvSpPr txBox="1"/>
          <p:nvPr/>
        </p:nvSpPr>
        <p:spPr>
          <a:xfrm>
            <a:off x="640080" y="3017520"/>
            <a:ext cx="109089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400">
                <a:solidFill>
                  <a:srgbClr val="5B6378"/>
                </a:solidFill>
                <a:latin typeface="Calibri"/>
                <a:ea typeface="Calibri"/>
                <a:cs typeface="Calibri"/>
                <a:sym typeface="Calibri"/>
              </a:rPr>
              <a:t>Drupal 11.3+ ships core/htmx and core/drupal.htmx. No library definition, no CDN, no build step.</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4"/>
          <p:cNvSpPr txBox="1"/>
          <p:nvPr/>
        </p:nvSpPr>
        <p:spPr>
          <a:xfrm>
            <a:off x="640080" y="320040"/>
            <a:ext cx="7315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F26351"/>
                </a:solidFill>
                <a:latin typeface="Calibri"/>
                <a:ea typeface="Calibri"/>
                <a:cs typeface="Calibri"/>
                <a:sym typeface="Calibri"/>
              </a:rPr>
              <a:t>PICK CANDIDATES, DON'T DO A SWEEP</a:t>
            </a:r>
            <a:endParaRPr/>
          </a:p>
        </p:txBody>
      </p:sp>
      <p:sp>
        <p:nvSpPr>
          <p:cNvPr id="297" name="Google Shape;297;p34"/>
          <p:cNvSpPr/>
          <p:nvPr/>
        </p:nvSpPr>
        <p:spPr>
          <a:xfrm>
            <a:off x="640080" y="1234440"/>
            <a:ext cx="5317200" cy="1417200"/>
          </a:xfrm>
          <a:prstGeom prst="roundRect">
            <a:avLst>
              <a:gd fmla="val 6000" name="adj"/>
            </a:avLst>
          </a:prstGeom>
          <a:solidFill>
            <a:srgbClr val="EAF6FC"/>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0D6DAC"/>
                </a:solidFill>
                <a:latin typeface="Courier New"/>
                <a:ea typeface="Courier New"/>
                <a:cs typeface="Courier New"/>
                <a:sym typeface="Courier New"/>
              </a:rPr>
              <a:t>LEAVE IT</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Existing Ajax API code that already works. No sweep, no module-wide rewrite.</a:t>
            </a:r>
            <a:endParaRPr/>
          </a:p>
        </p:txBody>
      </p:sp>
      <p:sp>
        <p:nvSpPr>
          <p:cNvPr id="298" name="Google Shape;298;p34"/>
          <p:cNvSpPr/>
          <p:nvPr/>
        </p:nvSpPr>
        <p:spPr>
          <a:xfrm>
            <a:off x="6231636" y="1234440"/>
            <a:ext cx="5317200" cy="141720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HTMX CANDIDATES</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New interactive spots, or the small annoying ones - a filter, a load-more pager, an autocomplete list.</a:t>
            </a:r>
            <a:endParaRPr/>
          </a:p>
        </p:txBody>
      </p:sp>
      <p:sp>
        <p:nvSpPr>
          <p:cNvPr id="299" name="Google Shape;299;p34"/>
          <p:cNvSpPr txBox="1"/>
          <p:nvPr/>
        </p:nvSpPr>
        <p:spPr>
          <a:xfrm>
            <a:off x="640080" y="320040"/>
            <a:ext cx="7315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
        <p:nvSpPr>
          <p:cNvPr id="2000" name="Shape 2000"/>
          <p:cNvSpPr/>
          <p:nvPr/>
        </p:nvSpPr>
        <p:spPr>
          <a:xfrm>
            <a:off x="640080" y="3063240"/>
            <a:ext cx="10908792" cy="685800"/>
          </a:xfrm>
          <a:prstGeom prst="roundRect">
            <a:avLst>
              <a:gd fmla="val 4000" name="adj"/>
            </a:avLst>
          </a:prstGeom>
          <a:solidFill>
            <a:srgbClr val="23325D"/>
          </a:solidFill>
          <a:ln>
            <a:noFill/>
          </a:ln>
        </p:spPr>
        <p:txBody>
          <a:bodyPr anchorCtr="0" anchor="ctr" bIns="228600" lIns="320025" spcFirstLastPara="1" rIns="274300" wrap="square" tIns="228600">
            <a:noAutofit/>
          </a:bodyPr>
          <a:lstStyle/>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&lt;nav </a:t>
            </a:r>
            <a:r>
              <a:rPr b="1" i="0" lang="en-US" sz="1250">
                <a:solidFill>
                  <a:srgbClr val="F26351"/>
                </a:solidFill>
                <a:latin typeface="Courier New"/>
                <a:ea typeface="Courier New"/>
                <a:cs typeface="Courier New"/>
                <a:sym typeface="Courier New"/>
              </a:rPr>
              <a:t>hx-boost="true"</a:t>
            </a:r>
            <a:r>
              <a:rPr b="0" i="0" lang="en-US" sz="1250">
                <a:solidFill>
                  <a:srgbClr val="D8E4F5"/>
                </a:solidFill>
                <a:latin typeface="Courier New"/>
                <a:ea typeface="Courier New"/>
                <a:cs typeface="Courier New"/>
                <a:sym typeface="Courier New"/>
              </a:rPr>
              <a:t>&gt;</a:t>
            </a:r>
            <a:endParaRPr/>
          </a:p>
        </p:txBody>
      </p:sp>
      <p:sp>
        <p:nvSpPr>
          <p:cNvPr id="2001" name="Shape 2001"/>
          <p:cNvSpPr txBox="1"/>
          <p:nvPr/>
        </p:nvSpPr>
        <p:spPr>
          <a:xfrm>
            <a:off x="640080" y="3886200"/>
            <a:ext cx="10908792" cy="45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400">
                <a:solidFill>
                  <a:srgbClr val="5B6378"/>
                </a:solidFill>
                <a:latin typeface="Calibri"/>
                <a:ea typeface="Calibri"/>
                <a:cs typeface="Calibri"/>
                <a:sym typeface="Calibri"/>
              </a:rPr>
              <a:t>A low-effort on-ramp: links and forms inside become HTMX requests. Start with one region - each boosted request still swaps the whole &lt;body&gt;, so test page-level JS like the toolbar.</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5"/>
          <p:cNvSpPr txBox="1"/>
          <p:nvPr/>
        </p:nvSpPr>
        <p:spPr>
          <a:xfrm>
            <a:off x="640080" y="320040"/>
            <a:ext cx="7315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F26351"/>
                </a:solidFill>
                <a:latin typeface="Calibri"/>
                <a:ea typeface="Calibri"/>
                <a:cs typeface="Calibri"/>
                <a:sym typeface="Calibri"/>
              </a:rPr>
              <a:t>THE RULE OF THUMB</a:t>
            </a:r>
            <a:endParaRPr/>
          </a:p>
        </p:txBody>
      </p:sp>
      <p:graphicFrame>
        <p:nvGraphicFramePr>
          <p:cNvPr id="306" name="Google Shape;306;p35"/>
          <p:cNvGraphicFramePr/>
          <p:nvPr/>
        </p:nvGraphicFramePr>
        <p:xfrm>
          <a:off x="640080" y="1920240"/>
          <a:ext cx="3000000" cy="3000000"/>
        </p:xfrm>
        <a:graphic>
          <a:graphicData uri="http://schemas.openxmlformats.org/drawingml/2006/table">
            <a:tbl>
              <a:tblPr bandRow="1" firstRow="1">
                <a:noFill/>
                <a:tableStyleId>{82BA0FA9-774D-4D84-A5C6-C2667BA39461}</a:tableStyleId>
              </a:tblPr>
              <a:tblGrid>
                <a:gridCol w="5454400"/>
                <a:gridCol w="5454400"/>
              </a:tblGrid>
              <a:tr h="502925">
                <a:tc>
                  <a:txBody>
                    <a:bodyPr/>
                    <a:lstStyle/>
                    <a:p>
                      <a:pPr indent="0" lvl="0" marL="0" marR="0" rtl="0" algn="l">
                        <a:spcBef>
                          <a:spcPts val="0"/>
                        </a:spcBef>
                        <a:spcAft>
                          <a:spcPts val="0"/>
                        </a:spcAft>
                        <a:buNone/>
                      </a:pPr>
                      <a:r>
                        <a:rPr b="1" i="0" lang="en-US" sz="1400" u="none" cap="none" strike="noStrike">
                          <a:solidFill>
                            <a:srgbClr val="FFFFFF"/>
                          </a:solidFill>
                          <a:latin typeface="Calibri"/>
                          <a:ea typeface="Calibri"/>
                          <a:cs typeface="Calibri"/>
                          <a:sym typeface="Calibri"/>
                        </a:rPr>
                        <a:t>Situation</a:t>
                      </a:r>
                      <a:endParaRPr/>
                    </a:p>
                  </a:txBody>
                  <a:tcPr marT="45725" marB="45725" marR="91450" marL="91450" anchor="ctr">
                    <a:solidFill>
                      <a:srgbClr val="23325D"/>
                    </a:solidFill>
                  </a:tcPr>
                </a:tc>
                <a:tc>
                  <a:txBody>
                    <a:bodyPr/>
                    <a:lstStyle/>
                    <a:p>
                      <a:pPr indent="0" lvl="0" marL="0" marR="0" rtl="0" algn="l">
                        <a:spcBef>
                          <a:spcPts val="0"/>
                        </a:spcBef>
                        <a:spcAft>
                          <a:spcPts val="0"/>
                        </a:spcAft>
                        <a:buNone/>
                      </a:pPr>
                      <a:r>
                        <a:rPr b="1" i="0" lang="en-US" sz="1400">
                          <a:solidFill>
                            <a:srgbClr val="FFFFFF"/>
                          </a:solidFill>
                          <a:latin typeface="Calibri"/>
                          <a:ea typeface="Calibri"/>
                          <a:cs typeface="Calibri"/>
                          <a:sym typeface="Calibri"/>
                        </a:rPr>
                        <a:t>Reach for</a:t>
                      </a:r>
                      <a:endParaRPr/>
                    </a:p>
                  </a:txBody>
                  <a:tcPr marT="45725" marB="45725" marR="91450" marL="91450" anchor="ctr">
                    <a:solidFill>
                      <a:srgbClr val="23325D"/>
                    </a:solidFill>
                  </a:tcPr>
                </a:tc>
              </a:tr>
              <a:tr h="502925">
                <a:tc>
                  <a:txBody>
                    <a:bodyPr/>
                    <a:lstStyle/>
                    <a:p>
                      <a:pPr indent="0" lvl="0" marL="0" marR="0" rtl="0" algn="l">
                        <a:spcBef>
                          <a:spcPts val="0"/>
                        </a:spcBef>
                        <a:spcAft>
                          <a:spcPts val="0"/>
                        </a:spcAft>
                        <a:buNone/>
                      </a:pPr>
                      <a:r>
                        <a:rPr b="1" i="0" lang="en-US" sz="1350">
                          <a:solidFill>
                            <a:srgbClr val="F26351"/>
                          </a:solidFill>
                          <a:latin typeface="Calibri"/>
                          <a:ea typeface="Calibri"/>
                          <a:cs typeface="Calibri"/>
                          <a:sym typeface="Calibri"/>
                        </a:rPr>
                        <a:t>New interactive feature</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HTMX by default.</a:t>
                      </a:r>
                      <a:endParaRPr/>
                    </a:p>
                  </a:txBody>
                  <a:tcPr marT="45725" marB="45725" marR="91450" marL="91450" anchor="ctr">
                    <a:solidFill>
                      <a:srgbClr val="FFFFFF"/>
                    </a:solidFill>
                  </a:tcPr>
                </a:tc>
              </a:tr>
              <a:tr h="502925">
                <a:tc>
                  <a:txBody>
                    <a:bodyPr/>
                    <a:lstStyle/>
                    <a:p>
                      <a:pPr indent="0" lvl="0" marL="0" marR="0" rtl="0" algn="l">
                        <a:spcBef>
                          <a:spcPts val="0"/>
                        </a:spcBef>
                        <a:spcAft>
                          <a:spcPts val="0"/>
                        </a:spcAft>
                        <a:buNone/>
                      </a:pPr>
                      <a:r>
                        <a:rPr b="1" i="0" lang="en-US" sz="1350">
                          <a:solidFill>
                            <a:srgbClr val="F26351"/>
                          </a:solidFill>
                          <a:latin typeface="Calibri"/>
                          <a:ea typeface="Calibri"/>
                          <a:cs typeface="Calibri"/>
                          <a:sym typeface="Calibri"/>
                        </a:rPr>
                        <a:t>Existing, working Ajax API code</a:t>
                      </a:r>
                      <a:endParaRPr/>
                    </a:p>
                  </a:txBody>
                  <a:tcPr marT="45725" marB="45725" marR="91450" marL="91450" anchor="ctr">
                    <a:solidFill>
                      <a:srgbClr val="EAF6FC"/>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Leave it alone.</a:t>
                      </a:r>
                      <a:endParaRPr/>
                    </a:p>
                  </a:txBody>
                  <a:tcPr marT="45725" marB="45725" marR="91450" marL="91450" anchor="ctr">
                    <a:solidFill>
                      <a:srgbClr val="EAF6FC"/>
                    </a:solidFill>
                  </a:tcPr>
                </a:tc>
              </a:tr>
              <a:tr h="502925">
                <a:tc>
                  <a:txBody>
                    <a:bodyPr/>
                    <a:lstStyle/>
                    <a:p>
                      <a:pPr indent="0" lvl="0" marL="0" marR="0" rtl="0" algn="l">
                        <a:spcBef>
                          <a:spcPts val="0"/>
                        </a:spcBef>
                        <a:spcAft>
                          <a:spcPts val="0"/>
                        </a:spcAft>
                        <a:buNone/>
                      </a:pPr>
                      <a:r>
                        <a:rPr b="1" i="0" lang="en-US" sz="1350">
                          <a:solidFill>
                            <a:srgbClr val="F26351"/>
                          </a:solidFill>
                          <a:latin typeface="Calibri"/>
                          <a:ea typeface="Calibri"/>
                          <a:cs typeface="Calibri"/>
                          <a:sym typeface="Calibri"/>
                        </a:rPr>
                        <a:t>Complex multi-step forms (wizards, heavy Form API flows)</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Keep them on the Ajax API for now, per §6's verdict.</a:t>
                      </a:r>
                      <a:endParaRPr/>
                    </a:p>
                  </a:txBody>
                  <a:tcPr marT="45725" marB="45725" marR="91450" marL="91450" anchor="ctr">
                    <a:solidFill>
                      <a:srgbClr val="FFFFFF"/>
                    </a:solidFill>
                  </a:tcPr>
                </a:tc>
              </a:tr>
            </a:tbl>
          </a:graphicData>
        </a:graphic>
      </p:graphicFrame>
      <p:sp>
        <p:nvSpPr>
          <p:cNvPr id="308" name="Google Shape;308;p35"/>
          <p:cNvSpPr txBox="1"/>
          <p:nvPr>
            <p:ph type="title"/>
          </p:nvPr>
        </p:nvSpPr>
        <p:spPr>
          <a:xfrm>
            <a:off x="525150" y="428675"/>
            <a:ext cx="10773600" cy="6279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23325D"/>
              </a:buClr>
              <a:buSzPts val="3200"/>
              <a:buFont typeface="Calibri"/>
              <a:buNone/>
            </a:pPr>
            <a:r>
              <a:rPr lang="en-US" sz="3200"/>
              <a:t>Which tool, when</a:t>
            </a:r>
            <a:endParaRPr sz="34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2"/>
          <p:cNvSpPr txBox="1"/>
          <p:nvPr>
            <p:ph type="title"/>
          </p:nvPr>
        </p:nvSpPr>
        <p:spPr>
          <a:xfrm>
            <a:off x="553725" y="2904920"/>
            <a:ext cx="10760700" cy="5772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FFFF"/>
              </a:buClr>
              <a:buSzPts val="3200"/>
              <a:buFont typeface="Calibri"/>
              <a:buNone/>
            </a:pPr>
            <a:r>
              <a:rPr b="1" i="0" lang="en-US" sz="3200">
                <a:solidFill>
                  <a:srgbClr val="FFFFFF"/>
                </a:solidFill>
                <a:latin typeface="Calibri"/>
                <a:ea typeface="Calibri"/>
                <a:cs typeface="Calibri"/>
                <a:sym typeface="Calibri"/>
              </a:rPr>
              <a:t>A second tool in the same box, not a rewrite.</a:t>
            </a:r>
            <a:endParaRPr/>
          </a:p>
        </p:txBody>
      </p:sp>
      <p:sp>
        <p:nvSpPr>
          <p:cNvPr id="196" name="Google Shape;196;p22"/>
          <p:cNvSpPr txBox="1"/>
          <p:nvPr>
            <p:ph idx="1" type="body"/>
          </p:nvPr>
        </p:nvSpPr>
        <p:spPr>
          <a:xfrm>
            <a:off x="593100" y="3482125"/>
            <a:ext cx="10760700" cy="822960"/>
          </a:xfrm>
          <a:prstGeom prst="rect">
            <a:avLst/>
          </a:prstGeom>
          <a:noFill/>
          <a:ln>
            <a:noFill/>
          </a:ln>
        </p:spPr>
        <p:txBody>
          <a:bodyPr anchorCtr="0" anchor="t" bIns="45700" lIns="91425" spcFirstLastPara="1" rIns="91425" wrap="square" tIns="45700">
            <a:normAutofit/>
          </a:bodyPr>
          <a:lstStyle/>
          <a:p>
            <a:pPr indent="0" lvl="0" marL="0" rtl="0" algn="ctr">
              <a:lnSpc>
                <a:spcPct val="125000"/>
              </a:lnSpc>
              <a:spcBef>
                <a:spcPts val="0"/>
              </a:spcBef>
              <a:spcAft>
                <a:spcPts val="0"/>
              </a:spcAft>
              <a:buClr>
                <a:srgbClr val="FFC427"/>
              </a:buClr>
              <a:buSzPts val="1800"/>
              <a:buNone/>
            </a:pPr>
            <a:r>
              <a:rPr b="0" i="0" lang="en-US" sz="1800">
                <a:solidFill>
                  <a:srgbClr val="FFC427"/>
                </a:solidFill>
                <a:latin typeface="Calibri"/>
                <a:ea typeface="Calibri"/>
                <a:cs typeface="Calibri"/>
                <a:sym typeface="Calibri"/>
              </a:rPr>
              <a:t>Use what core ships, pick a handful of low-risk candidates, boost one region to get a feel for it. No migration weekend required.</a:t>
            </a:r>
            <a:endParaRPr/>
          </a:p>
        </p:txBody>
      </p:sp>
      <p:sp>
        <p:nvSpPr>
          <p:cNvPr id="197" name="Google Shape;197;p22"/>
          <p:cNvSpPr txBox="1"/>
          <p:nvPr/>
        </p:nvSpPr>
        <p:spPr>
          <a:xfrm>
            <a:off x="6468100" y="6355080"/>
            <a:ext cx="4846200" cy="2001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300">
                <a:solidFill>
                  <a:srgbClr val="FFC427"/>
                </a:solidFill>
                <a:latin typeface="Calibri"/>
                <a:ea typeface="Calibri"/>
                <a:cs typeface="Calibri"/>
                <a:sym typeface="Calibri"/>
              </a:rPr>
              <a:t>→ next: current status + contributing</a:t>
            </a:r>
            <a:endParaRPr/>
          </a:p>
        </p:txBody>
      </p:sp>
      <p:sp>
        <p:nvSpPr>
          <p:cNvPr id="198" name="Google Shape;198;p22"/>
          <p:cNvSpPr txBox="1"/>
          <p:nvPr/>
        </p:nvSpPr>
        <p:spPr>
          <a:xfrm>
            <a:off x="640075" y="320047"/>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FC427"/>
                </a:solidFill>
                <a:latin typeface="Calibri"/>
                <a:ea typeface="Calibri"/>
                <a:cs typeface="Calibri"/>
                <a:sym typeface="Calibri"/>
              </a:rPr>
              <a:t>— </a:t>
            </a:r>
            <a:r>
              <a:rPr b="1" lang="en-US" sz="1200">
                <a:solidFill>
                  <a:srgbClr val="FFC427"/>
                </a:solidFill>
                <a:latin typeface="Calibri"/>
                <a:ea typeface="Calibri"/>
                <a:cs typeface="Calibri"/>
                <a:sym typeface="Calibri"/>
              </a:rPr>
              <a:t>THE TAKE</a:t>
            </a:r>
            <a:endParaRPr>
              <a:solidFill>
                <a:srgbClr val="FFC427"/>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7" name="Google Shape;367;p42"/>
          <p:cNvSpPr txBox="1"/>
          <p:nvPr/>
        </p:nvSpPr>
        <p:spPr>
          <a:xfrm>
            <a:off x="7589520" y="4297680"/>
            <a:ext cx="3931920" cy="210312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i="0" lang="en-US" sz="17000">
                <a:solidFill>
                  <a:srgbClr val="FBDAD3"/>
                </a:solidFill>
                <a:latin typeface="Courier New"/>
                <a:ea typeface="Courier New"/>
                <a:cs typeface="Courier New"/>
                <a:sym typeface="Courier New"/>
              </a:rPr>
              <a:t>08</a:t>
            </a:r>
            <a:endParaRPr/>
          </a:p>
        </p:txBody>
      </p:sp>
      <p:sp>
        <p:nvSpPr>
          <p:cNvPr id="368" name="Google Shape;368;p42"/>
          <p:cNvSpPr txBox="1"/>
          <p:nvPr>
            <p:ph type="title"/>
          </p:nvPr>
        </p:nvSpPr>
        <p:spPr>
          <a:xfrm>
            <a:off x="799925" y="1847575"/>
            <a:ext cx="10922700" cy="1086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3325D"/>
              </a:buClr>
              <a:buSzPts val="3600"/>
              <a:buFont typeface="Calibri"/>
              <a:buNone/>
            </a:pPr>
            <a:r>
              <a:rPr lang="en-US" sz="3600"/>
              <a:t>Current Status + How to Contribute</a:t>
            </a:r>
            <a:endParaRPr sz="36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4"/>
          <p:cNvSpPr txBox="1"/>
          <p:nvPr/>
        </p:nvSpPr>
        <p:spPr>
          <a:xfrm>
            <a:off x="640080" y="320040"/>
            <a:ext cx="7315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F26351"/>
                </a:solidFill>
                <a:latin typeface="Calibri"/>
                <a:ea typeface="Calibri"/>
                <a:cs typeface="Calibri"/>
                <a:sym typeface="Calibri"/>
              </a:rPr>
              <a:t>WHERE THINGS STAND TODAY</a:t>
            </a:r>
            <a:endParaRPr/>
          </a:p>
        </p:txBody>
      </p:sp>
      <p:sp>
        <p:nvSpPr>
          <p:cNvPr id="297" name="Google Shape;297;p34"/>
          <p:cNvSpPr/>
          <p:nvPr/>
        </p:nvSpPr>
        <p:spPr>
          <a:xfrm>
            <a:off x="640080" y="2697480"/>
            <a:ext cx="5317200" cy="141720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CORE INITIATIVE</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"Gradually replace Drupal's AJAX system with HTMX" - still active. Both APIs run side by side until contrib has time to convert.</a:t>
            </a:r>
            <a:endParaRPr/>
          </a:p>
        </p:txBody>
      </p:sp>
      <p:sp>
        <p:nvSpPr>
          <p:cNvPr id="298" name="Google Shape;298;p34"/>
          <p:cNvSpPr/>
          <p:nvPr/>
        </p:nvSpPr>
        <p:spPr>
          <a:xfrm>
            <a:off x="6231636" y="2697480"/>
            <a:ext cx="5317200" cy="141720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CONTRIB MODULE</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drupal/htmx adds extra tooling on top of core - 1,156 sites already using it.</a:t>
            </a:r>
            <a:endParaRPr/>
          </a:p>
        </p:txBody>
      </p:sp>
      <p:sp>
        <p:nvSpPr>
          <p:cNvPr id="299" name="Google Shape;299;p34"/>
          <p:cNvSpPr txBox="1"/>
          <p:nvPr/>
        </p:nvSpPr>
        <p:spPr>
          <a:xfrm>
            <a:off x="640080" y="320040"/>
            <a:ext cx="7315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
        <p:nvSpPr>
          <p:cNvPr id="2002" name="Shape 2002"/>
          <p:cNvSpPr txBox="1"/>
          <p:nvPr/>
        </p:nvSpPr>
        <p:spPr>
          <a:xfrm>
            <a:off x="640080" y="1143000"/>
            <a:ext cx="10241280" cy="8229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2000">
                <a:solidFill>
                  <a:srgbClr val="23325D"/>
                </a:solidFill>
                <a:latin typeface="Calibri"/>
                <a:ea typeface="Calibri"/>
                <a:cs typeface="Calibri"/>
                <a:sym typeface="Calibri"/>
              </a:rPr>
              <a:t>This isn't a someday story - HTMX arrived in core in 11.2 and became fully featured in 11.3, as part of an active initiative to replace the Ajax system.</a:t>
            </a:r>
            <a:endParaRPr/>
          </a:p>
        </p:txBody>
      </p:sp>
      <p:sp>
        <p:nvSpPr>
          <p:cNvPr id="4000" name="Shape 4000"/>
          <p:cNvSpPr txBox="1"/>
          <p:nvPr/>
        </p:nvSpPr>
        <p:spPr>
          <a:xfrm>
            <a:off x="640080" y="4434840"/>
            <a:ext cx="10241280" cy="45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000">
                <a:solidFill>
                  <a:srgbClr val="23325D"/>
                </a:solidFill>
                <a:latin typeface="Calibri"/>
                <a:ea typeface="Calibri"/>
                <a:cs typeface="Calibri"/>
                <a:sym typeface="Calibri"/>
              </a:rPr>
              <a:t>Up to 71% less JavaScript</a:t>
            </a:r>
            <a:r>
              <a:rPr b="0" i="0" lang="en-US" sz="2000">
                <a:solidFill>
                  <a:srgbClr val="23325D"/>
                </a:solidFill>
                <a:latin typeface="Calibri"/>
                <a:ea typeface="Calibri"/>
                <a:cs typeface="Calibri"/>
                <a:sym typeface="Calibri"/>
              </a:rPr>
              <a:t> loaded for browser-server interactions with native HTMX, per drupal.org.</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4"/>
          <p:cNvSpPr txBox="1"/>
          <p:nvPr/>
        </p:nvSpPr>
        <p:spPr>
          <a:xfrm>
            <a:off x="640080" y="320040"/>
            <a:ext cx="7315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F26351"/>
                </a:solidFill>
                <a:latin typeface="Calibri"/>
                <a:ea typeface="Calibri"/>
                <a:cs typeface="Calibri"/>
                <a:sym typeface="Calibri"/>
              </a:rPr>
              <a:t>BOTH APIS, ON PURPOSE</a:t>
            </a:r>
            <a:endParaRPr/>
          </a:p>
        </p:txBody>
      </p:sp>
      <p:sp>
        <p:nvSpPr>
          <p:cNvPr id="297" name="Google Shape;297;p34"/>
          <p:cNvSpPr/>
          <p:nvPr/>
        </p:nvSpPr>
        <p:spPr>
          <a:xfrm>
            <a:off x="640080" y="2697480"/>
            <a:ext cx="5317200" cy="1417200"/>
          </a:xfrm>
          <a:prstGeom prst="roundRect">
            <a:avLst>
              <a:gd fmla="val 6000" name="adj"/>
            </a:avLst>
          </a:prstGeom>
          <a:solidFill>
            <a:srgbClr val="EAF6FC"/>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0D6DAC"/>
                </a:solidFill>
                <a:latin typeface="Courier New"/>
                <a:ea typeface="Courier New"/>
                <a:cs typeface="Courier New"/>
                <a:sym typeface="Courier New"/>
              </a:rPr>
              <a:t>EXPERIENCE BUILDER</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Page/layout building - not interaction plumbing.</a:t>
            </a:r>
            <a:endParaRPr/>
          </a:p>
        </p:txBody>
      </p:sp>
      <p:sp>
        <p:nvSpPr>
          <p:cNvPr id="298" name="Google Shape;298;p34"/>
          <p:cNvSpPr/>
          <p:nvPr/>
        </p:nvSpPr>
        <p:spPr>
          <a:xfrm>
            <a:off x="6231636" y="2697480"/>
            <a:ext cx="5317200" cy="1417200"/>
          </a:xfrm>
          <a:prstGeom prst="roundRect">
            <a:avLst>
              <a:gd fmla="val 6000" name="adj"/>
            </a:avLst>
          </a:prstGeom>
          <a:solidFill>
            <a:srgbClr val="EAF6FC"/>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0D6DAC"/>
                </a:solidFill>
                <a:latin typeface="Courier New"/>
                <a:ea typeface="Courier New"/>
                <a:cs typeface="Courier New"/>
                <a:sym typeface="Courier New"/>
              </a:rPr>
              <a:t>SINGLE DIRECTORY COMPONENTS</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Component authoring - not interaction plumbing.</a:t>
            </a:r>
            <a:endParaRPr/>
          </a:p>
        </p:txBody>
      </p:sp>
      <p:sp>
        <p:nvSpPr>
          <p:cNvPr id="299" name="Google Shape;299;p34"/>
          <p:cNvSpPr txBox="1"/>
          <p:nvPr/>
        </p:nvSpPr>
        <p:spPr>
          <a:xfrm>
            <a:off x="640080" y="320040"/>
            <a:ext cx="7315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
        <p:nvSpPr>
          <p:cNvPr id="2003" name="Shape 2003"/>
          <p:cNvSpPr txBox="1"/>
          <p:nvPr/>
        </p:nvSpPr>
        <p:spPr>
          <a:xfrm>
            <a:off x="640080" y="1143000"/>
            <a:ext cx="10241280" cy="8229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2000">
                <a:solidFill>
                  <a:srgbClr val="23325D"/>
                </a:solidFill>
                <a:latin typeface="Calibri"/>
                <a:ea typeface="Calibri"/>
                <a:cs typeface="Calibri"/>
                <a:sym typeface="Calibri"/>
              </a:rPr>
              <a:t>Same incremental philosophy as §7 - just scaled up to core. Full deprecation waits until contrib has had real time to convert.</a:t>
            </a:r>
            <a:endParaRPr/>
          </a:p>
        </p:txBody>
      </p:sp>
      <p:sp>
        <p:nvSpPr>
          <p:cNvPr id="2004" name="Shape 2004"/>
          <p:cNvSpPr txBox="1"/>
          <p:nvPr/>
        </p:nvSpPr>
        <p:spPr>
          <a:xfrm>
            <a:off x="640080" y="2286000"/>
            <a:ext cx="54864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5B6378"/>
                </a:solidFill>
                <a:latin typeface="Calibri"/>
                <a:ea typeface="Calibri"/>
                <a:cs typeface="Calibri"/>
                <a:sym typeface="Calibri"/>
              </a:rPr>
              <a:t>NOT TO BE CONFUSED WITH</a:t>
            </a:r>
            <a:endParaRPr b="1"/>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8"/>
          <p:cNvSpPr txBox="1"/>
          <p:nvPr>
            <p:ph type="title"/>
          </p:nvPr>
        </p:nvSpPr>
        <p:spPr>
          <a:xfrm>
            <a:off x="548700" y="365125"/>
            <a:ext cx="108051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400"/>
              <a:buFont typeface="Calibri"/>
              <a:buNone/>
            </a:pPr>
            <a:r>
              <a:rPr lang="en-US" sz="3400">
                <a:solidFill>
                  <a:srgbClr val="23325D"/>
                </a:solidFill>
              </a:rPr>
              <a:t>How to contribute</a:t>
            </a:r>
            <a:endParaRPr/>
          </a:p>
        </p:txBody>
      </p:sp>
      <p:sp>
        <p:nvSpPr>
          <p:cNvPr id="246" name="Google Shape;246;p28"/>
          <p:cNvSpPr/>
          <p:nvPr/>
        </p:nvSpPr>
        <p:spPr>
          <a:xfrm>
            <a:off x="640080" y="178308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CORE INITIATIVE</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Plan issue + POC issue in the core queue.</a:t>
            </a:r>
            <a:endParaRPr/>
          </a:p>
        </p:txBody>
      </p:sp>
      <p:sp>
        <p:nvSpPr>
          <p:cNvPr id="247" name="Google Shape;247;p28"/>
          <p:cNvSpPr/>
          <p:nvPr/>
        </p:nvSpPr>
        <p:spPr>
          <a:xfrm>
            <a:off x="6231636" y="178308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CONTRIB MODULE</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drupal.org/project/htmx issue queue.</a:t>
            </a:r>
            <a:endParaRPr/>
          </a:p>
        </p:txBody>
      </p:sp>
      <p:sp>
        <p:nvSpPr>
          <p:cNvPr id="248" name="Google Shape;248;p28"/>
          <p:cNvSpPr/>
          <p:nvPr/>
        </p:nvSpPr>
        <p:spPr>
          <a:xfrm>
            <a:off x="640080" y="347472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COMMUNITY</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#htmx on Drupal Slack.</a:t>
            </a:r>
            <a:endParaRPr/>
          </a:p>
        </p:txBody>
      </p:sp>
      <p:sp>
        <p:nvSpPr>
          <p:cNvPr id="249" name="Google Shape;249;p28"/>
          <p:cNvSpPr/>
          <p:nvPr/>
        </p:nvSpPr>
        <p:spPr>
          <a:xfrm>
            <a:off x="6231636" y="347472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ENTRY POINTS</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Triage issues, convert one #ajax callback, write docs, build a case study.</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2"/>
          <p:cNvSpPr txBox="1"/>
          <p:nvPr>
            <p:ph type="title"/>
          </p:nvPr>
        </p:nvSpPr>
        <p:spPr>
          <a:xfrm>
            <a:off x="553725" y="2904920"/>
            <a:ext cx="10760700" cy="5772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FFFF"/>
              </a:buClr>
              <a:buSzPts val="3200"/>
              <a:buFont typeface="Calibri"/>
              <a:buNone/>
            </a:pPr>
            <a:r>
              <a:rPr b="1" i="0" lang="en-US" sz="3200">
                <a:solidFill>
                  <a:srgbClr val="FFFFFF"/>
                </a:solidFill>
                <a:latin typeface="Calibri"/>
                <a:ea typeface="Calibri"/>
                <a:cs typeface="Calibri"/>
                <a:sym typeface="Calibri"/>
              </a:rPr>
              <a:t>It's not waiting on permission.</a:t>
            </a:r>
            <a:endParaRPr/>
          </a:p>
        </p:txBody>
      </p:sp>
      <p:sp>
        <p:nvSpPr>
          <p:cNvPr id="196" name="Google Shape;196;p22"/>
          <p:cNvSpPr txBox="1"/>
          <p:nvPr>
            <p:ph idx="1" type="body"/>
          </p:nvPr>
        </p:nvSpPr>
        <p:spPr>
          <a:xfrm>
            <a:off x="593100" y="3482125"/>
            <a:ext cx="10760700" cy="822960"/>
          </a:xfrm>
          <a:prstGeom prst="rect">
            <a:avLst/>
          </a:prstGeom>
          <a:noFill/>
          <a:ln>
            <a:noFill/>
          </a:ln>
        </p:spPr>
        <p:txBody>
          <a:bodyPr anchorCtr="0" anchor="t" bIns="45700" lIns="91425" spcFirstLastPara="1" rIns="91425" wrap="square" tIns="45700">
            <a:normAutofit/>
          </a:bodyPr>
          <a:lstStyle/>
          <a:p>
            <a:pPr indent="0" lvl="0" marL="0" rtl="0" algn="ctr">
              <a:lnSpc>
                <a:spcPct val="125000"/>
              </a:lnSpc>
              <a:spcBef>
                <a:spcPts val="0"/>
              </a:spcBef>
              <a:spcAft>
                <a:spcPts val="0"/>
              </a:spcAft>
              <a:buClr>
                <a:srgbClr val="FFC427"/>
              </a:buClr>
              <a:buSzPts val="1800"/>
              <a:buNone/>
            </a:pPr>
            <a:r>
              <a:rPr b="0" i="0" lang="en-US" sz="1800">
                <a:solidFill>
                  <a:srgbClr val="FFC427"/>
                </a:solidFill>
                <a:latin typeface="Calibri"/>
                <a:ea typeface="Calibri"/>
                <a:cs typeface="Calibri"/>
                <a:sym typeface="Calibri"/>
              </a:rPr>
              <a:t>Already in core, actively being worked, and it needs hands. On 11.3? Convert one #ajax callback and see how it feels.</a:t>
            </a:r>
            <a:endParaRPr/>
          </a:p>
        </p:txBody>
      </p:sp>
      <p:sp>
        <p:nvSpPr>
          <p:cNvPr id="197" name="Google Shape;197;p22"/>
          <p:cNvSpPr txBox="1"/>
          <p:nvPr/>
        </p:nvSpPr>
        <p:spPr>
          <a:xfrm>
            <a:off x="6468100" y="6355080"/>
            <a:ext cx="4846200" cy="2001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300">
                <a:solidFill>
                  <a:srgbClr val="FFC427"/>
                </a:solidFill>
                <a:latin typeface="Calibri"/>
                <a:ea typeface="Calibri"/>
                <a:cs typeface="Calibri"/>
                <a:sym typeface="Calibri"/>
              </a:rPr>
              <a:t>→ next: wrap-up + Q&amp;A</a:t>
            </a:r>
            <a:endParaRPr/>
          </a:p>
        </p:txBody>
      </p:sp>
      <p:sp>
        <p:nvSpPr>
          <p:cNvPr id="198" name="Google Shape;198;p22"/>
          <p:cNvSpPr txBox="1"/>
          <p:nvPr/>
        </p:nvSpPr>
        <p:spPr>
          <a:xfrm>
            <a:off x="640075" y="320047"/>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FC427"/>
                </a:solidFill>
                <a:latin typeface="Calibri"/>
                <a:ea typeface="Calibri"/>
                <a:cs typeface="Calibri"/>
                <a:sym typeface="Calibri"/>
              </a:rPr>
              <a:t>— </a:t>
            </a:r>
            <a:r>
              <a:rPr b="1" lang="en-US" sz="1200">
                <a:solidFill>
                  <a:srgbClr val="FFC427"/>
                </a:solidFill>
                <a:latin typeface="Calibri"/>
                <a:ea typeface="Calibri"/>
                <a:cs typeface="Calibri"/>
                <a:sym typeface="Calibri"/>
              </a:rPr>
              <a:t>THE CLOSE</a:t>
            </a:r>
            <a:endParaRPr>
              <a:solidFill>
                <a:srgbClr val="FFC427"/>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8"/>
          <p:cNvSpPr txBox="1"/>
          <p:nvPr/>
        </p:nvSpPr>
        <p:spPr>
          <a:xfrm>
            <a:off x="640080" y="4846320"/>
            <a:ext cx="5486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5B6378"/>
                </a:solidFill>
                <a:latin typeface="Calibri"/>
                <a:ea typeface="Calibri"/>
                <a:cs typeface="Calibri"/>
                <a:sym typeface="Calibri"/>
              </a:rPr>
              <a:t>Ruturaj Chaubey – </a:t>
            </a:r>
            <a:r>
              <a:rPr i="1" lang="en-US" sz="1200">
                <a:solidFill>
                  <a:srgbClr val="9AA3B5"/>
                </a:solidFill>
                <a:latin typeface="Calibri"/>
                <a:ea typeface="Calibri"/>
                <a:cs typeface="Calibri"/>
                <a:sym typeface="Calibri"/>
              </a:rPr>
              <a:t>Full Stack Engineer</a:t>
            </a:r>
            <a:r>
              <a:rPr b="0" i="1" lang="en-US" sz="1200" u="none" cap="none" strike="noStrike">
                <a:solidFill>
                  <a:srgbClr val="9AA3B5"/>
                </a:solidFill>
                <a:latin typeface="Calibri"/>
                <a:ea typeface="Calibri"/>
                <a:cs typeface="Calibri"/>
                <a:sym typeface="Calibri"/>
              </a:rPr>
              <a:t> </a:t>
            </a:r>
            <a:r>
              <a:rPr i="1" lang="en-US" sz="1200">
                <a:solidFill>
                  <a:srgbClr val="9AA3B5"/>
                </a:solidFill>
                <a:latin typeface="Calibri"/>
                <a:ea typeface="Calibri"/>
                <a:cs typeface="Calibri"/>
                <a:sym typeface="Calibri"/>
              </a:rPr>
              <a:t>@ QED42</a:t>
            </a:r>
            <a:endParaRPr i="1" sz="1200">
              <a:solidFill>
                <a:srgbClr val="9AA3B5"/>
              </a:solidFill>
              <a:latin typeface="Calibri"/>
              <a:ea typeface="Calibri"/>
              <a:cs typeface="Calibri"/>
              <a:sym typeface="Calibri"/>
            </a:endParaRPr>
          </a:p>
          <a:p>
            <a:pPr indent="0" lvl="0" marL="0" rtl="0" algn="l">
              <a:spcBef>
                <a:spcPts val="0"/>
              </a:spcBef>
              <a:spcAft>
                <a:spcPts val="0"/>
              </a:spcAft>
              <a:buNone/>
            </a:pPr>
            <a:r>
              <a:rPr lang="en-US" sz="1200">
                <a:solidFill>
                  <a:srgbClr val="5B6378"/>
                </a:solidFill>
                <a:latin typeface="Calibri"/>
                <a:ea typeface="Calibri"/>
                <a:cs typeface="Calibri"/>
                <a:sym typeface="Calibri"/>
              </a:rPr>
              <a:t>Vighnesh</a:t>
            </a:r>
            <a:r>
              <a:rPr lang="en-US" sz="1200">
                <a:solidFill>
                  <a:srgbClr val="5B6378"/>
                </a:solidFill>
                <a:latin typeface="Calibri"/>
                <a:ea typeface="Calibri"/>
                <a:cs typeface="Calibri"/>
                <a:sym typeface="Calibri"/>
              </a:rPr>
              <a:t> Sadagopal – </a:t>
            </a:r>
            <a:r>
              <a:rPr i="1" lang="en-US" sz="1200">
                <a:solidFill>
                  <a:srgbClr val="9AA3B5"/>
                </a:solidFill>
                <a:latin typeface="Calibri"/>
                <a:ea typeface="Calibri"/>
                <a:cs typeface="Calibri"/>
                <a:sym typeface="Calibri"/>
              </a:rPr>
              <a:t>Full Stack Drupal Engineer @ QED42</a:t>
            </a:r>
            <a:endParaRPr i="1" sz="1200">
              <a:solidFill>
                <a:srgbClr val="9AA3B5"/>
              </a:solidFill>
              <a:latin typeface="Calibri"/>
              <a:ea typeface="Calibri"/>
              <a:cs typeface="Calibri"/>
              <a:sym typeface="Calibri"/>
            </a:endParaRPr>
          </a:p>
        </p:txBody>
      </p:sp>
      <p:sp>
        <p:nvSpPr>
          <p:cNvPr id="52" name="Google Shape;52;p8"/>
          <p:cNvSpPr txBox="1"/>
          <p:nvPr>
            <p:ph type="ctrTitle"/>
          </p:nvPr>
        </p:nvSpPr>
        <p:spPr>
          <a:xfrm>
            <a:off x="640075" y="1009650"/>
            <a:ext cx="8677800" cy="13398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rgbClr val="23325D"/>
              </a:buClr>
              <a:buSzPct val="100000"/>
              <a:buFont typeface="Calibri"/>
              <a:buNone/>
            </a:pPr>
            <a:r>
              <a:rPr lang="en-US" sz="5400">
                <a:solidFill>
                  <a:srgbClr val="23325D"/>
                </a:solidFill>
              </a:rPr>
              <a:t>Thank you!</a:t>
            </a:r>
            <a:endParaRPr/>
          </a:p>
          <a:p>
            <a:pPr indent="0" lvl="0" marL="0" rtl="0" algn="l">
              <a:lnSpc>
                <a:spcPct val="90000"/>
              </a:lnSpc>
              <a:spcBef>
                <a:spcPts val="0"/>
              </a:spcBef>
              <a:spcAft>
                <a:spcPts val="0"/>
              </a:spcAft>
              <a:buClr>
                <a:srgbClr val="23325D"/>
              </a:buClr>
              <a:buSzPct val="100000"/>
              <a:buFont typeface="Calibri"/>
              <a:buNone/>
            </a:pPr>
            <a:r>
              <a:rPr lang="en-US" sz="5400">
                <a:solidFill>
                  <a:srgbClr val="F26351"/>
                </a:solidFill>
              </a:rPr>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