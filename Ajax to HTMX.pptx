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29.xml"/>
  <Override ContentType="application/vnd.openxmlformats-officedocument.presentationml.notesSlide+xml" PartName="/ppt/notesSlides/notesSlide32.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33.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34.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0.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35.xml"/>
  <Override ContentType="application/vnd.openxmlformats-officedocument.presentationml.notesSlide+xml" PartName="/ppt/notesSlides/notesSlide5.xml"/>
  <Override ContentType="application/vnd.openxmlformats-officedocument.presentationml.notesSlide+xml" PartName="/ppt/notesSlides/notesSlide31.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xml"/>
  <Override ContentType="application/vnd.openxmlformats-officedocument.presentationml.slideLayout+xml" PartName="/ppt/slideLayouts/slideLayout6.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35.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34.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33.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9.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32.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31.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4"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 id="288" r:id="rId38"/>
    <p:sldId id="289" r:id="rId39"/>
    <p:sldId id="290" r:id="rId40"/>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82BA0FA9-774D-4D84-A5C6-C2667BA39461}">
  <a:tblStyle styleId="{82BA0FA9-774D-4D84-A5C6-C2667BA39461}" styleName="Table_0">
    <a:wholeTbl>
      <a:tcTxStyle b="off" i="off">
        <a:font>
          <a:latin typeface="Calibri"/>
          <a:ea typeface="Calibri"/>
          <a:cs typeface="Calibri"/>
        </a:font>
        <a:schemeClr val="dk1"/>
      </a:tcTxStyle>
      <a:tcStyle>
        <a:tcBdr>
          <a:left>
            <a:ln cap="flat" cmpd="sng" w="12700">
              <a:solidFill>
                <a:schemeClr val="lt1"/>
              </a:solidFill>
              <a:prstDash val="solid"/>
              <a:round/>
              <a:headEnd len="sm" w="sm" type="none"/>
              <a:tailEnd len="sm" w="sm" type="none"/>
            </a:ln>
          </a:left>
          <a:right>
            <a:ln cap="flat" cmpd="sng" w="12700">
              <a:solidFill>
                <a:schemeClr val="lt1"/>
              </a:solidFill>
              <a:prstDash val="solid"/>
              <a:round/>
              <a:headEnd len="sm" w="sm" type="none"/>
              <a:tailEnd len="sm" w="sm" type="none"/>
            </a:ln>
          </a:right>
          <a:top>
            <a:ln cap="flat" cmpd="sng" w="12700">
              <a:solidFill>
                <a:schemeClr val="lt1"/>
              </a:solidFill>
              <a:prstDash val="solid"/>
              <a:round/>
              <a:headEnd len="sm" w="sm" type="none"/>
              <a:tailEnd len="sm" w="sm" type="none"/>
            </a:ln>
          </a:top>
          <a:bottom>
            <a:ln cap="flat" cmpd="sng" w="12700">
              <a:solidFill>
                <a:schemeClr val="lt1"/>
              </a:solidFill>
              <a:prstDash val="solid"/>
              <a:round/>
              <a:headEnd len="sm" w="sm" type="none"/>
              <a:tailEnd len="sm" w="sm" type="none"/>
            </a:ln>
          </a:bottom>
          <a:insideH>
            <a:ln cap="flat" cmpd="sng" w="12700">
              <a:solidFill>
                <a:schemeClr val="lt1"/>
              </a:solidFill>
              <a:prstDash val="solid"/>
              <a:round/>
              <a:headEnd len="sm" w="sm" type="none"/>
              <a:tailEnd len="sm" w="sm" type="none"/>
            </a:ln>
          </a:insideH>
          <a:insideV>
            <a:ln cap="flat" cmpd="sng" w="12700">
              <a:solidFill>
                <a:schemeClr val="lt1"/>
              </a:solidFill>
              <a:prstDash val="solid"/>
              <a:round/>
              <a:headEnd len="sm" w="sm" type="none"/>
              <a:tailEnd len="sm" w="sm" type="none"/>
            </a:ln>
          </a:insideV>
        </a:tcBdr>
        <a:fill>
          <a:solidFill>
            <a:srgbClr val="E7E9EC"/>
          </a:solidFill>
        </a:fill>
      </a:tcStyle>
    </a:wholeTbl>
    <a:band1H>
      <a:tcTxStyle/>
      <a:tcStyle>
        <a:fill>
          <a:solidFill>
            <a:srgbClr val="CAD1D8"/>
          </a:solidFill>
        </a:fill>
      </a:tcStyle>
    </a:band1H>
    <a:band2H>
      <a:tcTxStyle/>
    </a:band2H>
    <a:band1V>
      <a:tcTxStyle/>
      <a:tcStyle>
        <a:fill>
          <a:solidFill>
            <a:srgbClr val="CAD1D8"/>
          </a:solidFill>
        </a:fill>
      </a:tcStyle>
    </a:band1V>
    <a:band2V>
      <a:tcTxStyle/>
    </a:band2V>
    <a:lastCol>
      <a:tcTxStyle b="on" i="off">
        <a:font>
          <a:latin typeface="Calibri"/>
          <a:ea typeface="Calibri"/>
          <a:cs typeface="Calibri"/>
        </a:font>
        <a:schemeClr val="lt1"/>
      </a:tcTxStyle>
      <a:tcStyle>
        <a:fill>
          <a:solidFill>
            <a:schemeClr val="accent1"/>
          </a:solidFill>
        </a:fill>
      </a:tcStyle>
    </a:lastCol>
    <a:firstCol>
      <a:tcTxStyle b="on" i="off">
        <a:font>
          <a:latin typeface="Calibri"/>
          <a:ea typeface="Calibri"/>
          <a:cs typeface="Calibri"/>
        </a:font>
        <a:schemeClr val="lt1"/>
      </a:tcTxStyle>
      <a:tcStyle>
        <a:fill>
          <a:solidFill>
            <a:schemeClr val="accent1"/>
          </a:solidFill>
        </a:fill>
      </a:tcStyle>
    </a:firstCol>
    <a:lastRow>
      <a:tcTxStyle b="on" i="off">
        <a:font>
          <a:latin typeface="Calibri"/>
          <a:ea typeface="Calibri"/>
          <a:cs typeface="Calibri"/>
        </a:font>
        <a:schemeClr val="lt1"/>
      </a:tcTxStyle>
      <a:tcStyle>
        <a:tcBdr>
          <a:top>
            <a:ln cap="flat" cmpd="sng" w="38100">
              <a:solidFill>
                <a:schemeClr val="lt1"/>
              </a:solidFill>
              <a:prstDash val="solid"/>
              <a:round/>
              <a:headEnd len="sm" w="sm" type="none"/>
              <a:tailEnd len="sm" w="sm" type="none"/>
            </a:ln>
          </a:top>
        </a:tcBdr>
        <a:fill>
          <a:solidFill>
            <a:schemeClr val="accent1"/>
          </a:solidFill>
        </a:fill>
      </a:tcStyle>
    </a:lastRow>
    <a:seCell>
      <a:tcTxStyle/>
    </a:seCell>
    <a:swCell>
      <a:tcTxStyle/>
    </a:swCell>
    <a:firstRow>
      <a:tcTxStyle b="on" i="off">
        <a:font>
          <a:latin typeface="Calibri"/>
          <a:ea typeface="Calibri"/>
          <a:cs typeface="Calibri"/>
        </a:font>
        <a:schemeClr val="lt1"/>
      </a:tcTxStyle>
      <a:tcStyle>
        <a:tcBdr>
          <a:bottom>
            <a:ln cap="flat" cmpd="sng" w="38100">
              <a:solidFill>
                <a:schemeClr val="lt1"/>
              </a:solidFill>
              <a:prstDash val="solid"/>
              <a:round/>
              <a:headEnd len="sm" w="sm" type="none"/>
              <a:tailEnd len="sm" w="sm" type="none"/>
            </a:ln>
          </a:bottom>
        </a:tcBdr>
        <a:fill>
          <a:solidFill>
            <a:schemeClr val="accent1"/>
          </a:solidFill>
        </a:fill>
      </a:tcStyle>
    </a:firstRow>
    <a:neCell>
      <a:tcTxStyle/>
    </a:neCell>
    <a:nwCell>
      <a:tcTxStyle/>
    </a:nwCell>
  </a:tblStyle>
</a:tblStyleLst>
</file>

<file path=ppt/_rels/presentation.xml.rels><?xml version="1.0" encoding="UTF-8" standalone="yes"?><Relationships xmlns="http://schemas.openxmlformats.org/package/2006/relationships"><Relationship Id="rId40" Type="http://schemas.openxmlformats.org/officeDocument/2006/relationships/slide" Target="slides/slide35.xml"/><Relationship Id="rId20" Type="http://schemas.openxmlformats.org/officeDocument/2006/relationships/slide" Target="slides/slide15.xml"/><Relationship Id="rId22" Type="http://schemas.openxmlformats.org/officeDocument/2006/relationships/slide" Target="slides/slide17.xml"/><Relationship Id="rId21" Type="http://schemas.openxmlformats.org/officeDocument/2006/relationships/slide" Target="slides/slide16.xml"/><Relationship Id="rId24" Type="http://schemas.openxmlformats.org/officeDocument/2006/relationships/slide" Target="slides/slide19.xml"/><Relationship Id="rId23" Type="http://schemas.openxmlformats.org/officeDocument/2006/relationships/slide" Target="slides/slide1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slide" Target="slides/slide4.xml"/><Relationship Id="rId26" Type="http://schemas.openxmlformats.org/officeDocument/2006/relationships/slide" Target="slides/slide21.xml"/><Relationship Id="rId25" Type="http://schemas.openxmlformats.org/officeDocument/2006/relationships/slide" Target="slides/slide20.xml"/><Relationship Id="rId28" Type="http://schemas.openxmlformats.org/officeDocument/2006/relationships/slide" Target="slides/slide23.xml"/><Relationship Id="rId27" Type="http://schemas.openxmlformats.org/officeDocument/2006/relationships/slide" Target="slides/slide22.xml"/><Relationship Id="rId5" Type="http://schemas.openxmlformats.org/officeDocument/2006/relationships/notesMaster" Target="notesMasters/notesMaster1.xml"/><Relationship Id="rId6" Type="http://schemas.openxmlformats.org/officeDocument/2006/relationships/slide" Target="slides/slide1.xml"/><Relationship Id="rId29" Type="http://schemas.openxmlformats.org/officeDocument/2006/relationships/slide" Target="slides/slide24.xml"/><Relationship Id="rId7" Type="http://schemas.openxmlformats.org/officeDocument/2006/relationships/slide" Target="slides/slide2.xml"/><Relationship Id="rId8" Type="http://schemas.openxmlformats.org/officeDocument/2006/relationships/slide" Target="slides/slide3.xml"/><Relationship Id="rId31" Type="http://schemas.openxmlformats.org/officeDocument/2006/relationships/slide" Target="slides/slide26.xml"/><Relationship Id="rId30" Type="http://schemas.openxmlformats.org/officeDocument/2006/relationships/slide" Target="slides/slide25.xml"/><Relationship Id="rId11" Type="http://schemas.openxmlformats.org/officeDocument/2006/relationships/slide" Target="slides/slide6.xml"/><Relationship Id="rId33" Type="http://schemas.openxmlformats.org/officeDocument/2006/relationships/slide" Target="slides/slide28.xml"/><Relationship Id="rId10" Type="http://schemas.openxmlformats.org/officeDocument/2006/relationships/slide" Target="slides/slide5.xml"/><Relationship Id="rId32" Type="http://schemas.openxmlformats.org/officeDocument/2006/relationships/slide" Target="slides/slide27.xml"/><Relationship Id="rId13" Type="http://schemas.openxmlformats.org/officeDocument/2006/relationships/slide" Target="slides/slide8.xml"/><Relationship Id="rId35" Type="http://schemas.openxmlformats.org/officeDocument/2006/relationships/slide" Target="slides/slide30.xml"/><Relationship Id="rId12" Type="http://schemas.openxmlformats.org/officeDocument/2006/relationships/slide" Target="slides/slide7.xml"/><Relationship Id="rId34" Type="http://schemas.openxmlformats.org/officeDocument/2006/relationships/slide" Target="slides/slide29.xml"/><Relationship Id="rId15" Type="http://schemas.openxmlformats.org/officeDocument/2006/relationships/slide" Target="slides/slide10.xml"/><Relationship Id="rId37" Type="http://schemas.openxmlformats.org/officeDocument/2006/relationships/slide" Target="slides/slide32.xml"/><Relationship Id="rId14" Type="http://schemas.openxmlformats.org/officeDocument/2006/relationships/slide" Target="slides/slide9.xml"/><Relationship Id="rId36" Type="http://schemas.openxmlformats.org/officeDocument/2006/relationships/slide" Target="slides/slide31.xml"/><Relationship Id="rId17" Type="http://schemas.openxmlformats.org/officeDocument/2006/relationships/slide" Target="slides/slide12.xml"/><Relationship Id="rId39" Type="http://schemas.openxmlformats.org/officeDocument/2006/relationships/slide" Target="slides/slide34.xml"/><Relationship Id="rId16" Type="http://schemas.openxmlformats.org/officeDocument/2006/relationships/slide" Target="slides/slide11.xml"/><Relationship Id="rId38" Type="http://schemas.openxmlformats.org/officeDocument/2006/relationships/slide" Target="slides/slide33.xml"/><Relationship Id="rId19" Type="http://schemas.openxmlformats.org/officeDocument/2006/relationships/slide" Target="slides/slide14.xml"/><Relationship Id="rId18"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 name="Shape 46"/>
        <p:cNvGrpSpPr/>
        <p:nvPr/>
      </p:nvGrpSpPr>
      <p:grpSpPr>
        <a:xfrm>
          <a:off x="0" y="0"/>
          <a:ext cx="0" cy="0"/>
          <a:chOff x="0" y="0"/>
          <a:chExt cx="0" cy="0"/>
        </a:xfrm>
      </p:grpSpPr>
      <p:sp>
        <p:nvSpPr>
          <p:cNvPr id="47" name="Google Shape;47;p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8" name="Google Shape;48;p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Open cold - screen already up for the live filter demo. No spoken line yet.</a:t>
            </a:r>
            <a:endParaRPr/>
          </a:p>
        </p:txBody>
      </p:sp>
      <p:sp>
        <p:nvSpPr>
          <p:cNvPr id="49" name="Google Shape;49;p1: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 name="Shape 53"/>
        <p:cNvGrpSpPr/>
        <p:nvPr/>
      </p:nvGrpSpPr>
      <p:grpSpPr>
        <a:xfrm>
          <a:off x="0" y="0"/>
          <a:ext cx="0" cy="0"/>
          <a:chOff x="0" y="0"/>
          <a:chExt cx="0" cy="0"/>
        </a:xfrm>
      </p:grpSpPr>
      <p:sp>
        <p:nvSpPr>
          <p:cNvPr id="54" name="Google Shape;54;p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5" name="Google Shape;55;p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Silent 15-20s clip: a filter on a Drupal listing page updates instantly as you type. No visible reload, no JS file open anywhere. Let it play, then pause on the result.</a:t>
            </a:r>
            <a:endParaRPr/>
          </a:p>
        </p:txBody>
      </p:sp>
      <p:sp>
        <p:nvSpPr>
          <p:cNvPr id="56" name="Google Shape;56;p2: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1" name="Shape 71"/>
        <p:cNvGrpSpPr/>
        <p:nvPr/>
      </p:nvGrpSpPr>
      <p:grpSpPr>
        <a:xfrm>
          <a:off x="0" y="0"/>
          <a:ext cx="0" cy="0"/>
          <a:chOff x="0" y="0"/>
          <a:chExt cx="0" cy="0"/>
        </a:xfrm>
      </p:grpSpPr>
      <p:sp>
        <p:nvSpPr>
          <p:cNvPr id="72" name="Google Shape;72;p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73" name="Google Shape;73;p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“That's a live filter. No JavaScript file. No Ajax command class. Just HTML.”</a:t>
            </a:r>
            <a:endParaRPr/>
          </a:p>
        </p:txBody>
      </p:sp>
      <p:sp>
        <p:nvSpPr>
          <p:cNvPr id="74" name="Google Shape;74;p3: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8" name="Shape 78"/>
        <p:cNvGrpSpPr/>
        <p:nvPr/>
      </p:nvGrpSpPr>
      <p:grpSpPr>
        <a:xfrm>
          <a:off x="0" y="0"/>
          <a:ext cx="0" cy="0"/>
          <a:chOff x="0" y="0"/>
          <a:chExt cx="0" cy="0"/>
        </a:xfrm>
      </p:grpSpPr>
      <p:sp>
        <p:nvSpPr>
          <p:cNvPr id="79" name="Google Shape;79;p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0" name="Google Shape;80;p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Hi, I'm Ruturaj - [role]. I've spent a good chunk of the last few years building interactive Drupal sites the traditional way, callbacks and all - which is exactly why I got excited when HTMX showed up.</a:t>
            </a:r>
            <a:endParaRPr/>
          </a:p>
        </p:txBody>
      </p:sp>
      <p:sp>
        <p:nvSpPr>
          <p:cNvPr id="81" name="Google Shape;81;p4: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 name="Shape 86"/>
        <p:cNvGrpSpPr/>
        <p:nvPr/>
      </p:nvGrpSpPr>
      <p:grpSpPr>
        <a:xfrm>
          <a:off x="0" y="0"/>
          <a:ext cx="0" cy="0"/>
          <a:chOff x="0" y="0"/>
          <a:chExt cx="0" cy="0"/>
        </a:xfrm>
      </p:grpSpPr>
      <p:sp>
        <p:nvSpPr>
          <p:cNvPr id="87" name="Google Shape;87;p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8" name="Google Shape;88;p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Land the quote with room to breathe.</a:t>
            </a:r>
            <a:endParaRPr/>
          </a:p>
        </p:txBody>
      </p:sp>
      <p:sp>
        <p:nvSpPr>
          <p:cNvPr id="89" name="Google Shape;89;p5: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 name="Shape 92"/>
        <p:cNvGrpSpPr/>
        <p:nvPr/>
      </p:nvGrpSpPr>
      <p:grpSpPr>
        <a:xfrm>
          <a:off x="0" y="0"/>
          <a:ext cx="0" cy="0"/>
          <a:chOff x="0" y="0"/>
          <a:chExt cx="0" cy="0"/>
        </a:xfrm>
      </p:grpSpPr>
      <p:sp>
        <p:nvSpPr>
          <p:cNvPr id="93" name="Google Shape;93;p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94" name="Google Shape;94;p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Over the next 45 minutes, we'll do four things: look at why Ajax API gets painful at scale, learn HTMX's core idea, map that idea directly onto Drupal's render/routing/caching system, then watch it work live. We'll close with an honest comparison and how to bring this into a project you already have.</a:t>
            </a:r>
            <a:endParaRPr/>
          </a:p>
        </p:txBody>
      </p:sp>
      <p:sp>
        <p:nvSpPr>
          <p:cNvPr id="95" name="Google Shape;95;p6: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p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17" name="Google Shape;117;p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Let's start with where we are today - the Ajax API.</a:t>
            </a:r>
            <a:endParaRPr/>
          </a:p>
        </p:txBody>
      </p:sp>
      <p:sp>
        <p:nvSpPr>
          <p:cNvPr id="118" name="Google Shape;118;p7: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2" name="Shape 122"/>
        <p:cNvGrpSpPr/>
        <p:nvPr/>
      </p:nvGrpSpPr>
      <p:grpSpPr>
        <a:xfrm>
          <a:off x="0" y="0"/>
          <a:ext cx="0" cy="0"/>
          <a:chOff x="0" y="0"/>
          <a:chExt cx="0" cy="0"/>
        </a:xfrm>
      </p:grpSpPr>
      <p:sp>
        <p:nvSpPr>
          <p:cNvPr id="123" name="Google Shape;123;p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24" name="Google Shape;124;p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Drupal's Ajax API isn't new - it's been part of core in its current form since Drupal 7, unified under a single framework. In Drupal 8 through 11, it was rebuilt on top of Symfony's HttpKernel - AjaxResponse extends Symfony's Response, and interactions are expressed as a stack of Command objects. It's mature, well-documented, and used everywhere in core - exposed filters, autocomplete, modal dialogs, inline entity forms. This isn't a story about a broken system. It's a story about a system that was the right answer for 2011, and is starting to show its age.</a:t>
            </a:r>
            <a:endParaRPr/>
          </a:p>
        </p:txBody>
      </p:sp>
      <p:sp>
        <p:nvSpPr>
          <p:cNvPr id="125" name="Google Shape;125;p8: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5" name="Shape 135"/>
        <p:cNvGrpSpPr/>
        <p:nvPr/>
      </p:nvGrpSpPr>
      <p:grpSpPr>
        <a:xfrm>
          <a:off x="0" y="0"/>
          <a:ext cx="0" cy="0"/>
          <a:chOff x="0" y="0"/>
          <a:chExt cx="0" cy="0"/>
        </a:xfrm>
      </p:grpSpPr>
      <p:sp>
        <p:nvSpPr>
          <p:cNvPr id="136" name="Google Shape;136;p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37" name="Google Shape;137;p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 form/render element gets an #ajax property: callback, wrapper, event. The callback runs server-side and returns an AjaxResponse built from one or more Commands. The client-side core/drupal.ajax library plus Drupal.behaviors interpret those commands and mutate the DOM.</a:t>
            </a:r>
            <a:endParaRPr/>
          </a:p>
        </p:txBody>
      </p:sp>
      <p:sp>
        <p:nvSpPr>
          <p:cNvPr id="138" name="Google Shape;138;p9: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7" name="Shape 147"/>
        <p:cNvGrpSpPr/>
        <p:nvPr/>
      </p:nvGrpSpPr>
      <p:grpSpPr>
        <a:xfrm>
          <a:off x="0" y="0"/>
          <a:ext cx="0" cy="0"/>
          <a:chOff x="0" y="0"/>
          <a:chExt cx="0" cy="0"/>
        </a:xfrm>
      </p:grpSpPr>
      <p:sp>
        <p:nvSpPr>
          <p:cNvPr id="148" name="Google Shape;148;p1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49" name="Google Shape;149;p1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Walk through the diagram: user triggers the #ajax event, browser sends an XHR to the callback, server builds an AjaxResponse with commands, browser interprets and updates the DOM.</a:t>
            </a:r>
            <a:endParaRPr/>
          </a:p>
        </p:txBody>
      </p:sp>
      <p:sp>
        <p:nvSpPr>
          <p:cNvPr id="150" name="Google Shape;150;p10: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5" name="Shape 155"/>
        <p:cNvGrpSpPr/>
        <p:nvPr/>
      </p:nvGrpSpPr>
      <p:grpSpPr>
        <a:xfrm>
          <a:off x="0" y="0"/>
          <a:ext cx="0" cy="0"/>
          <a:chOff x="0" y="0"/>
          <a:chExt cx="0" cy="0"/>
        </a:xfrm>
      </p:grpSpPr>
      <p:sp>
        <p:nvSpPr>
          <p:cNvPr id="156" name="Google Shape;156;p1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57" name="Google Shape;157;p1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Two files, two languages, and a wrapper ID string that has to match exactly in both places, or nothing happens - silently.</a:t>
            </a:r>
            <a:endParaRPr/>
          </a:p>
        </p:txBody>
      </p:sp>
      <p:sp>
        <p:nvSpPr>
          <p:cNvPr id="158" name="Google Shape;158;p11: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4" name="Shape 164"/>
        <p:cNvGrpSpPr/>
        <p:nvPr/>
      </p:nvGrpSpPr>
      <p:grpSpPr>
        <a:xfrm>
          <a:off x="0" y="0"/>
          <a:ext cx="0" cy="0"/>
          <a:chOff x="0" y="0"/>
          <a:chExt cx="0" cy="0"/>
        </a:xfrm>
      </p:grpSpPr>
      <p:sp>
        <p:nvSpPr>
          <p:cNvPr id="165" name="Google Shape;165;p1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66" name="Google Shape;166;p1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One string, defined in two files, in two languages, with no compiler or linter checking they agree. Get it wrong, and nothing throws an error - it just silently doesn't work.</a:t>
            </a:r>
            <a:endParaRPr/>
          </a:p>
        </p:txBody>
      </p:sp>
      <p:sp>
        <p:nvSpPr>
          <p:cNvPr id="167" name="Google Shape;167;p12: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2" name="Shape 172"/>
        <p:cNvGrpSpPr/>
        <p:nvPr/>
      </p:nvGrpSpPr>
      <p:grpSpPr>
        <a:xfrm>
          <a:off x="0" y="0"/>
          <a:ext cx="0" cy="0"/>
          <a:chOff x="0" y="0"/>
          <a:chExt cx="0" cy="0"/>
        </a:xfrm>
      </p:grpSpPr>
      <p:sp>
        <p:nvSpPr>
          <p:cNvPr id="173" name="Google Shape;173;p1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74" name="Google Shape;174;p1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Four pain points: JS coupling, complexity, maintenance overhead, discoverability.</a:t>
            </a:r>
            <a:endParaRPr/>
          </a:p>
        </p:txBody>
      </p:sp>
      <p:sp>
        <p:nvSpPr>
          <p:cNvPr id="175" name="Google Shape;175;p13: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p1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84" name="Google Shape;184;p1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I once spent 40 minutes in devtools debugging an Ajax response that updated one region but silently failed on another. The bug wasn't in the PHP, and it wasn't in the JS logic - it was a mismatched wrapper ID, one string, defined in a .js file three directories away from the PHP that built the response. Nothing threw an error. It just... didn't work. This is exactly the bug the earlier diagram illustrates.</a:t>
            </a:r>
            <a:endParaRPr/>
          </a:p>
        </p:txBody>
      </p:sp>
      <p:sp>
        <p:nvSpPr>
          <p:cNvPr id="185" name="Google Shape;185;p14: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0" name="Shape 190"/>
        <p:cNvGrpSpPr/>
        <p:nvPr/>
      </p:nvGrpSpPr>
      <p:grpSpPr>
        <a:xfrm>
          <a:off x="0" y="0"/>
          <a:ext cx="0" cy="0"/>
          <a:chOff x="0" y="0"/>
          <a:chExt cx="0" cy="0"/>
        </a:xfrm>
      </p:grpSpPr>
      <p:sp>
        <p:nvSpPr>
          <p:cNvPr id="191" name="Google Shape;191;p1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92" name="Google Shape;192;p1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So what if, instead of a PHP command and a matching JS behavior for every interaction, the element itself could just describe what it needs - when this changes, fetch this URL, and drop the result here? No command classes, no wrapper-ID matching, no second file to go find. What would that even look like? (pause, slide transition - next section opens with the reveal: That's not a hypothetical. It's called HTMX...)</a:t>
            </a:r>
            <a:endParaRPr/>
          </a:p>
        </p:txBody>
      </p:sp>
      <p:sp>
        <p:nvSpPr>
          <p:cNvPr id="193" name="Google Shape;193;p15: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9" name="Shape 199"/>
        <p:cNvGrpSpPr/>
        <p:nvPr/>
      </p:nvGrpSpPr>
      <p:grpSpPr>
        <a:xfrm>
          <a:off x="0" y="0"/>
          <a:ext cx="0" cy="0"/>
          <a:chOff x="0" y="0"/>
          <a:chExt cx="0" cy="0"/>
        </a:xfrm>
      </p:grpSpPr>
      <p:sp>
        <p:nvSpPr>
          <p:cNvPr id="200" name="Google Shape;200;p1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01" name="Google Shape;201;p1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That's not a hypothetical. It's called HTMX - and it's built on an idea that's actually older than Ajax: hypermedia.</a:t>
            </a:r>
            <a:endParaRPr/>
          </a:p>
        </p:txBody>
      </p:sp>
      <p:sp>
        <p:nvSpPr>
          <p:cNvPr id="202" name="Google Shape;202;p16: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6" name="Shape 206"/>
        <p:cNvGrpSpPr/>
        <p:nvPr/>
      </p:nvGrpSpPr>
      <p:grpSpPr>
        <a:xfrm>
          <a:off x="0" y="0"/>
          <a:ext cx="0" cy="0"/>
          <a:chOff x="0" y="0"/>
          <a:chExt cx="0" cy="0"/>
        </a:xfrm>
      </p:grpSpPr>
      <p:sp>
        <p:nvSpPr>
          <p:cNvPr id="207" name="Google Shape;207;p1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08" name="Google Shape;208;p1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You already know hypermedia. Every &lt;a href&gt; and every &lt;form&gt; you've ever written is a hypermedia control - an element that tells the browser what to fetch and where to put the result. HTMX just extends that vocabulary: any element, any event, any HTTP verb, any part of the page as the target.</a:t>
            </a:r>
            <a:endParaRPr/>
          </a:p>
        </p:txBody>
      </p:sp>
      <p:sp>
        <p:nvSpPr>
          <p:cNvPr id="209" name="Google Shape;209;p17: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4" name="Shape 214"/>
        <p:cNvGrpSpPr/>
        <p:nvPr/>
      </p:nvGrpSpPr>
      <p:grpSpPr>
        <a:xfrm>
          <a:off x="0" y="0"/>
          <a:ext cx="0" cy="0"/>
          <a:chOff x="0" y="0"/>
          <a:chExt cx="0" cy="0"/>
        </a:xfrm>
      </p:grpSpPr>
      <p:sp>
        <p:nvSpPr>
          <p:cNvPr id="215" name="Google Shape;215;p1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16" name="Google Shape;216;p1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One element. Four attributes. The behavior lives right there in the tag - no PHP file to go find, no wrapper ID to keep in sync across two files.</a:t>
            </a:r>
            <a:endParaRPr/>
          </a:p>
        </p:txBody>
      </p:sp>
      <p:sp>
        <p:nvSpPr>
          <p:cNvPr id="217" name="Google Shape;217;p18: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p1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25" name="Google Shape;225;p1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Compare that to the version you saw ten minutes ago: same three participants - user, browser, server - but seven steps instead of four.</a:t>
            </a:r>
            <a:endParaRPr/>
          </a:p>
        </p:txBody>
      </p:sp>
      <p:sp>
        <p:nvSpPr>
          <p:cNvPr id="226" name="Google Shape;226;p19: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2" name="Shape 232"/>
        <p:cNvGrpSpPr/>
        <p:nvPr/>
      </p:nvGrpSpPr>
      <p:grpSpPr>
        <a:xfrm>
          <a:off x="0" y="0"/>
          <a:ext cx="0" cy="0"/>
          <a:chOff x="0" y="0"/>
          <a:chExt cx="0" cy="0"/>
        </a:xfrm>
      </p:grpSpPr>
      <p:sp>
        <p:nvSpPr>
          <p:cNvPr id="233" name="Google Shape;233;p2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34" name="Google Shape;234;p2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There's no separate JSON API here, no client-side templating layer reconstructing HTML from data. The server decides what HTML comes back - same as it always has for the initial page load. HTMX isn't a new architecture. It's closing the gap between 'first page load' and 'everything after,' so both work the same way. That's what 'hypermedia-driven' means - the response is the next state of the UI, already rendered.</a:t>
            </a:r>
            <a:endParaRPr/>
          </a:p>
        </p:txBody>
      </p:sp>
      <p:sp>
        <p:nvSpPr>
          <p:cNvPr id="235" name="Google Shape;235;p20: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0" name="Shape 240"/>
        <p:cNvGrpSpPr/>
        <p:nvPr/>
      </p:nvGrpSpPr>
      <p:grpSpPr>
        <a:xfrm>
          <a:off x="0" y="0"/>
          <a:ext cx="0" cy="0"/>
          <a:chOff x="0" y="0"/>
          <a:chExt cx="0" cy="0"/>
        </a:xfrm>
      </p:grpSpPr>
      <p:sp>
        <p:nvSpPr>
          <p:cNvPr id="241" name="Google Shape;241;p2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42" name="Google Shape;242;p2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Four core attributes: verb (hx-get/post/put/delete), trigger (hx-trigger - any DOM event), target (hx-target - any element), swap (hx-swap - innerHTML, outerHTML, beforeend, afterbegin, and more).</a:t>
            </a:r>
            <a:endParaRPr/>
          </a:p>
        </p:txBody>
      </p:sp>
      <p:sp>
        <p:nvSpPr>
          <p:cNvPr id="243" name="Google Shape;243;p21: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0" name="Shape 250"/>
        <p:cNvGrpSpPr/>
        <p:nvPr/>
      </p:nvGrpSpPr>
      <p:grpSpPr>
        <a:xfrm>
          <a:off x="0" y="0"/>
          <a:ext cx="0" cy="0"/>
          <a:chOff x="0" y="0"/>
          <a:chExt cx="0" cy="0"/>
        </a:xfrm>
      </p:grpSpPr>
      <p:sp>
        <p:nvSpPr>
          <p:cNvPr id="251" name="Google Shape;251;p2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52" name="Google Shape;252;p2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So HTMX gives Drupal back a vocabulary it never actually lost - hypermedia. The real question is how that maps onto Drupal's own architecture: render arrays, routing, caching. That's next.</a:t>
            </a:r>
            <a:endParaRPr/>
          </a:p>
        </p:txBody>
      </p:sp>
      <p:sp>
        <p:nvSpPr>
          <p:cNvPr id="253" name="Google Shape;253;p22: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7" name="Shape 257"/>
        <p:cNvGrpSpPr/>
        <p:nvPr/>
      </p:nvGrpSpPr>
      <p:grpSpPr>
        <a:xfrm>
          <a:off x="0" y="0"/>
          <a:ext cx="0" cy="0"/>
          <a:chOff x="0" y="0"/>
          <a:chExt cx="0" cy="0"/>
        </a:xfrm>
      </p:grpSpPr>
      <p:sp>
        <p:nvSpPr>
          <p:cNvPr id="258" name="Google Shape;258;p2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59" name="Google Shape;259;p2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Let's map HTMX onto three things Drupal already has.</a:t>
            </a:r>
            <a:endParaRPr/>
          </a:p>
        </p:txBody>
      </p:sp>
      <p:sp>
        <p:nvSpPr>
          <p:cNvPr id="260" name="Google Shape;260;p23: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4" name="Shape 264"/>
        <p:cNvGrpSpPr/>
        <p:nvPr/>
      </p:nvGrpSpPr>
      <p:grpSpPr>
        <a:xfrm>
          <a:off x="0" y="0"/>
          <a:ext cx="0" cy="0"/>
          <a:chOff x="0" y="0"/>
          <a:chExt cx="0" cy="0"/>
        </a:xfrm>
      </p:grpSpPr>
      <p:sp>
        <p:nvSpPr>
          <p:cNvPr id="265" name="Google Shape;265;p2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66" name="Google Shape;266;p2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HTMX doesn't need anything special from Drupal. It needs three things Drupal already has, and has had for over a decade: routes, render arrays, and cache metadata. Let's map them one at a time.</a:t>
            </a:r>
            <a:endParaRPr/>
          </a:p>
        </p:txBody>
      </p:sp>
      <p:sp>
        <p:nvSpPr>
          <p:cNvPr id="267" name="Google Shape;267;p24: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2" name="Shape 272"/>
        <p:cNvGrpSpPr/>
        <p:nvPr/>
      </p:nvGrpSpPr>
      <p:grpSpPr>
        <a:xfrm>
          <a:off x="0" y="0"/>
          <a:ext cx="0" cy="0"/>
          <a:chOff x="0" y="0"/>
          <a:chExt cx="0" cy="0"/>
        </a:xfrm>
      </p:grpSpPr>
      <p:sp>
        <p:nvSpPr>
          <p:cNvPr id="273" name="Google Shape;273;p2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74" name="Google Shape;274;p2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An hx-get URL isn't a special Ajax callback - it's a normal Drupal route. No #ajax property, no form-building context required.</a:t>
            </a:r>
            <a:endParaRPr/>
          </a:p>
        </p:txBody>
      </p:sp>
      <p:sp>
        <p:nvSpPr>
          <p:cNvPr id="275" name="Google Shape;275;p25: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1" name="Shape 281"/>
        <p:cNvGrpSpPr/>
        <p:nvPr/>
      </p:nvGrpSpPr>
      <p:grpSpPr>
        <a:xfrm>
          <a:off x="0" y="0"/>
          <a:ext cx="0" cy="0"/>
          <a:chOff x="0" y="0"/>
          <a:chExt cx="0" cy="0"/>
        </a:xfrm>
      </p:grpSpPr>
      <p:sp>
        <p:nvSpPr>
          <p:cNvPr id="282" name="Google Shape;282;p2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83" name="Google Shape;283;p2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controller returns a render array - the same thing every Drupal controller has always returned. Drupal renders it to HTML. HTMX drops that HTML wherever hx-target points. No AjaxResponse, no Commands - the render pipeline was already built to produce exactly this.</a:t>
            </a:r>
            <a:endParaRPr/>
          </a:p>
        </p:txBody>
      </p:sp>
      <p:sp>
        <p:nvSpPr>
          <p:cNvPr id="284" name="Google Shape;284;p26: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1" name="Shape 291"/>
        <p:cNvGrpSpPr/>
        <p:nvPr/>
      </p:nvGrpSpPr>
      <p:grpSpPr>
        <a:xfrm>
          <a:off x="0" y="0"/>
          <a:ext cx="0" cy="0"/>
          <a:chOff x="0" y="0"/>
          <a:chExt cx="0" cy="0"/>
        </a:xfrm>
      </p:grpSpPr>
      <p:sp>
        <p:nvSpPr>
          <p:cNvPr id="292" name="Google Shape;292;p2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93" name="Google Shape;293;p2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Here's the part that doesn't exist for the Ajax API without extra work: because this is a plain render array, it gets Drupal's caching for free. Cache tags bubble up automatically, cache contexts vary the response correctly. An AjaxResponse built from Commands doesn't sit in that pipeline the same way - you're mostly on your own for caching an Ajax callback response.</a:t>
            </a:r>
            <a:endParaRPr/>
          </a:p>
        </p:txBody>
      </p:sp>
      <p:sp>
        <p:nvSpPr>
          <p:cNvPr id="294" name="Google Shape;294;p27: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0" name="Shape 300"/>
        <p:cNvGrpSpPr/>
        <p:nvPr/>
      </p:nvGrpSpPr>
      <p:grpSpPr>
        <a:xfrm>
          <a:off x="0" y="0"/>
          <a:ext cx="0" cy="0"/>
          <a:chOff x="0" y="0"/>
          <a:chExt cx="0" cy="0"/>
        </a:xfrm>
      </p:grpSpPr>
      <p:sp>
        <p:nvSpPr>
          <p:cNvPr id="301" name="Google Shape;301;p2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02" name="Google Shape;302;p2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Three things Drupal already gives every page. HTMX just asks for them directly, without a translation layer in between. Let's see it work.</a:t>
            </a:r>
            <a:endParaRPr/>
          </a:p>
        </p:txBody>
      </p:sp>
      <p:sp>
        <p:nvSpPr>
          <p:cNvPr id="303" name="Google Shape;303;p28: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9" name="Shape 309"/>
        <p:cNvGrpSpPr/>
        <p:nvPr/>
      </p:nvGrpSpPr>
      <p:grpSpPr>
        <a:xfrm>
          <a:off x="0" y="0"/>
          <a:ext cx="0" cy="0"/>
          <a:chOff x="0" y="0"/>
          <a:chExt cx="0" cy="0"/>
        </a:xfrm>
      </p:grpSpPr>
      <p:sp>
        <p:nvSpPr>
          <p:cNvPr id="310" name="Google Shape;310;p2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11" name="Google Shape;311;p2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[Live demo - build/walk through here] One combined demo covering the dynamic form, filter, and partial update in a single flow, per the session-flow design note.</a:t>
            </a:r>
            <a:endParaRPr/>
          </a:p>
        </p:txBody>
      </p:sp>
      <p:sp>
        <p:nvSpPr>
          <p:cNvPr id="312" name="Google Shape;312;p29: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7" name="Shape 317"/>
        <p:cNvGrpSpPr/>
        <p:nvPr/>
      </p:nvGrpSpPr>
      <p:grpSpPr>
        <a:xfrm>
          <a:off x="0" y="0"/>
          <a:ext cx="0" cy="0"/>
          <a:chOff x="0" y="0"/>
          <a:chExt cx="0" cy="0"/>
        </a:xfrm>
      </p:grpSpPr>
      <p:sp>
        <p:nvSpPr>
          <p:cNvPr id="318" name="Google Shape;318;p3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19" name="Google Shape;319;p3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HTMX doesn't win everywhere. Let's put the two side by side across four axes, honestly.</a:t>
            </a:r>
            <a:endParaRPr/>
          </a:p>
        </p:txBody>
      </p:sp>
      <p:sp>
        <p:nvSpPr>
          <p:cNvPr id="320" name="Google Shape;320;p30: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4" name="Shape 324"/>
        <p:cNvGrpSpPr/>
        <p:nvPr/>
      </p:nvGrpSpPr>
      <p:grpSpPr>
        <a:xfrm>
          <a:off x="0" y="0"/>
          <a:ext cx="0" cy="0"/>
          <a:chOff x="0" y="0"/>
          <a:chExt cx="0" cy="0"/>
        </a:xfrm>
      </p:grpSpPr>
      <p:sp>
        <p:nvSpPr>
          <p:cNvPr id="325" name="Google Shape;325;p3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26" name="Google Shape;326;p3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DX: the Ajax API is more ceremony, but deeply integrated with Form API - multi-step wizards and validation come free. HTMX is far less ceremony, but state management for anything multi-step is on you. Performance: an Ajax response is a JSON command stack interpreted by core/drupal.ajax, with Drupal.behaviors reattaching on every response. HTMX ships a ~14kb library, and the response is the HTML fragment itself.</a:t>
            </a:r>
            <a:endParaRPr/>
          </a:p>
        </p:txBody>
      </p:sp>
      <p:sp>
        <p:nvSpPr>
          <p:cNvPr id="327" name="Google Shape;327;p31: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6" name="Shape 336"/>
        <p:cNvGrpSpPr/>
        <p:nvPr/>
      </p:nvGrpSpPr>
      <p:grpSpPr>
        <a:xfrm>
          <a:off x="0" y="0"/>
          <a:ext cx="0" cy="0"/>
          <a:chOff x="0" y="0"/>
          <a:chExt cx="0" cy="0"/>
        </a:xfrm>
      </p:grpSpPr>
      <p:sp>
        <p:nvSpPr>
          <p:cNvPr id="337" name="Google Shape;337;p3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38" name="Google Shape;338;p3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Debugging: in the Ajax API, the Network tab shows an opaque command stack, and a wrapper-ID typo fails silently. With HTMX, the Network tab shows the literal HTML that got inserted. Progressive enhancement: both are progressive by construction, layering JS onto a real form/link element - but honestly, this axis is close to a wash, since both are rarely tested with JS actually disabled.</a:t>
            </a:r>
            <a:endParaRPr/>
          </a:p>
        </p:txBody>
      </p:sp>
      <p:sp>
        <p:nvSpPr>
          <p:cNvPr id="339" name="Google Shape;339;p32: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7" name="Shape 347"/>
        <p:cNvGrpSpPr/>
        <p:nvPr/>
      </p:nvGrpSpPr>
      <p:grpSpPr>
        <a:xfrm>
          <a:off x="0" y="0"/>
          <a:ext cx="0" cy="0"/>
          <a:chOff x="0" y="0"/>
          <a:chExt cx="0" cy="0"/>
        </a:xfrm>
      </p:grpSpPr>
      <p:sp>
        <p:nvSpPr>
          <p:cNvPr id="348" name="Google Shape;348;p3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49" name="Google Shape;349;p3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Four axes, side by side. Progressive enhancement stays a wash on purpose - this isn't a clean sweep for either tool.</a:t>
            </a:r>
            <a:endParaRPr/>
          </a:p>
        </p:txBody>
      </p:sp>
      <p:sp>
        <p:nvSpPr>
          <p:cNvPr id="350" name="Google Shape;350;p33: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4" name="Shape 354"/>
        <p:cNvGrpSpPr/>
        <p:nvPr/>
      </p:nvGrpSpPr>
      <p:grpSpPr>
        <a:xfrm>
          <a:off x="0" y="0"/>
          <a:ext cx="0" cy="0"/>
          <a:chOff x="0" y="0"/>
          <a:chExt cx="0" cy="0"/>
        </a:xfrm>
      </p:grpSpPr>
      <p:sp>
        <p:nvSpPr>
          <p:cNvPr id="355" name="Google Shape;355;p3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56" name="Google Shape;356;p3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Pick HTMX where round trips are simple and the UI is a fragment. Keep the Ajax API - or Drupal's own wizard-form machinery - where you need genuine multi-step state. This isn't a replace-everything story. It's a which-tool-for-which-job story. Next: how to actually bring HTMX into a project you already have, without a rewrite.</a:t>
            </a:r>
            <a:endParaRPr/>
          </a:p>
        </p:txBody>
      </p:sp>
      <p:sp>
        <p:nvSpPr>
          <p:cNvPr id="357" name="Google Shape;357;p34: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1" name="Shape 361"/>
        <p:cNvGrpSpPr/>
        <p:nvPr/>
      </p:nvGrpSpPr>
      <p:grpSpPr>
        <a:xfrm>
          <a:off x="0" y="0"/>
          <a:ext cx="0" cy="0"/>
          <a:chOff x="0" y="0"/>
          <a:chExt cx="0" cy="0"/>
        </a:xfrm>
      </p:grpSpPr>
      <p:sp>
        <p:nvSpPr>
          <p:cNvPr id="362" name="Google Shape;362;p3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63" name="Google Shape;363;p3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[Incremental adoption strategy - build later] How to introduce HTMX into an existing Drupal project without a rewrite.</a:t>
            </a:r>
            <a:endParaRPr/>
          </a:p>
        </p:txBody>
      </p:sp>
      <p:sp>
        <p:nvSpPr>
          <p:cNvPr id="364" name="Google Shape;364;p35: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blipFill>
          <a:blip r:embed="rId2">
            <a:alphaModFix/>
          </a:blip>
          <a:stretch>
            <a:fillRect/>
          </a:stretch>
        </a:blipFill>
      </p:bgPr>
    </p:bg>
    <p:spTree>
      <p:nvGrpSpPr>
        <p:cNvPr id="11" name="Shape 11"/>
        <p:cNvGrpSpPr/>
        <p:nvPr/>
      </p:nvGrpSpPr>
      <p:grpSpPr>
        <a:xfrm>
          <a:off x="0" y="0"/>
          <a:ext cx="0" cy="0"/>
          <a:chOff x="0" y="0"/>
          <a:chExt cx="0" cy="0"/>
        </a:xfrm>
      </p:grpSpPr>
      <p:sp>
        <p:nvSpPr>
          <p:cNvPr id="12" name="Google Shape;12;p2"/>
          <p:cNvSpPr txBox="1"/>
          <p:nvPr>
            <p:ph type="ctrTitle"/>
          </p:nvPr>
        </p:nvSpPr>
        <p:spPr>
          <a:xfrm>
            <a:off x="838200" y="1696085"/>
            <a:ext cx="10833100" cy="1408430"/>
          </a:xfrm>
          <a:prstGeom prst="rect">
            <a:avLst/>
          </a:prstGeom>
          <a:noFill/>
          <a:ln>
            <a:noFill/>
          </a:ln>
        </p:spPr>
        <p:txBody>
          <a:bodyPr anchorCtr="0" anchor="b" bIns="45700" lIns="91425" spcFirstLastPara="1" rIns="91425" wrap="square" tIns="45700">
            <a:normAutofit/>
          </a:bodyPr>
          <a:lstStyle>
            <a:lvl1pPr lvl="0" algn="ctr">
              <a:lnSpc>
                <a:spcPct val="90000"/>
              </a:lnSpc>
              <a:spcBef>
                <a:spcPts val="0"/>
              </a:spcBef>
              <a:spcAft>
                <a:spcPts val="0"/>
              </a:spcAft>
              <a:buClr>
                <a:srgbClr val="23325D"/>
              </a:buClr>
              <a:buSzPts val="6000"/>
              <a:buFont typeface="Calibri"/>
              <a:buNone/>
              <a:defRPr b="1" sz="6000">
                <a:solidFill>
                  <a:srgbClr val="23325D"/>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3" name="Google Shape;13;p2"/>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4" name="Google Shape;14;p2"/>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5" name="Google Shape;15;p2"/>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bg>
      <p:bgPr>
        <a:noFill/>
      </p:bgPr>
    </p:bg>
    <p:spTree>
      <p:nvGrpSpPr>
        <p:cNvPr id="16" name="Shape 16"/>
        <p:cNvGrpSpPr/>
        <p:nvPr/>
      </p:nvGrpSpPr>
      <p:grpSpPr>
        <a:xfrm>
          <a:off x="0" y="0"/>
          <a:ext cx="0" cy="0"/>
          <a:chOff x="0" y="0"/>
          <a:chExt cx="0" cy="0"/>
        </a:xfrm>
      </p:grpSpPr>
      <p:sp>
        <p:nvSpPr>
          <p:cNvPr id="17" name="Google Shape;17;p3"/>
          <p:cNvSpPr txBox="1"/>
          <p:nvPr>
            <p:ph type="title"/>
          </p:nvPr>
        </p:nvSpPr>
        <p:spPr>
          <a:xfrm>
            <a:off x="322580" y="2272665"/>
            <a:ext cx="11376660" cy="948055"/>
          </a:xfrm>
          <a:prstGeom prst="rect">
            <a:avLst/>
          </a:prstGeom>
          <a:noFill/>
          <a:ln>
            <a:noFill/>
          </a:ln>
        </p:spPr>
        <p:txBody>
          <a:bodyPr anchorCtr="0" anchor="ctr" bIns="45700" lIns="91425" spcFirstLastPara="1" rIns="91425" wrap="square" tIns="45700">
            <a:normAutofit/>
          </a:bodyPr>
          <a:lstStyle>
            <a:lvl1pPr lvl="0" algn="ctr">
              <a:lnSpc>
                <a:spcPct val="90000"/>
              </a:lnSpc>
              <a:spcBef>
                <a:spcPts val="0"/>
              </a:spcBef>
              <a:spcAft>
                <a:spcPts val="0"/>
              </a:spcAft>
              <a:buClr>
                <a:schemeClr val="lt1"/>
              </a:buClr>
              <a:buSzPts val="4400"/>
              <a:buFont typeface="Calibri"/>
              <a:buNone/>
              <a:defRPr b="1">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3"/>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9" name="Google Shape;19;p3"/>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3"/>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
        <p:nvSpPr>
          <p:cNvPr id="21" name="Google Shape;21;p3"/>
          <p:cNvSpPr txBox="1"/>
          <p:nvPr/>
        </p:nvSpPr>
        <p:spPr>
          <a:xfrm>
            <a:off x="328295" y="3268345"/>
            <a:ext cx="11351260" cy="3683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bg>
      <p:bgPr>
        <a:blipFill>
          <a:blip r:embed="rId2">
            <a:alphaModFix/>
          </a:blip>
          <a:stretch>
            <a:fillRect/>
          </a:stretch>
        </a:blipFill>
      </p:bgPr>
    </p:bg>
    <p:spTree>
      <p:nvGrpSpPr>
        <p:cNvPr id="22" name="Shape 22"/>
        <p:cNvGrpSpPr/>
        <p:nvPr/>
      </p:nvGrpSpPr>
      <p:grpSpPr>
        <a:xfrm>
          <a:off x="0" y="0"/>
          <a:ext cx="0" cy="0"/>
          <a:chOff x="0" y="0"/>
          <a:chExt cx="0" cy="0"/>
        </a:xfrm>
      </p:grpSpPr>
      <p:sp>
        <p:nvSpPr>
          <p:cNvPr id="23" name="Google Shape;23;p4"/>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rgbClr val="23325D"/>
              </a:buClr>
              <a:buSzPts val="4400"/>
              <a:buFont typeface="Calibri"/>
              <a:buNone/>
              <a:defRPr b="1">
                <a:solidFill>
                  <a:srgbClr val="23325D"/>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4" name="Google Shape;24;p4"/>
          <p:cNvSpPr txBox="1"/>
          <p:nvPr>
            <p:ph idx="1" type="body"/>
          </p:nvPr>
        </p:nvSpPr>
        <p:spPr>
          <a:xfrm>
            <a:off x="838200" y="1825625"/>
            <a:ext cx="10515600" cy="3849618"/>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25" name="Google Shape;25;p4"/>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6" name="Google Shape;26;p4"/>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7" name="Google Shape;27;p4"/>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_ 4">
  <p:cSld name="Content _ 4">
    <p:bg>
      <p:bgPr>
        <a:blipFill>
          <a:blip r:embed="rId2">
            <a:alphaModFix/>
          </a:blip>
          <a:stretch>
            <a:fillRect/>
          </a:stretch>
        </a:blipFill>
      </p:bgPr>
    </p:bg>
    <p:spTree>
      <p:nvGrpSpPr>
        <p:cNvPr id="28" name="Shape 28"/>
        <p:cNvGrpSpPr/>
        <p:nvPr/>
      </p:nvGrpSpPr>
      <p:grpSpPr>
        <a:xfrm>
          <a:off x="0" y="0"/>
          <a:ext cx="0" cy="0"/>
          <a:chOff x="0" y="0"/>
          <a:chExt cx="0" cy="0"/>
        </a:xfrm>
      </p:grpSpPr>
      <p:sp>
        <p:nvSpPr>
          <p:cNvPr id="29" name="Google Shape;29;p5"/>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0" name="Google Shape;30;p5"/>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1" name="Google Shape;31;p5"/>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
        <p:nvSpPr>
          <p:cNvPr id="32" name="Google Shape;32;p5"/>
          <p:cNvSpPr txBox="1"/>
          <p:nvPr>
            <p:ph type="title"/>
          </p:nvPr>
        </p:nvSpPr>
        <p:spPr>
          <a:xfrm>
            <a:off x="553720" y="2269490"/>
            <a:ext cx="10760710" cy="1231900"/>
          </a:xfrm>
          <a:prstGeom prst="rect">
            <a:avLst/>
          </a:prstGeom>
          <a:noFill/>
          <a:ln>
            <a:noFill/>
          </a:ln>
        </p:spPr>
        <p:txBody>
          <a:bodyPr anchorCtr="0" anchor="t" bIns="45700" lIns="91425" spcFirstLastPara="1" rIns="91425" wrap="square" tIns="45700">
            <a:normAutofit/>
          </a:bodyPr>
          <a:lstStyle>
            <a:lvl1pPr lvl="0" algn="ctr">
              <a:lnSpc>
                <a:spcPct val="90000"/>
              </a:lnSpc>
              <a:spcBef>
                <a:spcPts val="0"/>
              </a:spcBef>
              <a:spcAft>
                <a:spcPts val="0"/>
              </a:spcAft>
              <a:buClr>
                <a:schemeClr val="lt1"/>
              </a:buClr>
              <a:buSzPts val="6000"/>
              <a:buFont typeface="Calibri"/>
              <a:buNone/>
              <a:defRPr b="1" sz="60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3" name="Google Shape;33;p5"/>
          <p:cNvSpPr txBox="1"/>
          <p:nvPr>
            <p:ph idx="1" type="body"/>
          </p:nvPr>
        </p:nvSpPr>
        <p:spPr>
          <a:xfrm>
            <a:off x="593090" y="3501390"/>
            <a:ext cx="10760710" cy="614045"/>
          </a:xfrm>
          <a:prstGeom prst="rect">
            <a:avLst/>
          </a:prstGeom>
          <a:noFill/>
          <a:ln>
            <a:noFill/>
          </a:ln>
        </p:spPr>
        <p:txBody>
          <a:bodyPr anchorCtr="0" anchor="t" bIns="45700" lIns="91425" spcFirstLastPara="1" rIns="91425" wrap="square" tIns="45700">
            <a:normAutofit/>
          </a:bodyPr>
          <a:lstStyle>
            <a:lvl1pPr indent="-228600" lvl="0" marL="457200" algn="ctr">
              <a:lnSpc>
                <a:spcPct val="90000"/>
              </a:lnSpc>
              <a:spcBef>
                <a:spcPts val="1000"/>
              </a:spcBef>
              <a:spcAft>
                <a:spcPts val="0"/>
              </a:spcAft>
              <a:buClr>
                <a:srgbClr val="FFC428"/>
              </a:buClr>
              <a:buSzPts val="3200"/>
              <a:buNone/>
              <a:defRPr sz="3200">
                <a:solidFill>
                  <a:srgbClr val="FFC428"/>
                </a:solidFill>
              </a:defRPr>
            </a:lvl1pPr>
            <a:lvl2pPr indent="-228600" lvl="1" marL="914400" algn="l">
              <a:lnSpc>
                <a:spcPct val="90000"/>
              </a:lnSpc>
              <a:spcBef>
                <a:spcPts val="500"/>
              </a:spcBef>
              <a:spcAft>
                <a:spcPts val="0"/>
              </a:spcAft>
              <a:buClr>
                <a:srgbClr val="757575"/>
              </a:buClr>
              <a:buSzPts val="2000"/>
              <a:buNone/>
              <a:defRPr sz="2000">
                <a:solidFill>
                  <a:srgbClr val="757575"/>
                </a:solidFill>
              </a:defRPr>
            </a:lvl2pPr>
            <a:lvl3pPr indent="-228600" lvl="2" marL="1371600" algn="l">
              <a:lnSpc>
                <a:spcPct val="90000"/>
              </a:lnSpc>
              <a:spcBef>
                <a:spcPts val="500"/>
              </a:spcBef>
              <a:spcAft>
                <a:spcPts val="0"/>
              </a:spcAft>
              <a:buClr>
                <a:srgbClr val="757575"/>
              </a:buClr>
              <a:buSzPts val="1800"/>
              <a:buNone/>
              <a:defRPr sz="1800">
                <a:solidFill>
                  <a:srgbClr val="757575"/>
                </a:solidFill>
              </a:defRPr>
            </a:lvl3pPr>
            <a:lvl4pPr indent="-228600" lvl="3" marL="1828800" algn="l">
              <a:lnSpc>
                <a:spcPct val="90000"/>
              </a:lnSpc>
              <a:spcBef>
                <a:spcPts val="500"/>
              </a:spcBef>
              <a:spcAft>
                <a:spcPts val="0"/>
              </a:spcAft>
              <a:buClr>
                <a:srgbClr val="757575"/>
              </a:buClr>
              <a:buSzPts val="1600"/>
              <a:buNone/>
              <a:defRPr sz="1600">
                <a:solidFill>
                  <a:srgbClr val="757575"/>
                </a:solidFill>
              </a:defRPr>
            </a:lvl4pPr>
            <a:lvl5pPr indent="-228600" lvl="4" marL="2286000" algn="l">
              <a:lnSpc>
                <a:spcPct val="90000"/>
              </a:lnSpc>
              <a:spcBef>
                <a:spcPts val="500"/>
              </a:spcBef>
              <a:spcAft>
                <a:spcPts val="0"/>
              </a:spcAft>
              <a:buClr>
                <a:srgbClr val="757575"/>
              </a:buClr>
              <a:buSzPts val="1600"/>
              <a:buNone/>
              <a:defRPr sz="1600">
                <a:solidFill>
                  <a:srgbClr val="757575"/>
                </a:solidFill>
              </a:defRPr>
            </a:lvl5pPr>
            <a:lvl6pPr indent="-228600" lvl="5" marL="2743200" algn="l">
              <a:lnSpc>
                <a:spcPct val="90000"/>
              </a:lnSpc>
              <a:spcBef>
                <a:spcPts val="500"/>
              </a:spcBef>
              <a:spcAft>
                <a:spcPts val="0"/>
              </a:spcAft>
              <a:buClr>
                <a:srgbClr val="757575"/>
              </a:buClr>
              <a:buSzPts val="1600"/>
              <a:buNone/>
              <a:defRPr sz="1600">
                <a:solidFill>
                  <a:srgbClr val="757575"/>
                </a:solidFill>
              </a:defRPr>
            </a:lvl6pPr>
            <a:lvl7pPr indent="-228600" lvl="6" marL="3200400" algn="l">
              <a:lnSpc>
                <a:spcPct val="90000"/>
              </a:lnSpc>
              <a:spcBef>
                <a:spcPts val="500"/>
              </a:spcBef>
              <a:spcAft>
                <a:spcPts val="0"/>
              </a:spcAft>
              <a:buClr>
                <a:srgbClr val="757575"/>
              </a:buClr>
              <a:buSzPts val="1600"/>
              <a:buNone/>
              <a:defRPr sz="1600">
                <a:solidFill>
                  <a:srgbClr val="757575"/>
                </a:solidFill>
              </a:defRPr>
            </a:lvl7pPr>
            <a:lvl8pPr indent="-228600" lvl="7" marL="3657600" algn="l">
              <a:lnSpc>
                <a:spcPct val="90000"/>
              </a:lnSpc>
              <a:spcBef>
                <a:spcPts val="500"/>
              </a:spcBef>
              <a:spcAft>
                <a:spcPts val="0"/>
              </a:spcAft>
              <a:buClr>
                <a:srgbClr val="757575"/>
              </a:buClr>
              <a:buSzPts val="1600"/>
              <a:buNone/>
              <a:defRPr sz="1600">
                <a:solidFill>
                  <a:srgbClr val="757575"/>
                </a:solidFill>
              </a:defRPr>
            </a:lvl8pPr>
            <a:lvl9pPr indent="-228600" lvl="8" marL="4114800" algn="l">
              <a:lnSpc>
                <a:spcPct val="90000"/>
              </a:lnSpc>
              <a:spcBef>
                <a:spcPts val="500"/>
              </a:spcBef>
              <a:spcAft>
                <a:spcPts val="0"/>
              </a:spcAft>
              <a:buClr>
                <a:srgbClr val="757575"/>
              </a:buClr>
              <a:buSzPts val="1600"/>
              <a:buNone/>
              <a:defRPr sz="1600">
                <a:solidFill>
                  <a:srgbClr val="757575"/>
                </a:solidFill>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blipFill>
          <a:blip r:embed="rId2">
            <a:alphaModFix/>
          </a:blip>
          <a:stretch>
            <a:fillRect/>
          </a:stretch>
        </a:blipFill>
      </p:bgPr>
    </p:bg>
    <p:spTree>
      <p:nvGrpSpPr>
        <p:cNvPr id="34" name="Shape 34"/>
        <p:cNvGrpSpPr/>
        <p:nvPr/>
      </p:nvGrpSpPr>
      <p:grpSpPr>
        <a:xfrm>
          <a:off x="0" y="0"/>
          <a:ext cx="0" cy="0"/>
          <a:chOff x="0" y="0"/>
          <a:chExt cx="0" cy="0"/>
        </a:xfrm>
      </p:grpSpPr>
      <p:sp>
        <p:nvSpPr>
          <p:cNvPr id="35" name="Google Shape;35;p6"/>
          <p:cNvSpPr txBox="1"/>
          <p:nvPr>
            <p:ph type="title"/>
          </p:nvPr>
        </p:nvSpPr>
        <p:spPr>
          <a:xfrm>
            <a:off x="887095" y="1533525"/>
            <a:ext cx="10835640" cy="1085850"/>
          </a:xfrm>
          <a:prstGeom prst="rect">
            <a:avLst/>
          </a:prstGeom>
          <a:noFill/>
          <a:ln>
            <a:noFill/>
          </a:ln>
        </p:spPr>
        <p:txBody>
          <a:bodyPr anchorCtr="0" anchor="t" bIns="45700" lIns="91425" spcFirstLastPara="1" rIns="91425" wrap="square" tIns="45700">
            <a:normAutofit/>
          </a:bodyPr>
          <a:lstStyle>
            <a:lvl1pPr lvl="0" algn="l">
              <a:lnSpc>
                <a:spcPct val="90000"/>
              </a:lnSpc>
              <a:spcBef>
                <a:spcPts val="0"/>
              </a:spcBef>
              <a:spcAft>
                <a:spcPts val="0"/>
              </a:spcAft>
              <a:buClr>
                <a:srgbClr val="23325D"/>
              </a:buClr>
              <a:buSzPts val="4400"/>
              <a:buFont typeface="Calibri"/>
              <a:buNone/>
              <a:defRPr b="1" sz="4400">
                <a:solidFill>
                  <a:srgbClr val="23325D"/>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6" name="Google Shape;36;p6"/>
          <p:cNvSpPr txBox="1"/>
          <p:nvPr>
            <p:ph idx="1" type="body"/>
          </p:nvPr>
        </p:nvSpPr>
        <p:spPr>
          <a:xfrm>
            <a:off x="887095" y="2679065"/>
            <a:ext cx="10835640" cy="1499870"/>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rgbClr val="757575"/>
              </a:buClr>
              <a:buSzPts val="2400"/>
              <a:buNone/>
              <a:defRPr sz="2400">
                <a:solidFill>
                  <a:srgbClr val="757575"/>
                </a:solidFill>
              </a:defRPr>
            </a:lvl1pPr>
            <a:lvl2pPr indent="-228600" lvl="1" marL="914400" algn="l">
              <a:lnSpc>
                <a:spcPct val="90000"/>
              </a:lnSpc>
              <a:spcBef>
                <a:spcPts val="500"/>
              </a:spcBef>
              <a:spcAft>
                <a:spcPts val="0"/>
              </a:spcAft>
              <a:buClr>
                <a:srgbClr val="757575"/>
              </a:buClr>
              <a:buSzPts val="2000"/>
              <a:buNone/>
              <a:defRPr sz="2000">
                <a:solidFill>
                  <a:srgbClr val="757575"/>
                </a:solidFill>
              </a:defRPr>
            </a:lvl2pPr>
            <a:lvl3pPr indent="-228600" lvl="2" marL="1371600" algn="l">
              <a:lnSpc>
                <a:spcPct val="90000"/>
              </a:lnSpc>
              <a:spcBef>
                <a:spcPts val="500"/>
              </a:spcBef>
              <a:spcAft>
                <a:spcPts val="0"/>
              </a:spcAft>
              <a:buClr>
                <a:srgbClr val="757575"/>
              </a:buClr>
              <a:buSzPts val="1800"/>
              <a:buNone/>
              <a:defRPr sz="1800">
                <a:solidFill>
                  <a:srgbClr val="757575"/>
                </a:solidFill>
              </a:defRPr>
            </a:lvl3pPr>
            <a:lvl4pPr indent="-228600" lvl="3" marL="1828800" algn="l">
              <a:lnSpc>
                <a:spcPct val="90000"/>
              </a:lnSpc>
              <a:spcBef>
                <a:spcPts val="500"/>
              </a:spcBef>
              <a:spcAft>
                <a:spcPts val="0"/>
              </a:spcAft>
              <a:buClr>
                <a:srgbClr val="757575"/>
              </a:buClr>
              <a:buSzPts val="1600"/>
              <a:buNone/>
              <a:defRPr sz="1600">
                <a:solidFill>
                  <a:srgbClr val="757575"/>
                </a:solidFill>
              </a:defRPr>
            </a:lvl4pPr>
            <a:lvl5pPr indent="-228600" lvl="4" marL="2286000" algn="l">
              <a:lnSpc>
                <a:spcPct val="90000"/>
              </a:lnSpc>
              <a:spcBef>
                <a:spcPts val="500"/>
              </a:spcBef>
              <a:spcAft>
                <a:spcPts val="0"/>
              </a:spcAft>
              <a:buClr>
                <a:srgbClr val="757575"/>
              </a:buClr>
              <a:buSzPts val="1600"/>
              <a:buNone/>
              <a:defRPr sz="1600">
                <a:solidFill>
                  <a:srgbClr val="757575"/>
                </a:solidFill>
              </a:defRPr>
            </a:lvl5pPr>
            <a:lvl6pPr indent="-228600" lvl="5" marL="2743200" algn="l">
              <a:lnSpc>
                <a:spcPct val="90000"/>
              </a:lnSpc>
              <a:spcBef>
                <a:spcPts val="500"/>
              </a:spcBef>
              <a:spcAft>
                <a:spcPts val="0"/>
              </a:spcAft>
              <a:buClr>
                <a:srgbClr val="757575"/>
              </a:buClr>
              <a:buSzPts val="1600"/>
              <a:buNone/>
              <a:defRPr sz="1600">
                <a:solidFill>
                  <a:srgbClr val="757575"/>
                </a:solidFill>
              </a:defRPr>
            </a:lvl6pPr>
            <a:lvl7pPr indent="-228600" lvl="6" marL="3200400" algn="l">
              <a:lnSpc>
                <a:spcPct val="90000"/>
              </a:lnSpc>
              <a:spcBef>
                <a:spcPts val="500"/>
              </a:spcBef>
              <a:spcAft>
                <a:spcPts val="0"/>
              </a:spcAft>
              <a:buClr>
                <a:srgbClr val="757575"/>
              </a:buClr>
              <a:buSzPts val="1600"/>
              <a:buNone/>
              <a:defRPr sz="1600">
                <a:solidFill>
                  <a:srgbClr val="757575"/>
                </a:solidFill>
              </a:defRPr>
            </a:lvl7pPr>
            <a:lvl8pPr indent="-228600" lvl="7" marL="3657600" algn="l">
              <a:lnSpc>
                <a:spcPct val="90000"/>
              </a:lnSpc>
              <a:spcBef>
                <a:spcPts val="500"/>
              </a:spcBef>
              <a:spcAft>
                <a:spcPts val="0"/>
              </a:spcAft>
              <a:buClr>
                <a:srgbClr val="757575"/>
              </a:buClr>
              <a:buSzPts val="1600"/>
              <a:buNone/>
              <a:defRPr sz="1600">
                <a:solidFill>
                  <a:srgbClr val="757575"/>
                </a:solidFill>
              </a:defRPr>
            </a:lvl8pPr>
            <a:lvl9pPr indent="-228600" lvl="8" marL="4114800" algn="l">
              <a:lnSpc>
                <a:spcPct val="90000"/>
              </a:lnSpc>
              <a:spcBef>
                <a:spcPts val="500"/>
              </a:spcBef>
              <a:spcAft>
                <a:spcPts val="0"/>
              </a:spcAft>
              <a:buClr>
                <a:srgbClr val="757575"/>
              </a:buClr>
              <a:buSzPts val="1600"/>
              <a:buNone/>
              <a:defRPr sz="1600">
                <a:solidFill>
                  <a:srgbClr val="757575"/>
                </a:solidFill>
              </a:defRPr>
            </a:lvl9pPr>
          </a:lstStyle>
          <a:p/>
        </p:txBody>
      </p:sp>
      <p:sp>
        <p:nvSpPr>
          <p:cNvPr id="37" name="Google Shape;37;p6"/>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8" name="Google Shape;38;p6"/>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9" name="Google Shape;39;p6"/>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2">
  <p:cSld name="Title and content 2">
    <p:bg>
      <p:bgPr>
        <a:blipFill>
          <a:blip r:embed="rId2">
            <a:alphaModFix/>
          </a:blip>
          <a:stretch>
            <a:fillRect/>
          </a:stretch>
        </a:blipFill>
      </p:bgPr>
    </p:bg>
    <p:spTree>
      <p:nvGrpSpPr>
        <p:cNvPr id="40" name="Shape 40"/>
        <p:cNvGrpSpPr/>
        <p:nvPr/>
      </p:nvGrpSpPr>
      <p:grpSpPr>
        <a:xfrm>
          <a:off x="0" y="0"/>
          <a:ext cx="0" cy="0"/>
          <a:chOff x="0" y="0"/>
          <a:chExt cx="0" cy="0"/>
        </a:xfrm>
      </p:grpSpPr>
      <p:sp>
        <p:nvSpPr>
          <p:cNvPr id="41" name="Google Shape;41;p7"/>
          <p:cNvSpPr txBox="1"/>
          <p:nvPr>
            <p:ph type="title"/>
          </p:nvPr>
        </p:nvSpPr>
        <p:spPr>
          <a:xfrm>
            <a:off x="1414780" y="365125"/>
            <a:ext cx="9939020" cy="1325880"/>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rgbClr val="23325D"/>
              </a:buClr>
              <a:buSzPts val="4400"/>
              <a:buFont typeface="Calibri"/>
              <a:buNone/>
              <a:defRPr b="1">
                <a:solidFill>
                  <a:srgbClr val="23325D"/>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2" name="Google Shape;42;p7"/>
          <p:cNvSpPr txBox="1"/>
          <p:nvPr>
            <p:ph idx="1" type="body"/>
          </p:nvPr>
        </p:nvSpPr>
        <p:spPr>
          <a:xfrm>
            <a:off x="1414145" y="1825625"/>
            <a:ext cx="9747250" cy="3984625"/>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43" name="Google Shape;43;p7"/>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7"/>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5" name="Google Shape;45;p7"/>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marR="0" rtl="0" algn="l">
              <a:lnSpc>
                <a:spcPct val="90000"/>
              </a:lnSpc>
              <a:spcBef>
                <a:spcPts val="0"/>
              </a:spcBef>
              <a:spcAft>
                <a:spcPts val="0"/>
              </a:spcAft>
              <a:buClr>
                <a:schemeClr val="dk1"/>
              </a:buClr>
              <a:buSzPts val="4400"/>
              <a:buFont typeface="Calibri"/>
              <a:buNone/>
              <a:defRPr b="0" i="0" sz="4400" u="none" cap="none" strike="noStrik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7" name="Google Shape;7;p1"/>
          <p:cNvSpPr txBox="1"/>
          <p:nvPr>
            <p:ph idx="1" type="body"/>
          </p:nvPr>
        </p:nvSpPr>
        <p:spPr>
          <a:xfrm>
            <a:off x="838200" y="1825625"/>
            <a:ext cx="10515600" cy="4351338"/>
          </a:xfrm>
          <a:prstGeom prst="rect">
            <a:avLst/>
          </a:prstGeom>
          <a:noFill/>
          <a:ln>
            <a:noFill/>
          </a:ln>
        </p:spPr>
        <p:txBody>
          <a:bodyPr anchorCtr="0" anchor="t" bIns="45700" lIns="91425" spcFirstLastPara="1" rIns="91425" wrap="square" tIns="45700">
            <a:normAutofit/>
          </a:bodyPr>
          <a:lstStyle>
            <a:lvl1pPr indent="-406400" lvl="0" marL="457200" marR="0" rtl="0" algn="l">
              <a:lnSpc>
                <a:spcPct val="90000"/>
              </a:lnSpc>
              <a:spcBef>
                <a:spcPts val="100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1pPr>
            <a:lvl2pPr indent="-381000" lvl="1" marL="914400"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2pPr>
            <a:lvl3pPr indent="-355600" lvl="2" marL="1371600"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3pPr>
            <a:lvl4pPr indent="-342900" lvl="3" marL="1828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4pPr>
            <a:lvl5pPr indent="-342900" lvl="4" marL="22860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8" name="Google Shape;8;p1"/>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200" u="none" cap="none" strike="noStrike">
                <a:solidFill>
                  <a:srgbClr val="757575"/>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9" name="Google Shape;9;p1"/>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marR="0" rtl="0" algn="ctr">
              <a:spcBef>
                <a:spcPts val="0"/>
              </a:spcBef>
              <a:spcAft>
                <a:spcPts val="0"/>
              </a:spcAft>
              <a:buSzPts val="1400"/>
              <a:buNone/>
              <a:defRPr b="0" i="0" sz="1200" u="none" cap="none" strike="noStrike">
                <a:solidFill>
                  <a:srgbClr val="757575"/>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10" name="Google Shape;10;p1"/>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marR="0" rtl="0" algn="r">
              <a:spcBef>
                <a:spcPts val="0"/>
              </a:spcBef>
              <a:buNone/>
              <a:defRPr b="0" i="0" sz="1200" u="none" cap="none" strike="noStrike">
                <a:solidFill>
                  <a:srgbClr val="757575"/>
                </a:solidFill>
                <a:latin typeface="Calibri"/>
                <a:ea typeface="Calibri"/>
                <a:cs typeface="Calibri"/>
                <a:sym typeface="Calibri"/>
              </a:defRPr>
            </a:lvl1pPr>
            <a:lvl2pPr indent="0" lvl="1" marL="0" marR="0" rtl="0" algn="r">
              <a:spcBef>
                <a:spcPts val="0"/>
              </a:spcBef>
              <a:buNone/>
              <a:defRPr b="0" i="0" sz="1200" u="none" cap="none" strike="noStrike">
                <a:solidFill>
                  <a:srgbClr val="757575"/>
                </a:solidFill>
                <a:latin typeface="Calibri"/>
                <a:ea typeface="Calibri"/>
                <a:cs typeface="Calibri"/>
                <a:sym typeface="Calibri"/>
              </a:defRPr>
            </a:lvl2pPr>
            <a:lvl3pPr indent="0" lvl="2" marL="0" marR="0" rtl="0" algn="r">
              <a:spcBef>
                <a:spcPts val="0"/>
              </a:spcBef>
              <a:buNone/>
              <a:defRPr b="0" i="0" sz="1200" u="none" cap="none" strike="noStrike">
                <a:solidFill>
                  <a:srgbClr val="757575"/>
                </a:solidFill>
                <a:latin typeface="Calibri"/>
                <a:ea typeface="Calibri"/>
                <a:cs typeface="Calibri"/>
                <a:sym typeface="Calibri"/>
              </a:defRPr>
            </a:lvl3pPr>
            <a:lvl4pPr indent="0" lvl="3" marL="0" marR="0" rtl="0" algn="r">
              <a:spcBef>
                <a:spcPts val="0"/>
              </a:spcBef>
              <a:buNone/>
              <a:defRPr b="0" i="0" sz="1200" u="none" cap="none" strike="noStrike">
                <a:solidFill>
                  <a:srgbClr val="757575"/>
                </a:solidFill>
                <a:latin typeface="Calibri"/>
                <a:ea typeface="Calibri"/>
                <a:cs typeface="Calibri"/>
                <a:sym typeface="Calibri"/>
              </a:defRPr>
            </a:lvl4pPr>
            <a:lvl5pPr indent="0" lvl="4" marL="0" marR="0" rtl="0" algn="r">
              <a:spcBef>
                <a:spcPts val="0"/>
              </a:spcBef>
              <a:buNone/>
              <a:defRPr b="0" i="0" sz="1200" u="none" cap="none" strike="noStrike">
                <a:solidFill>
                  <a:srgbClr val="757575"/>
                </a:solidFill>
                <a:latin typeface="Calibri"/>
                <a:ea typeface="Calibri"/>
                <a:cs typeface="Calibri"/>
                <a:sym typeface="Calibri"/>
              </a:defRPr>
            </a:lvl5pPr>
            <a:lvl6pPr indent="0" lvl="5" marL="0" marR="0" rtl="0" algn="r">
              <a:spcBef>
                <a:spcPts val="0"/>
              </a:spcBef>
              <a:buNone/>
              <a:defRPr b="0" i="0" sz="1200" u="none" cap="none" strike="noStrike">
                <a:solidFill>
                  <a:srgbClr val="757575"/>
                </a:solidFill>
                <a:latin typeface="Calibri"/>
                <a:ea typeface="Calibri"/>
                <a:cs typeface="Calibri"/>
                <a:sym typeface="Calibri"/>
              </a:defRPr>
            </a:lvl6pPr>
            <a:lvl7pPr indent="0" lvl="6" marL="0" marR="0" rtl="0" algn="r">
              <a:spcBef>
                <a:spcPts val="0"/>
              </a:spcBef>
              <a:buNone/>
              <a:defRPr b="0" i="0" sz="1200" u="none" cap="none" strike="noStrike">
                <a:solidFill>
                  <a:srgbClr val="757575"/>
                </a:solidFill>
                <a:latin typeface="Calibri"/>
                <a:ea typeface="Calibri"/>
                <a:cs typeface="Calibri"/>
                <a:sym typeface="Calibri"/>
              </a:defRPr>
            </a:lvl7pPr>
            <a:lvl8pPr indent="0" lvl="7" marL="0" marR="0" rtl="0" algn="r">
              <a:spcBef>
                <a:spcPts val="0"/>
              </a:spcBef>
              <a:buNone/>
              <a:defRPr b="0" i="0" sz="1200" u="none" cap="none" strike="noStrike">
                <a:solidFill>
                  <a:srgbClr val="757575"/>
                </a:solidFill>
                <a:latin typeface="Calibri"/>
                <a:ea typeface="Calibri"/>
                <a:cs typeface="Calibri"/>
                <a:sym typeface="Calibri"/>
              </a:defRPr>
            </a:lvl8pPr>
            <a:lvl9pPr indent="0" lvl="8" marL="0" marR="0" rtl="0" algn="r">
              <a:spcBef>
                <a:spcPts val="0"/>
              </a:spcBef>
              <a:buNone/>
              <a:defRPr b="0" i="0" sz="1200" u="none" cap="none" strike="noStrike">
                <a:solidFill>
                  <a:srgbClr val="757575"/>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 Id="rId3" Type="http://schemas.openxmlformats.org/officeDocument/2006/relationships/image" Target="../media/image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 Id="rId3"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5.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 name="Shape 50"/>
        <p:cNvGrpSpPr/>
        <p:nvPr/>
      </p:nvGrpSpPr>
      <p:grpSpPr>
        <a:xfrm>
          <a:off x="0" y="0"/>
          <a:ext cx="0" cy="0"/>
          <a:chOff x="0" y="0"/>
          <a:chExt cx="0" cy="0"/>
        </a:xfrm>
      </p:grpSpPr>
      <p:sp>
        <p:nvSpPr>
          <p:cNvPr id="51" name="Google Shape;51;p8"/>
          <p:cNvSpPr txBox="1"/>
          <p:nvPr/>
        </p:nvSpPr>
        <p:spPr>
          <a:xfrm>
            <a:off x="640080" y="4846320"/>
            <a:ext cx="5486400" cy="3693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0" i="0" lang="en-US" sz="1200" u="none" cap="none" strike="noStrike">
                <a:solidFill>
                  <a:srgbClr val="5B6378"/>
                </a:solidFill>
                <a:latin typeface="Calibri"/>
                <a:ea typeface="Calibri"/>
                <a:cs typeface="Calibri"/>
                <a:sym typeface="Calibri"/>
              </a:rPr>
              <a:t>Ruturaj Chaubey – </a:t>
            </a:r>
            <a:r>
              <a:rPr i="1" lang="en-US" sz="1200">
                <a:solidFill>
                  <a:srgbClr val="9AA3B5"/>
                </a:solidFill>
                <a:latin typeface="Calibri"/>
                <a:ea typeface="Calibri"/>
                <a:cs typeface="Calibri"/>
                <a:sym typeface="Calibri"/>
              </a:rPr>
              <a:t>Full Stack Engineer</a:t>
            </a:r>
            <a:r>
              <a:rPr b="0" i="1" lang="en-US" sz="1200" u="none" cap="none" strike="noStrike">
                <a:solidFill>
                  <a:srgbClr val="9AA3B5"/>
                </a:solidFill>
                <a:latin typeface="Calibri"/>
                <a:ea typeface="Calibri"/>
                <a:cs typeface="Calibri"/>
                <a:sym typeface="Calibri"/>
              </a:rPr>
              <a:t> </a:t>
            </a:r>
            <a:r>
              <a:rPr i="1" lang="en-US" sz="1200">
                <a:solidFill>
                  <a:srgbClr val="9AA3B5"/>
                </a:solidFill>
                <a:latin typeface="Calibri"/>
                <a:ea typeface="Calibri"/>
                <a:cs typeface="Calibri"/>
                <a:sym typeface="Calibri"/>
              </a:rPr>
              <a:t>@ QED42</a:t>
            </a:r>
            <a:endParaRPr i="1" sz="1200">
              <a:solidFill>
                <a:srgbClr val="9AA3B5"/>
              </a:solidFill>
              <a:latin typeface="Calibri"/>
              <a:ea typeface="Calibri"/>
              <a:cs typeface="Calibri"/>
              <a:sym typeface="Calibri"/>
            </a:endParaRPr>
          </a:p>
          <a:p>
            <a:pPr indent="0" lvl="0" marL="0" rtl="0" algn="l">
              <a:spcBef>
                <a:spcPts val="0"/>
              </a:spcBef>
              <a:spcAft>
                <a:spcPts val="0"/>
              </a:spcAft>
              <a:buNone/>
            </a:pPr>
            <a:r>
              <a:rPr lang="en-US" sz="1200">
                <a:solidFill>
                  <a:srgbClr val="5B6378"/>
                </a:solidFill>
                <a:latin typeface="Calibri"/>
                <a:ea typeface="Calibri"/>
                <a:cs typeface="Calibri"/>
                <a:sym typeface="Calibri"/>
              </a:rPr>
              <a:t>Vighnesh</a:t>
            </a:r>
            <a:r>
              <a:rPr lang="en-US" sz="1200">
                <a:solidFill>
                  <a:srgbClr val="5B6378"/>
                </a:solidFill>
                <a:latin typeface="Calibri"/>
                <a:ea typeface="Calibri"/>
                <a:cs typeface="Calibri"/>
                <a:sym typeface="Calibri"/>
              </a:rPr>
              <a:t> Sadagopal – </a:t>
            </a:r>
            <a:r>
              <a:rPr i="1" lang="en-US" sz="1200">
                <a:solidFill>
                  <a:srgbClr val="9AA3B5"/>
                </a:solidFill>
                <a:latin typeface="Calibri"/>
                <a:ea typeface="Calibri"/>
                <a:cs typeface="Calibri"/>
                <a:sym typeface="Calibri"/>
              </a:rPr>
              <a:t>Full Stack Drupal Engineer @ QED42</a:t>
            </a:r>
            <a:endParaRPr i="1" sz="1200">
              <a:solidFill>
                <a:srgbClr val="9AA3B5"/>
              </a:solidFill>
              <a:latin typeface="Calibri"/>
              <a:ea typeface="Calibri"/>
              <a:cs typeface="Calibri"/>
              <a:sym typeface="Calibri"/>
            </a:endParaRPr>
          </a:p>
        </p:txBody>
      </p:sp>
      <p:sp>
        <p:nvSpPr>
          <p:cNvPr id="52" name="Google Shape;52;p8"/>
          <p:cNvSpPr txBox="1"/>
          <p:nvPr>
            <p:ph type="ctrTitle"/>
          </p:nvPr>
        </p:nvSpPr>
        <p:spPr>
          <a:xfrm>
            <a:off x="640075" y="1009650"/>
            <a:ext cx="8677800" cy="1339800"/>
          </a:xfrm>
          <a:prstGeom prst="rect">
            <a:avLst/>
          </a:prstGeom>
          <a:noFill/>
          <a:ln>
            <a:noFill/>
          </a:ln>
        </p:spPr>
        <p:txBody>
          <a:bodyPr anchorCtr="0" anchor="b" bIns="45700" lIns="91425" spcFirstLastPara="1" rIns="91425" wrap="square" tIns="45700">
            <a:normAutofit fontScale="90000"/>
          </a:bodyPr>
          <a:lstStyle/>
          <a:p>
            <a:pPr indent="0" lvl="0" marL="0" rtl="0" algn="l">
              <a:lnSpc>
                <a:spcPct val="90000"/>
              </a:lnSpc>
              <a:spcBef>
                <a:spcPts val="0"/>
              </a:spcBef>
              <a:spcAft>
                <a:spcPts val="0"/>
              </a:spcAft>
              <a:buClr>
                <a:srgbClr val="23325D"/>
              </a:buClr>
              <a:buSzPct val="100000"/>
              <a:buFont typeface="Calibri"/>
              <a:buNone/>
            </a:pPr>
            <a:r>
              <a:rPr lang="en-US" sz="5400">
                <a:solidFill>
                  <a:srgbClr val="23325D"/>
                </a:solidFill>
              </a:rPr>
              <a:t>From Ajax API to HTMX: Evol</a:t>
            </a:r>
            <a:r>
              <a:rPr lang="en-US" sz="5400"/>
              <a:t>ving Drupal Interactions</a:t>
            </a:r>
            <a:r>
              <a:rPr lang="en-US" sz="5400">
                <a:solidFill>
                  <a:srgbClr val="23325D"/>
                </a:solidFill>
              </a:rPr>
              <a:t>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 name="Shape 57"/>
        <p:cNvGrpSpPr/>
        <p:nvPr/>
      </p:nvGrpSpPr>
      <p:grpSpPr>
        <a:xfrm>
          <a:off x="0" y="0"/>
          <a:ext cx="0" cy="0"/>
          <a:chOff x="0" y="0"/>
          <a:chExt cx="0" cy="0"/>
        </a:xfrm>
      </p:grpSpPr>
      <p:sp>
        <p:nvSpPr>
          <p:cNvPr id="58" name="Google Shape;58;p9"/>
          <p:cNvSpPr txBox="1"/>
          <p:nvPr>
            <p:ph type="title"/>
          </p:nvPr>
        </p:nvSpPr>
        <p:spPr>
          <a:xfrm>
            <a:off x="322580" y="2272665"/>
            <a:ext cx="11376660" cy="948055"/>
          </a:xfrm>
          <a:prstGeom prst="rect">
            <a:avLst/>
          </a:prstGeom>
          <a:noFill/>
          <a:ln>
            <a:noFill/>
          </a:ln>
        </p:spPr>
        <p:txBody>
          <a:bodyPr anchorCtr="0" anchor="ctr" bIns="45700" lIns="91425" spcFirstLastPara="1" rIns="91425" wrap="square" tIns="45700">
            <a:normAutofit/>
          </a:bodyPr>
          <a:lstStyle/>
          <a:p>
            <a:pPr indent="0" lvl="0" marL="0" rtl="0" algn="ctr">
              <a:lnSpc>
                <a:spcPct val="90000"/>
              </a:lnSpc>
              <a:spcBef>
                <a:spcPts val="0"/>
              </a:spcBef>
              <a:spcAft>
                <a:spcPts val="0"/>
              </a:spcAft>
              <a:buClr>
                <a:schemeClr val="lt1"/>
              </a:buClr>
              <a:buSzPts val="4400"/>
              <a:buFont typeface="Calibri"/>
              <a:buNone/>
            </a:pPr>
            <a:r>
              <a:t/>
            </a:r>
            <a:endParaRPr b="1">
              <a:solidFill>
                <a:schemeClr val="lt1"/>
              </a:solidFill>
            </a:endParaRPr>
          </a:p>
        </p:txBody>
      </p:sp>
      <p:sp>
        <p:nvSpPr>
          <p:cNvPr id="59" name="Google Shape;59;p9"/>
          <p:cNvSpPr txBox="1"/>
          <p:nvPr/>
        </p:nvSpPr>
        <p:spPr>
          <a:xfrm>
            <a:off x="640080" y="457200"/>
            <a:ext cx="5486400" cy="1848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1200">
                <a:solidFill>
                  <a:srgbClr val="0D6DAC"/>
                </a:solidFill>
                <a:latin typeface="Calibri"/>
                <a:ea typeface="Calibri"/>
                <a:cs typeface="Calibri"/>
                <a:sym typeface="Calibri"/>
              </a:rPr>
              <a:t>— </a:t>
            </a:r>
            <a:r>
              <a:rPr b="1" i="0" lang="en-US" sz="1200" u="none" cap="none" strike="noStrike">
                <a:solidFill>
                  <a:srgbClr val="0D6DAC"/>
                </a:solidFill>
                <a:latin typeface="Calibri"/>
                <a:ea typeface="Calibri"/>
                <a:cs typeface="Calibri"/>
                <a:sym typeface="Calibri"/>
              </a:rPr>
              <a:t>LIVE</a:t>
            </a:r>
            <a:endParaRPr/>
          </a:p>
        </p:txBody>
      </p:sp>
      <p:sp>
        <p:nvSpPr>
          <p:cNvPr id="60" name="Google Shape;60;p9"/>
          <p:cNvSpPr/>
          <p:nvPr/>
        </p:nvSpPr>
        <p:spPr>
          <a:xfrm>
            <a:off x="2804160" y="1828800"/>
            <a:ext cx="6583680" cy="3657600"/>
          </a:xfrm>
          <a:prstGeom prst="roundRect">
            <a:avLst>
              <a:gd fmla="val 5000" name="adj"/>
            </a:avLst>
          </a:prstGeom>
          <a:solidFill>
            <a:srgbClr val="0C0E1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1" name="Google Shape;61;p9"/>
          <p:cNvSpPr/>
          <p:nvPr/>
        </p:nvSpPr>
        <p:spPr>
          <a:xfrm>
            <a:off x="2804160" y="1828800"/>
            <a:ext cx="6583680" cy="457200"/>
          </a:xfrm>
          <a:prstGeom prst="rect">
            <a:avLst/>
          </a:prstGeom>
          <a:solidFill>
            <a:srgbClr val="1A1E29"/>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2" name="Google Shape;62;p9"/>
          <p:cNvSpPr/>
          <p:nvPr/>
        </p:nvSpPr>
        <p:spPr>
          <a:xfrm>
            <a:off x="2987040" y="2011680"/>
            <a:ext cx="91440" cy="91440"/>
          </a:xfrm>
          <a:prstGeom prst="ellipse">
            <a:avLst/>
          </a:prstGeom>
          <a:solidFill>
            <a:srgbClr val="5C627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3" name="Google Shape;63;p9"/>
          <p:cNvSpPr/>
          <p:nvPr/>
        </p:nvSpPr>
        <p:spPr>
          <a:xfrm>
            <a:off x="3215640" y="2011680"/>
            <a:ext cx="91440" cy="91440"/>
          </a:xfrm>
          <a:prstGeom prst="ellipse">
            <a:avLst/>
          </a:prstGeom>
          <a:solidFill>
            <a:srgbClr val="5C627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4" name="Google Shape;64;p9"/>
          <p:cNvSpPr/>
          <p:nvPr/>
        </p:nvSpPr>
        <p:spPr>
          <a:xfrm>
            <a:off x="3444240" y="2011680"/>
            <a:ext cx="91440" cy="91440"/>
          </a:xfrm>
          <a:prstGeom prst="ellipse">
            <a:avLst/>
          </a:prstGeom>
          <a:solidFill>
            <a:srgbClr val="5C627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5" name="Google Shape;65;p9"/>
          <p:cNvSpPr/>
          <p:nvPr/>
        </p:nvSpPr>
        <p:spPr>
          <a:xfrm>
            <a:off x="3718560" y="1920240"/>
            <a:ext cx="5394960" cy="274320"/>
          </a:xfrm>
          <a:prstGeom prst="rect">
            <a:avLst/>
          </a:prstGeom>
          <a:solidFill>
            <a:srgbClr val="12141C"/>
          </a:solid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rPr b="0" i="0" lang="en-US" sz="1100" u="none" cap="none" strike="noStrike">
                <a:solidFill>
                  <a:srgbClr val="9AA3B5"/>
                </a:solidFill>
                <a:latin typeface="Courier New"/>
                <a:ea typeface="Courier New"/>
                <a:cs typeface="Courier New"/>
                <a:sym typeface="Courier New"/>
              </a:rPr>
              <a:t>yoursite.example/articles</a:t>
            </a:r>
            <a:endParaRPr/>
          </a:p>
        </p:txBody>
      </p:sp>
      <p:sp>
        <p:nvSpPr>
          <p:cNvPr id="66" name="Google Shape;66;p9"/>
          <p:cNvSpPr/>
          <p:nvPr/>
        </p:nvSpPr>
        <p:spPr>
          <a:xfrm>
            <a:off x="3078480" y="2560320"/>
            <a:ext cx="2011680" cy="365760"/>
          </a:xfrm>
          <a:prstGeom prst="roundRect">
            <a:avLst>
              <a:gd fmla="val 20000" name="adj"/>
            </a:avLst>
          </a:prstGeom>
          <a:solidFill>
            <a:srgbClr val="FFFFFF"/>
          </a:solidFill>
          <a:ln cap="flat" cmpd="sng" w="12700">
            <a:solidFill>
              <a:srgbClr val="CCCCC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US" sz="1200" u="none" cap="none" strike="noStrike">
                <a:solidFill>
                  <a:srgbClr val="23325D"/>
                </a:solidFill>
                <a:latin typeface="Calibri"/>
                <a:ea typeface="Calibri"/>
                <a:cs typeface="Calibri"/>
                <a:sym typeface="Calibri"/>
              </a:rPr>
              <a:t>Filter by: Recipes ▾</a:t>
            </a:r>
            <a:endParaRPr/>
          </a:p>
        </p:txBody>
      </p:sp>
      <p:sp>
        <p:nvSpPr>
          <p:cNvPr id="67" name="Google Shape;67;p9"/>
          <p:cNvSpPr/>
          <p:nvPr/>
        </p:nvSpPr>
        <p:spPr>
          <a:xfrm>
            <a:off x="3078480" y="3200400"/>
            <a:ext cx="5120640" cy="146304"/>
          </a:xfrm>
          <a:prstGeom prst="roundRect">
            <a:avLst>
              <a:gd fmla="val 50000" name="adj"/>
            </a:avLst>
          </a:prstGeom>
          <a:solidFill>
            <a:srgbClr val="E5E8E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8" name="Google Shape;68;p9"/>
          <p:cNvSpPr/>
          <p:nvPr/>
        </p:nvSpPr>
        <p:spPr>
          <a:xfrm>
            <a:off x="3078480" y="3566160"/>
            <a:ext cx="4206240" cy="146304"/>
          </a:xfrm>
          <a:prstGeom prst="roundRect">
            <a:avLst>
              <a:gd fmla="val 50000" name="adj"/>
            </a:avLst>
          </a:prstGeom>
          <a:solidFill>
            <a:srgbClr val="E5E8E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9" name="Google Shape;69;p9"/>
          <p:cNvSpPr/>
          <p:nvPr/>
        </p:nvSpPr>
        <p:spPr>
          <a:xfrm>
            <a:off x="3078480" y="3931920"/>
            <a:ext cx="2926080" cy="146304"/>
          </a:xfrm>
          <a:prstGeom prst="roundRect">
            <a:avLst>
              <a:gd fmla="val 50000" name="adj"/>
            </a:avLst>
          </a:prstGeom>
          <a:solidFill>
            <a:srgbClr val="E5E8E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70" name="Google Shape;70;p9"/>
          <p:cNvSpPr txBox="1"/>
          <p:nvPr/>
        </p:nvSpPr>
        <p:spPr>
          <a:xfrm>
            <a:off x="2804160" y="5623560"/>
            <a:ext cx="6583680" cy="274320"/>
          </a:xfrm>
          <a:prstGeom prst="rect">
            <a:avLst/>
          </a:prstGeom>
          <a:noFill/>
          <a:ln>
            <a:noFill/>
          </a:ln>
        </p:spPr>
        <p:txBody>
          <a:bodyPr anchorCtr="0" anchor="t" bIns="0" lIns="0" spcFirstLastPara="1" rIns="0" wrap="square" tIns="0">
            <a:spAutoFit/>
          </a:bodyPr>
          <a:lstStyle/>
          <a:p>
            <a:pPr indent="0" lvl="0" marL="0" marR="0" rtl="0" algn="ctr">
              <a:spcBef>
                <a:spcPts val="0"/>
              </a:spcBef>
              <a:spcAft>
                <a:spcPts val="0"/>
              </a:spcAft>
              <a:buNone/>
            </a:pPr>
            <a:r>
              <a:rPr b="0" i="1" lang="en-US" sz="1100" u="none" cap="none" strike="noStrike">
                <a:solidFill>
                  <a:srgbClr val="9AA3B5"/>
                </a:solidFill>
                <a:latin typeface="Calibri"/>
                <a:ea typeface="Calibri"/>
                <a:cs typeface="Calibri"/>
                <a:sym typeface="Calibri"/>
              </a:rPr>
              <a:t>mockup — live demo plays here in the browser</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5" name="Shape 75"/>
        <p:cNvGrpSpPr/>
        <p:nvPr/>
      </p:nvGrpSpPr>
      <p:grpSpPr>
        <a:xfrm>
          <a:off x="0" y="0"/>
          <a:ext cx="0" cy="0"/>
          <a:chOff x="0" y="0"/>
          <a:chExt cx="0" cy="0"/>
        </a:xfrm>
      </p:grpSpPr>
      <p:sp>
        <p:nvSpPr>
          <p:cNvPr id="76" name="Google Shape;76;p10"/>
          <p:cNvSpPr txBox="1"/>
          <p:nvPr>
            <p:ph type="title"/>
          </p:nvPr>
        </p:nvSpPr>
        <p:spPr>
          <a:xfrm>
            <a:off x="322580" y="2272665"/>
            <a:ext cx="11376660" cy="948055"/>
          </a:xfrm>
          <a:prstGeom prst="rect">
            <a:avLst/>
          </a:prstGeom>
          <a:noFill/>
          <a:ln>
            <a:noFill/>
          </a:ln>
        </p:spPr>
        <p:txBody>
          <a:bodyPr anchorCtr="0" anchor="ctr" bIns="45700" lIns="91425" spcFirstLastPara="1" rIns="91425" wrap="square" tIns="45700">
            <a:normAutofit/>
          </a:bodyPr>
          <a:lstStyle/>
          <a:p>
            <a:pPr indent="0" lvl="0" marL="0" rtl="0" algn="ctr">
              <a:lnSpc>
                <a:spcPct val="90000"/>
              </a:lnSpc>
              <a:spcBef>
                <a:spcPts val="0"/>
              </a:spcBef>
              <a:spcAft>
                <a:spcPts val="0"/>
              </a:spcAft>
              <a:buClr>
                <a:schemeClr val="lt1"/>
              </a:buClr>
              <a:buSzPts val="4400"/>
              <a:buFont typeface="Calibri"/>
              <a:buNone/>
            </a:pPr>
            <a:r>
              <a:t/>
            </a:r>
            <a:endParaRPr b="1">
              <a:solidFill>
                <a:schemeClr val="lt1"/>
              </a:solidFill>
            </a:endParaRPr>
          </a:p>
        </p:txBody>
      </p:sp>
      <p:sp>
        <p:nvSpPr>
          <p:cNvPr id="77" name="Google Shape;77;p10"/>
          <p:cNvSpPr txBox="1"/>
          <p:nvPr/>
        </p:nvSpPr>
        <p:spPr>
          <a:xfrm>
            <a:off x="822960" y="2011680"/>
            <a:ext cx="10515600" cy="310896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i="0" lang="en-US" sz="4000" u="none" cap="none" strike="noStrike">
                <a:solidFill>
                  <a:srgbClr val="23325D"/>
                </a:solidFill>
                <a:latin typeface="Calibri"/>
                <a:ea typeface="Calibri"/>
                <a:cs typeface="Calibri"/>
                <a:sym typeface="Calibri"/>
              </a:rPr>
              <a:t>That's a live filter.</a:t>
            </a:r>
            <a:endParaRPr/>
          </a:p>
          <a:p>
            <a:pPr indent="0" lvl="0" marL="0" marR="0" rtl="0" algn="l">
              <a:spcBef>
                <a:spcPts val="600"/>
              </a:spcBef>
              <a:spcAft>
                <a:spcPts val="0"/>
              </a:spcAft>
              <a:buNone/>
            </a:pPr>
            <a:r>
              <a:rPr b="0" i="0" lang="en-US" sz="4000" u="none" cap="none" strike="noStrike">
                <a:solidFill>
                  <a:srgbClr val="9AA3B5"/>
                </a:solidFill>
                <a:latin typeface="Calibri"/>
                <a:ea typeface="Calibri"/>
                <a:cs typeface="Calibri"/>
                <a:sym typeface="Calibri"/>
              </a:rPr>
              <a:t>No JavaScript file.</a:t>
            </a:r>
            <a:endParaRPr/>
          </a:p>
          <a:p>
            <a:pPr indent="0" lvl="0" marL="0" marR="0" rtl="0" algn="l">
              <a:spcBef>
                <a:spcPts val="600"/>
              </a:spcBef>
              <a:spcAft>
                <a:spcPts val="0"/>
              </a:spcAft>
              <a:buNone/>
            </a:pPr>
            <a:r>
              <a:rPr b="0" i="0" lang="en-US" sz="4000" u="none" cap="none" strike="noStrike">
                <a:solidFill>
                  <a:srgbClr val="9AA3B5"/>
                </a:solidFill>
                <a:latin typeface="Calibri"/>
                <a:ea typeface="Calibri"/>
                <a:cs typeface="Calibri"/>
                <a:sym typeface="Calibri"/>
              </a:rPr>
              <a:t>No Ajax command class.</a:t>
            </a:r>
            <a:endParaRPr/>
          </a:p>
          <a:p>
            <a:pPr indent="0" lvl="0" marL="0" marR="0" rtl="0" algn="l">
              <a:spcBef>
                <a:spcPts val="600"/>
              </a:spcBef>
              <a:spcAft>
                <a:spcPts val="0"/>
              </a:spcAft>
              <a:buNone/>
            </a:pPr>
            <a:r>
              <a:rPr b="1" i="0" lang="en-US" sz="4000" u="none" cap="none" strike="noStrike">
                <a:solidFill>
                  <a:srgbClr val="23325D"/>
                </a:solidFill>
                <a:latin typeface="Calibri"/>
                <a:ea typeface="Calibri"/>
                <a:cs typeface="Calibri"/>
                <a:sym typeface="Calibri"/>
              </a:rPr>
              <a:t>Just HTML.</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2" name="Shape 82"/>
        <p:cNvGrpSpPr/>
        <p:nvPr/>
      </p:nvGrpSpPr>
      <p:grpSpPr>
        <a:xfrm>
          <a:off x="0" y="0"/>
          <a:ext cx="0" cy="0"/>
          <a:chOff x="0" y="0"/>
          <a:chExt cx="0" cy="0"/>
        </a:xfrm>
      </p:grpSpPr>
      <p:sp>
        <p:nvSpPr>
          <p:cNvPr id="83" name="Google Shape;83;p11"/>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rgbClr val="23325D"/>
              </a:buClr>
              <a:buSzPts val="4000"/>
              <a:buFont typeface="Calibri"/>
              <a:buNone/>
            </a:pPr>
            <a:r>
              <a:rPr lang="en-US" sz="4000">
                <a:solidFill>
                  <a:srgbClr val="23325D"/>
                </a:solidFill>
              </a:rPr>
              <a:t>Ruturaj Chaubey</a:t>
            </a:r>
            <a:endParaRPr/>
          </a:p>
        </p:txBody>
      </p:sp>
      <p:sp>
        <p:nvSpPr>
          <p:cNvPr id="84" name="Google Shape;84;p11"/>
          <p:cNvSpPr txBox="1"/>
          <p:nvPr>
            <p:ph idx="1" type="body"/>
          </p:nvPr>
        </p:nvSpPr>
        <p:spPr>
          <a:xfrm>
            <a:off x="640080" y="2377440"/>
            <a:ext cx="10908792" cy="2926080"/>
          </a:xfrm>
          <a:prstGeom prst="rect">
            <a:avLst/>
          </a:prstGeom>
          <a:noFill/>
          <a:ln>
            <a:noFill/>
          </a:ln>
        </p:spPr>
        <p:txBody>
          <a:bodyPr anchorCtr="0" anchor="t" bIns="45700" lIns="91425" spcFirstLastPara="1" rIns="91425" wrap="square" tIns="45700">
            <a:normAutofit/>
          </a:bodyPr>
          <a:lstStyle/>
          <a:p>
            <a:pPr indent="-228600" lvl="0" marL="228600" rtl="0" algn="l">
              <a:lnSpc>
                <a:spcPct val="90000"/>
              </a:lnSpc>
              <a:spcBef>
                <a:spcPts val="0"/>
              </a:spcBef>
              <a:spcAft>
                <a:spcPts val="0"/>
              </a:spcAft>
              <a:buClr>
                <a:srgbClr val="9AA3B5"/>
              </a:buClr>
              <a:buSzPts val="1800"/>
              <a:buChar char="•"/>
            </a:pPr>
            <a:r>
              <a:rPr b="0" i="1" lang="en-US" sz="1800">
                <a:solidFill>
                  <a:srgbClr val="9AA3B5"/>
                </a:solidFill>
                <a:latin typeface="Calibri"/>
                <a:ea typeface="Calibri"/>
                <a:cs typeface="Calibri"/>
                <a:sym typeface="Calibri"/>
              </a:rPr>
              <a:t>add role / company</a:t>
            </a:r>
            <a:endParaRPr/>
          </a:p>
          <a:p>
            <a:pPr indent="-114300" lvl="0" marL="228600" rtl="0" algn="l">
              <a:lnSpc>
                <a:spcPct val="90000"/>
              </a:lnSpc>
              <a:spcBef>
                <a:spcPts val="1000"/>
              </a:spcBef>
              <a:spcAft>
                <a:spcPts val="0"/>
              </a:spcAft>
              <a:buClr>
                <a:schemeClr val="dk1"/>
              </a:buClr>
              <a:buSzPts val="1800"/>
              <a:buNone/>
            </a:pPr>
            <a:r>
              <a:t/>
            </a:r>
            <a:endParaRPr b="0" i="1" sz="1800">
              <a:solidFill>
                <a:srgbClr val="9AA3B5"/>
              </a:solidFill>
              <a:latin typeface="Calibri"/>
              <a:ea typeface="Calibri"/>
              <a:cs typeface="Calibri"/>
              <a:sym typeface="Calibri"/>
            </a:endParaRPr>
          </a:p>
          <a:p>
            <a:pPr indent="-228600" lvl="0" marL="228600" rtl="0" algn="l">
              <a:lnSpc>
                <a:spcPct val="130000"/>
              </a:lnSpc>
              <a:spcBef>
                <a:spcPts val="1000"/>
              </a:spcBef>
              <a:spcAft>
                <a:spcPts val="0"/>
              </a:spcAft>
              <a:buClr>
                <a:srgbClr val="5B6378"/>
              </a:buClr>
              <a:buSzPts val="2000"/>
              <a:buChar char="•"/>
            </a:pPr>
            <a:r>
              <a:rPr b="0" i="0" lang="en-US" sz="2000">
                <a:solidFill>
                  <a:srgbClr val="5B6378"/>
                </a:solidFill>
                <a:latin typeface="Calibri"/>
                <a:ea typeface="Calibri"/>
                <a:cs typeface="Calibri"/>
                <a:sym typeface="Calibri"/>
              </a:rPr>
              <a:t>Spent a good chunk of the last few years building interactive Drupal sites the traditional way – callbacks and all. Which is exactly why HTMX got me excited.</a:t>
            </a:r>
            <a:endParaRPr/>
          </a:p>
        </p:txBody>
      </p:sp>
      <p:sp>
        <p:nvSpPr>
          <p:cNvPr id="85" name="Google Shape;85;p11"/>
          <p:cNvSpPr/>
          <p:nvPr/>
        </p:nvSpPr>
        <p:spPr>
          <a:xfrm>
            <a:off x="9509760" y="1737360"/>
            <a:ext cx="1463040" cy="1463040"/>
          </a:xfrm>
          <a:prstGeom prst="ellipse">
            <a:avLst/>
          </a:prstGeom>
          <a:solidFill>
            <a:srgbClr val="202C5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US" sz="3200" u="none" cap="none" strike="noStrike">
                <a:solidFill>
                  <a:srgbClr val="FFFFFF"/>
                </a:solidFill>
                <a:latin typeface="Calibri"/>
                <a:ea typeface="Calibri"/>
                <a:cs typeface="Calibri"/>
                <a:sym typeface="Calibri"/>
              </a:rPr>
              <a:t>RC</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0" name="Shape 90"/>
        <p:cNvGrpSpPr/>
        <p:nvPr/>
      </p:nvGrpSpPr>
      <p:grpSpPr>
        <a:xfrm>
          <a:off x="0" y="0"/>
          <a:ext cx="0" cy="0"/>
          <a:chOff x="0" y="0"/>
          <a:chExt cx="0" cy="0"/>
        </a:xfrm>
      </p:grpSpPr>
      <p:sp>
        <p:nvSpPr>
          <p:cNvPr id="91" name="Google Shape;91;p12"/>
          <p:cNvSpPr txBox="1"/>
          <p:nvPr>
            <p:ph type="title"/>
          </p:nvPr>
        </p:nvSpPr>
        <p:spPr>
          <a:xfrm>
            <a:off x="553720" y="2813090"/>
            <a:ext cx="10760700" cy="1231800"/>
          </a:xfrm>
          <a:prstGeom prst="rect">
            <a:avLst/>
          </a:prstGeom>
          <a:noFill/>
          <a:ln>
            <a:noFill/>
          </a:ln>
        </p:spPr>
        <p:txBody>
          <a:bodyPr anchorCtr="0" anchor="t" bIns="45700" lIns="91425" spcFirstLastPara="1" rIns="91425" wrap="square" tIns="45700">
            <a:normAutofit fontScale="90000"/>
          </a:bodyPr>
          <a:lstStyle/>
          <a:p>
            <a:pPr indent="0" lvl="0" marL="0" rtl="0" algn="ctr">
              <a:lnSpc>
                <a:spcPct val="90000"/>
              </a:lnSpc>
              <a:spcBef>
                <a:spcPts val="0"/>
              </a:spcBef>
              <a:spcAft>
                <a:spcPts val="0"/>
              </a:spcAft>
              <a:buClr>
                <a:srgbClr val="FFFFFF"/>
              </a:buClr>
              <a:buSzPct val="100000"/>
              <a:buFont typeface="Calibri"/>
              <a:buNone/>
            </a:pPr>
            <a:r>
              <a:rPr b="1" i="0" lang="en-US" sz="3400">
                <a:solidFill>
                  <a:srgbClr val="FFFFFF"/>
                </a:solidFill>
                <a:latin typeface="Calibri"/>
                <a:ea typeface="Calibri"/>
                <a:cs typeface="Calibri"/>
                <a:sym typeface="Calibri"/>
              </a:rPr>
              <a:t>“The future of Drupal UX </a:t>
            </a:r>
            <a:r>
              <a:rPr b="1" i="0" lang="en-US" sz="3400">
                <a:solidFill>
                  <a:srgbClr val="FFFFFF"/>
                </a:solidFill>
                <a:latin typeface="Calibri"/>
                <a:ea typeface="Calibri"/>
                <a:cs typeface="Calibri"/>
                <a:sym typeface="Calibri"/>
              </a:rPr>
              <a:t>isn</a:t>
            </a:r>
            <a:r>
              <a:rPr b="1" i="0" lang="en-US" sz="3400">
                <a:solidFill>
                  <a:srgbClr val="FFFFFF"/>
                </a:solidFill>
                <a:latin typeface="Calibri"/>
                <a:ea typeface="Calibri"/>
                <a:cs typeface="Calibri"/>
                <a:sym typeface="Calibri"/>
              </a:rPr>
              <a:t>'t more</a:t>
            </a:r>
            <a:r>
              <a:rPr b="1" i="0" lang="en-US" sz="3400">
                <a:solidFill>
                  <a:srgbClr val="FFFFFF"/>
                </a:solidFill>
                <a:latin typeface="Calibri"/>
                <a:ea typeface="Calibri"/>
                <a:cs typeface="Calibri"/>
                <a:sym typeface="Calibri"/>
              </a:rPr>
              <a:t> </a:t>
            </a:r>
            <a:r>
              <a:rPr b="1" i="0" lang="en-US" sz="3400">
                <a:solidFill>
                  <a:srgbClr val="FFFFFF"/>
                </a:solidFill>
                <a:latin typeface="Calibri"/>
                <a:ea typeface="Calibri"/>
                <a:cs typeface="Calibri"/>
                <a:sym typeface="Calibri"/>
              </a:rPr>
              <a:t>JS.</a:t>
            </a:r>
            <a:endParaRPr/>
          </a:p>
          <a:p>
            <a:pPr indent="0" lvl="0" marL="0" rtl="0" algn="ctr">
              <a:lnSpc>
                <a:spcPct val="90000"/>
              </a:lnSpc>
              <a:spcBef>
                <a:spcPts val="0"/>
              </a:spcBef>
              <a:spcAft>
                <a:spcPts val="0"/>
              </a:spcAft>
              <a:buClr>
                <a:schemeClr val="lt1"/>
              </a:buClr>
              <a:buSzPct val="100000"/>
              <a:buFont typeface="Calibri"/>
              <a:buNone/>
            </a:pPr>
            <a:r>
              <a:rPr b="1" lang="en-US" sz="6000">
                <a:solidFill>
                  <a:schemeClr val="lt1"/>
                </a:solidFill>
              </a:rPr>
              <a:t>It's smarter HTML</a:t>
            </a:r>
            <a:r>
              <a:rPr lang="en-US"/>
              <a:t>,</a:t>
            </a:r>
            <a:r>
              <a:rPr b="1" lang="en-US" sz="6000">
                <a:solidFill>
                  <a:schemeClr val="lt1"/>
                </a:solidFill>
              </a:rPr>
              <a:t> with HTMX.”</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6" name="Shape 96"/>
        <p:cNvGrpSpPr/>
        <p:nvPr/>
      </p:nvGrpSpPr>
      <p:grpSpPr>
        <a:xfrm>
          <a:off x="0" y="0"/>
          <a:ext cx="0" cy="0"/>
          <a:chOff x="0" y="0"/>
          <a:chExt cx="0" cy="0"/>
        </a:xfrm>
      </p:grpSpPr>
      <p:sp>
        <p:nvSpPr>
          <p:cNvPr id="97" name="Google Shape;97;p13"/>
          <p:cNvSpPr txBox="1"/>
          <p:nvPr>
            <p:ph type="title"/>
          </p:nvPr>
        </p:nvSpPr>
        <p:spPr>
          <a:xfrm>
            <a:off x="604075" y="365050"/>
            <a:ext cx="10713600" cy="753300"/>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rgbClr val="23325D"/>
              </a:buClr>
              <a:buSzPts val="3400"/>
              <a:buFont typeface="Calibri"/>
              <a:buNone/>
            </a:pPr>
            <a:r>
              <a:rPr lang="en-US" sz="3400">
                <a:solidFill>
                  <a:srgbClr val="23325D"/>
                </a:solidFill>
              </a:rPr>
              <a:t>Where we're headed</a:t>
            </a:r>
            <a:endParaRPr/>
          </a:p>
        </p:txBody>
      </p:sp>
      <p:sp>
        <p:nvSpPr>
          <p:cNvPr id="98" name="Google Shape;98;p13"/>
          <p:cNvSpPr/>
          <p:nvPr/>
        </p:nvSpPr>
        <p:spPr>
          <a:xfrm>
            <a:off x="640075" y="1417325"/>
            <a:ext cx="592200" cy="504600"/>
          </a:xfrm>
          <a:prstGeom prst="ellipse">
            <a:avLst/>
          </a:prstGeom>
          <a:solidFill>
            <a:srgbClr val="202C5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US" sz="1300" u="none" cap="none" strike="noStrike">
                <a:solidFill>
                  <a:srgbClr val="FFFFFF"/>
                </a:solidFill>
                <a:latin typeface="Courier New"/>
                <a:ea typeface="Courier New"/>
                <a:cs typeface="Courier New"/>
                <a:sym typeface="Courier New"/>
              </a:rPr>
              <a:t>01</a:t>
            </a:r>
            <a:endParaRPr/>
          </a:p>
        </p:txBody>
      </p:sp>
      <p:sp>
        <p:nvSpPr>
          <p:cNvPr id="99" name="Google Shape;99;p13"/>
          <p:cNvSpPr txBox="1"/>
          <p:nvPr/>
        </p:nvSpPr>
        <p:spPr>
          <a:xfrm>
            <a:off x="1325880" y="1538818"/>
            <a:ext cx="9875400" cy="26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None/>
            </a:pPr>
            <a:r>
              <a:rPr b="0" i="0" lang="en-US" sz="1700" u="none" cap="none" strike="noStrike">
                <a:solidFill>
                  <a:srgbClr val="23325D"/>
                </a:solidFill>
                <a:latin typeface="Calibri"/>
                <a:ea typeface="Calibri"/>
                <a:cs typeface="Calibri"/>
                <a:sym typeface="Calibri"/>
              </a:rPr>
              <a:t>Why the Ajax API gets painful at scale</a:t>
            </a:r>
            <a:endParaRPr/>
          </a:p>
        </p:txBody>
      </p:sp>
      <p:cxnSp>
        <p:nvCxnSpPr>
          <p:cNvPr id="100" name="Google Shape;100;p13"/>
          <p:cNvCxnSpPr/>
          <p:nvPr/>
        </p:nvCxnSpPr>
        <p:spPr>
          <a:xfrm>
            <a:off x="640080" y="2057398"/>
            <a:ext cx="10515600" cy="0"/>
          </a:xfrm>
          <a:prstGeom prst="straightConnector1">
            <a:avLst/>
          </a:prstGeom>
          <a:noFill/>
          <a:ln cap="flat" cmpd="sng" w="9525">
            <a:solidFill>
              <a:srgbClr val="E3E6EC"/>
            </a:solidFill>
            <a:prstDash val="solid"/>
            <a:miter lim="8000"/>
            <a:headEnd len="sm" w="sm" type="none"/>
            <a:tailEnd len="sm" w="sm" type="none"/>
          </a:ln>
        </p:spPr>
      </p:cxnSp>
      <p:sp>
        <p:nvSpPr>
          <p:cNvPr id="101" name="Google Shape;101;p13"/>
          <p:cNvSpPr txBox="1"/>
          <p:nvPr/>
        </p:nvSpPr>
        <p:spPr>
          <a:xfrm>
            <a:off x="1325880" y="2283212"/>
            <a:ext cx="9875400" cy="26160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i="0" lang="en-US" sz="1700" u="none" cap="none" strike="noStrike">
                <a:solidFill>
                  <a:srgbClr val="23325D"/>
                </a:solidFill>
                <a:latin typeface="Calibri"/>
                <a:ea typeface="Calibri"/>
                <a:cs typeface="Calibri"/>
                <a:sym typeface="Calibri"/>
              </a:rPr>
              <a:t>HTMX's core idea</a:t>
            </a:r>
            <a:endParaRPr/>
          </a:p>
        </p:txBody>
      </p:sp>
      <p:cxnSp>
        <p:nvCxnSpPr>
          <p:cNvPr id="102" name="Google Shape;102;p13"/>
          <p:cNvCxnSpPr/>
          <p:nvPr/>
        </p:nvCxnSpPr>
        <p:spPr>
          <a:xfrm>
            <a:off x="640080" y="2770630"/>
            <a:ext cx="10515600" cy="0"/>
          </a:xfrm>
          <a:prstGeom prst="straightConnector1">
            <a:avLst/>
          </a:prstGeom>
          <a:noFill/>
          <a:ln cap="flat" cmpd="sng" w="9525">
            <a:solidFill>
              <a:srgbClr val="E3E6EC"/>
            </a:solidFill>
            <a:prstDash val="solid"/>
            <a:miter lim="8000"/>
            <a:headEnd len="sm" w="sm" type="none"/>
            <a:tailEnd len="sm" w="sm" type="none"/>
          </a:ln>
        </p:spPr>
      </p:cxnSp>
      <p:sp>
        <p:nvSpPr>
          <p:cNvPr id="103" name="Google Shape;103;p13"/>
          <p:cNvSpPr txBox="1"/>
          <p:nvPr/>
        </p:nvSpPr>
        <p:spPr>
          <a:xfrm>
            <a:off x="1325880" y="2996444"/>
            <a:ext cx="9875400" cy="26160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i="0" lang="en-US" sz="1700" u="none" cap="none" strike="noStrike">
                <a:solidFill>
                  <a:srgbClr val="23325D"/>
                </a:solidFill>
                <a:latin typeface="Calibri"/>
                <a:ea typeface="Calibri"/>
                <a:cs typeface="Calibri"/>
                <a:sym typeface="Calibri"/>
              </a:rPr>
              <a:t>Mapping that idea onto Drupal's render, routing &amp; caching</a:t>
            </a:r>
            <a:endParaRPr/>
          </a:p>
        </p:txBody>
      </p:sp>
      <p:cxnSp>
        <p:nvCxnSpPr>
          <p:cNvPr id="104" name="Google Shape;104;p13"/>
          <p:cNvCxnSpPr/>
          <p:nvPr/>
        </p:nvCxnSpPr>
        <p:spPr>
          <a:xfrm>
            <a:off x="640080" y="3483862"/>
            <a:ext cx="10515600" cy="0"/>
          </a:xfrm>
          <a:prstGeom prst="straightConnector1">
            <a:avLst/>
          </a:prstGeom>
          <a:noFill/>
          <a:ln cap="flat" cmpd="sng" w="9525">
            <a:solidFill>
              <a:srgbClr val="E3E6EC"/>
            </a:solidFill>
            <a:prstDash val="solid"/>
            <a:miter lim="8000"/>
            <a:headEnd len="sm" w="sm" type="none"/>
            <a:tailEnd len="sm" w="sm" type="none"/>
          </a:ln>
        </p:spPr>
      </p:cxnSp>
      <p:sp>
        <p:nvSpPr>
          <p:cNvPr id="105" name="Google Shape;105;p13"/>
          <p:cNvSpPr txBox="1"/>
          <p:nvPr/>
        </p:nvSpPr>
        <p:spPr>
          <a:xfrm>
            <a:off x="1325880" y="3709664"/>
            <a:ext cx="9875400" cy="26160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i="0" lang="en-US" sz="1700" u="none" cap="none" strike="noStrike">
                <a:solidFill>
                  <a:srgbClr val="23325D"/>
                </a:solidFill>
                <a:latin typeface="Calibri"/>
                <a:ea typeface="Calibri"/>
                <a:cs typeface="Calibri"/>
                <a:sym typeface="Calibri"/>
              </a:rPr>
              <a:t>Live: a form, a filter, a partial update — barely any JS</a:t>
            </a:r>
            <a:endParaRPr/>
          </a:p>
        </p:txBody>
      </p:sp>
      <p:cxnSp>
        <p:nvCxnSpPr>
          <p:cNvPr id="106" name="Google Shape;106;p13"/>
          <p:cNvCxnSpPr/>
          <p:nvPr/>
        </p:nvCxnSpPr>
        <p:spPr>
          <a:xfrm>
            <a:off x="640080" y="4197094"/>
            <a:ext cx="10515600" cy="0"/>
          </a:xfrm>
          <a:prstGeom prst="straightConnector1">
            <a:avLst/>
          </a:prstGeom>
          <a:noFill/>
          <a:ln cap="flat" cmpd="sng" w="9525">
            <a:solidFill>
              <a:srgbClr val="E3E6EC"/>
            </a:solidFill>
            <a:prstDash val="solid"/>
            <a:miter lim="8000"/>
            <a:headEnd len="sm" w="sm" type="none"/>
            <a:tailEnd len="sm" w="sm" type="none"/>
          </a:ln>
        </p:spPr>
      </p:cxnSp>
      <p:sp>
        <p:nvSpPr>
          <p:cNvPr id="107" name="Google Shape;107;p13"/>
          <p:cNvSpPr txBox="1"/>
          <p:nvPr/>
        </p:nvSpPr>
        <p:spPr>
          <a:xfrm>
            <a:off x="1325880" y="4422908"/>
            <a:ext cx="9875400" cy="26160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i="0" lang="en-US" sz="1700" u="none" cap="none" strike="noStrike">
                <a:solidFill>
                  <a:srgbClr val="23325D"/>
                </a:solidFill>
                <a:latin typeface="Calibri"/>
                <a:ea typeface="Calibri"/>
                <a:cs typeface="Calibri"/>
                <a:sym typeface="Calibri"/>
              </a:rPr>
              <a:t>Ajax API vs HTMX, compared honestly</a:t>
            </a:r>
            <a:endParaRPr/>
          </a:p>
        </p:txBody>
      </p:sp>
      <p:cxnSp>
        <p:nvCxnSpPr>
          <p:cNvPr id="108" name="Google Shape;108;p13"/>
          <p:cNvCxnSpPr/>
          <p:nvPr/>
        </p:nvCxnSpPr>
        <p:spPr>
          <a:xfrm>
            <a:off x="640080" y="4910326"/>
            <a:ext cx="10515600" cy="0"/>
          </a:xfrm>
          <a:prstGeom prst="straightConnector1">
            <a:avLst/>
          </a:prstGeom>
          <a:noFill/>
          <a:ln cap="flat" cmpd="sng" w="9525">
            <a:solidFill>
              <a:srgbClr val="E3E6EC"/>
            </a:solidFill>
            <a:prstDash val="solid"/>
            <a:miter lim="8000"/>
            <a:headEnd len="sm" w="sm" type="none"/>
            <a:tailEnd len="sm" w="sm" type="none"/>
          </a:ln>
        </p:spPr>
      </p:cxnSp>
      <p:sp>
        <p:nvSpPr>
          <p:cNvPr id="109" name="Google Shape;109;p13"/>
          <p:cNvSpPr txBox="1"/>
          <p:nvPr/>
        </p:nvSpPr>
        <p:spPr>
          <a:xfrm>
            <a:off x="1325880" y="5136153"/>
            <a:ext cx="9875400" cy="26160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i="0" lang="en-US" sz="1700" u="none" cap="none" strike="noStrike">
                <a:solidFill>
                  <a:srgbClr val="23325D"/>
                </a:solidFill>
                <a:latin typeface="Calibri"/>
                <a:ea typeface="Calibri"/>
                <a:cs typeface="Calibri"/>
                <a:sym typeface="Calibri"/>
              </a:rPr>
              <a:t>Bringing it into a project you already have</a:t>
            </a:r>
            <a:endParaRPr/>
          </a:p>
        </p:txBody>
      </p:sp>
      <p:sp>
        <p:nvSpPr>
          <p:cNvPr id="110" name="Google Shape;110;p13"/>
          <p:cNvSpPr/>
          <p:nvPr/>
        </p:nvSpPr>
        <p:spPr>
          <a:xfrm>
            <a:off x="604075" y="2161713"/>
            <a:ext cx="592200" cy="504600"/>
          </a:xfrm>
          <a:prstGeom prst="ellipse">
            <a:avLst/>
          </a:prstGeom>
          <a:solidFill>
            <a:srgbClr val="202C5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US" sz="1300" u="none" cap="none" strike="noStrike">
                <a:solidFill>
                  <a:srgbClr val="FFFFFF"/>
                </a:solidFill>
                <a:latin typeface="Courier New"/>
                <a:ea typeface="Courier New"/>
                <a:cs typeface="Courier New"/>
                <a:sym typeface="Courier New"/>
              </a:rPr>
              <a:t>0</a:t>
            </a:r>
            <a:r>
              <a:rPr b="1" lang="en-US" sz="1300">
                <a:solidFill>
                  <a:srgbClr val="FFFFFF"/>
                </a:solidFill>
                <a:latin typeface="Courier New"/>
                <a:ea typeface="Courier New"/>
                <a:cs typeface="Courier New"/>
                <a:sym typeface="Courier New"/>
              </a:rPr>
              <a:t>2</a:t>
            </a:r>
            <a:endParaRPr/>
          </a:p>
        </p:txBody>
      </p:sp>
      <p:sp>
        <p:nvSpPr>
          <p:cNvPr id="111" name="Google Shape;111;p13"/>
          <p:cNvSpPr/>
          <p:nvPr/>
        </p:nvSpPr>
        <p:spPr>
          <a:xfrm>
            <a:off x="604075" y="2874925"/>
            <a:ext cx="592200" cy="504600"/>
          </a:xfrm>
          <a:prstGeom prst="ellipse">
            <a:avLst/>
          </a:prstGeom>
          <a:solidFill>
            <a:srgbClr val="202C5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US" sz="1300" u="none" cap="none" strike="noStrike">
                <a:solidFill>
                  <a:srgbClr val="FFFFFF"/>
                </a:solidFill>
                <a:latin typeface="Courier New"/>
                <a:ea typeface="Courier New"/>
                <a:cs typeface="Courier New"/>
                <a:sym typeface="Courier New"/>
              </a:rPr>
              <a:t>0</a:t>
            </a:r>
            <a:r>
              <a:rPr b="1" lang="en-US" sz="1300">
                <a:solidFill>
                  <a:srgbClr val="FFFFFF"/>
                </a:solidFill>
                <a:latin typeface="Courier New"/>
                <a:ea typeface="Courier New"/>
                <a:cs typeface="Courier New"/>
                <a:sym typeface="Courier New"/>
              </a:rPr>
              <a:t>3</a:t>
            </a:r>
            <a:endParaRPr/>
          </a:p>
        </p:txBody>
      </p:sp>
      <p:sp>
        <p:nvSpPr>
          <p:cNvPr id="112" name="Google Shape;112;p13"/>
          <p:cNvSpPr/>
          <p:nvPr/>
        </p:nvSpPr>
        <p:spPr>
          <a:xfrm>
            <a:off x="572575" y="3588163"/>
            <a:ext cx="592200" cy="504600"/>
          </a:xfrm>
          <a:prstGeom prst="ellipse">
            <a:avLst/>
          </a:prstGeom>
          <a:solidFill>
            <a:srgbClr val="202C5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US" sz="1300" u="none" cap="none" strike="noStrike">
                <a:solidFill>
                  <a:srgbClr val="FFFFFF"/>
                </a:solidFill>
                <a:latin typeface="Courier New"/>
                <a:ea typeface="Courier New"/>
                <a:cs typeface="Courier New"/>
                <a:sym typeface="Courier New"/>
              </a:rPr>
              <a:t>0</a:t>
            </a:r>
            <a:r>
              <a:rPr b="1" lang="en-US" sz="1300">
                <a:solidFill>
                  <a:srgbClr val="FFFFFF"/>
                </a:solidFill>
                <a:latin typeface="Courier New"/>
                <a:ea typeface="Courier New"/>
                <a:cs typeface="Courier New"/>
                <a:sym typeface="Courier New"/>
              </a:rPr>
              <a:t>4</a:t>
            </a:r>
            <a:endParaRPr/>
          </a:p>
        </p:txBody>
      </p:sp>
      <p:sp>
        <p:nvSpPr>
          <p:cNvPr id="113" name="Google Shape;113;p13"/>
          <p:cNvSpPr/>
          <p:nvPr/>
        </p:nvSpPr>
        <p:spPr>
          <a:xfrm>
            <a:off x="604075" y="4301400"/>
            <a:ext cx="592200" cy="504600"/>
          </a:xfrm>
          <a:prstGeom prst="ellipse">
            <a:avLst/>
          </a:prstGeom>
          <a:solidFill>
            <a:srgbClr val="202C5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US" sz="1300" u="none" cap="none" strike="noStrike">
                <a:solidFill>
                  <a:srgbClr val="FFFFFF"/>
                </a:solidFill>
                <a:latin typeface="Courier New"/>
                <a:ea typeface="Courier New"/>
                <a:cs typeface="Courier New"/>
                <a:sym typeface="Courier New"/>
              </a:rPr>
              <a:t>0</a:t>
            </a:r>
            <a:r>
              <a:rPr b="1" lang="en-US" sz="1300">
                <a:solidFill>
                  <a:srgbClr val="FFFFFF"/>
                </a:solidFill>
                <a:latin typeface="Courier New"/>
                <a:ea typeface="Courier New"/>
                <a:cs typeface="Courier New"/>
                <a:sym typeface="Courier New"/>
              </a:rPr>
              <a:t>5</a:t>
            </a:r>
            <a:endParaRPr/>
          </a:p>
        </p:txBody>
      </p:sp>
      <p:sp>
        <p:nvSpPr>
          <p:cNvPr id="114" name="Google Shape;114;p13"/>
          <p:cNvSpPr/>
          <p:nvPr/>
        </p:nvSpPr>
        <p:spPr>
          <a:xfrm>
            <a:off x="604075" y="4983475"/>
            <a:ext cx="592200" cy="504600"/>
          </a:xfrm>
          <a:prstGeom prst="ellipse">
            <a:avLst/>
          </a:prstGeom>
          <a:solidFill>
            <a:srgbClr val="202C5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US" sz="1300" u="none" cap="none" strike="noStrike">
                <a:solidFill>
                  <a:srgbClr val="FFFFFF"/>
                </a:solidFill>
                <a:latin typeface="Courier New"/>
                <a:ea typeface="Courier New"/>
                <a:cs typeface="Courier New"/>
                <a:sym typeface="Courier New"/>
              </a:rPr>
              <a:t>0</a:t>
            </a:r>
            <a:r>
              <a:rPr b="1" lang="en-US" sz="1300">
                <a:solidFill>
                  <a:srgbClr val="FFFFFF"/>
                </a:solidFill>
                <a:latin typeface="Courier New"/>
                <a:ea typeface="Courier New"/>
                <a:cs typeface="Courier New"/>
                <a:sym typeface="Courier New"/>
              </a:rPr>
              <a:t>6</a:t>
            </a:r>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9" name="Shape 119"/>
        <p:cNvGrpSpPr/>
        <p:nvPr/>
      </p:nvGrpSpPr>
      <p:grpSpPr>
        <a:xfrm>
          <a:off x="0" y="0"/>
          <a:ext cx="0" cy="0"/>
          <a:chOff x="0" y="0"/>
          <a:chExt cx="0" cy="0"/>
        </a:xfrm>
      </p:grpSpPr>
      <p:sp>
        <p:nvSpPr>
          <p:cNvPr id="120" name="Google Shape;120;p14"/>
          <p:cNvSpPr txBox="1"/>
          <p:nvPr>
            <p:ph type="title"/>
          </p:nvPr>
        </p:nvSpPr>
        <p:spPr>
          <a:xfrm>
            <a:off x="799925" y="1847575"/>
            <a:ext cx="10922700" cy="1086000"/>
          </a:xfrm>
          <a:prstGeom prst="rect">
            <a:avLst/>
          </a:prstGeom>
          <a:noFill/>
          <a:ln>
            <a:noFill/>
          </a:ln>
        </p:spPr>
        <p:txBody>
          <a:bodyPr anchorCtr="0" anchor="t" bIns="45700" lIns="91425" spcFirstLastPara="1" rIns="91425" wrap="square" tIns="45700">
            <a:normAutofit/>
          </a:bodyPr>
          <a:lstStyle/>
          <a:p>
            <a:pPr indent="0" lvl="0" marL="0" rtl="0" algn="l">
              <a:lnSpc>
                <a:spcPct val="90000"/>
              </a:lnSpc>
              <a:spcBef>
                <a:spcPts val="0"/>
              </a:spcBef>
              <a:spcAft>
                <a:spcPts val="0"/>
              </a:spcAft>
              <a:buClr>
                <a:srgbClr val="23325D"/>
              </a:buClr>
              <a:buSzPts val="3600"/>
              <a:buFont typeface="Calibri"/>
              <a:buNone/>
            </a:pPr>
            <a:r>
              <a:rPr lang="en-US" sz="3600">
                <a:solidFill>
                  <a:srgbClr val="23325D"/>
                </a:solidFill>
              </a:rPr>
              <a:t>Ajax API: Evolution &amp; Pain Points</a:t>
            </a:r>
            <a:endParaRPr/>
          </a:p>
        </p:txBody>
      </p:sp>
      <p:sp>
        <p:nvSpPr>
          <p:cNvPr id="121" name="Google Shape;121;p14"/>
          <p:cNvSpPr txBox="1"/>
          <p:nvPr/>
        </p:nvSpPr>
        <p:spPr>
          <a:xfrm>
            <a:off x="7589520" y="4297680"/>
            <a:ext cx="3931920" cy="2103120"/>
          </a:xfrm>
          <a:prstGeom prst="rect">
            <a:avLst/>
          </a:prstGeom>
          <a:noFill/>
          <a:ln>
            <a:noFill/>
          </a:ln>
        </p:spPr>
        <p:txBody>
          <a:bodyPr anchorCtr="0" anchor="ctr" bIns="0" lIns="0" spcFirstLastPara="1" rIns="0" wrap="square" tIns="0">
            <a:spAutoFit/>
          </a:bodyPr>
          <a:lstStyle/>
          <a:p>
            <a:pPr indent="0" lvl="0" marL="0" marR="0" rtl="0" algn="r">
              <a:spcBef>
                <a:spcPts val="0"/>
              </a:spcBef>
              <a:spcAft>
                <a:spcPts val="0"/>
              </a:spcAft>
              <a:buNone/>
            </a:pPr>
            <a:r>
              <a:rPr b="1" i="0" lang="en-US" sz="17000" u="none" cap="none" strike="noStrike">
                <a:solidFill>
                  <a:srgbClr val="DDE3EF"/>
                </a:solidFill>
                <a:latin typeface="Courier New"/>
                <a:ea typeface="Courier New"/>
                <a:cs typeface="Courier New"/>
                <a:sym typeface="Courier New"/>
              </a:rPr>
              <a:t>02</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6" name="Shape 126"/>
        <p:cNvGrpSpPr/>
        <p:nvPr/>
      </p:nvGrpSpPr>
      <p:grpSpPr>
        <a:xfrm>
          <a:off x="0" y="0"/>
          <a:ext cx="0" cy="0"/>
          <a:chOff x="0" y="0"/>
          <a:chExt cx="0" cy="0"/>
        </a:xfrm>
      </p:grpSpPr>
      <p:sp>
        <p:nvSpPr>
          <p:cNvPr id="127" name="Google Shape;127;p15"/>
          <p:cNvSpPr txBox="1"/>
          <p:nvPr>
            <p:ph type="title"/>
          </p:nvPr>
        </p:nvSpPr>
        <p:spPr>
          <a:xfrm>
            <a:off x="530175" y="600650"/>
            <a:ext cx="10515600" cy="597300"/>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rgbClr val="23325D"/>
              </a:buClr>
              <a:buSzPts val="3000"/>
              <a:buFont typeface="Calibri"/>
              <a:buNone/>
            </a:pPr>
            <a:r>
              <a:rPr lang="en-US" sz="3000">
                <a:solidFill>
                  <a:srgbClr val="23325D"/>
                </a:solidFill>
              </a:rPr>
              <a:t>Ajax API: Evolution &amp; Pain Points</a:t>
            </a:r>
            <a:endParaRPr/>
          </a:p>
        </p:txBody>
      </p:sp>
      <p:sp>
        <p:nvSpPr>
          <p:cNvPr id="128" name="Google Shape;128;p15"/>
          <p:cNvSpPr txBox="1"/>
          <p:nvPr/>
        </p:nvSpPr>
        <p:spPr>
          <a:xfrm>
            <a:off x="640080" y="327891"/>
            <a:ext cx="7315200" cy="1848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1200">
                <a:solidFill>
                  <a:srgbClr val="0D6DAC"/>
                </a:solidFill>
                <a:latin typeface="Calibri"/>
                <a:ea typeface="Calibri"/>
                <a:cs typeface="Calibri"/>
                <a:sym typeface="Calibri"/>
              </a:rPr>
              <a:t>— </a:t>
            </a:r>
            <a:r>
              <a:rPr b="1" i="0" lang="en-US" sz="1200" u="none" cap="none" strike="noStrike">
                <a:solidFill>
                  <a:srgbClr val="0D6DAC"/>
                </a:solidFill>
                <a:latin typeface="Calibri"/>
                <a:ea typeface="Calibri"/>
                <a:cs typeface="Calibri"/>
                <a:sym typeface="Calibri"/>
              </a:rPr>
              <a:t>A BRIEF HISTORY</a:t>
            </a:r>
            <a:endParaRPr/>
          </a:p>
        </p:txBody>
      </p:sp>
      <p:sp>
        <p:nvSpPr>
          <p:cNvPr id="129" name="Google Shape;129;p15"/>
          <p:cNvSpPr txBox="1"/>
          <p:nvPr/>
        </p:nvSpPr>
        <p:spPr>
          <a:xfrm>
            <a:off x="640080" y="1783080"/>
            <a:ext cx="2011680" cy="32004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300" u="none" cap="none" strike="noStrike">
                <a:solidFill>
                  <a:srgbClr val="0D6DAC"/>
                </a:solidFill>
                <a:latin typeface="Courier New"/>
                <a:ea typeface="Courier New"/>
                <a:cs typeface="Courier New"/>
                <a:sym typeface="Courier New"/>
              </a:rPr>
              <a:t>DRUPAL 7</a:t>
            </a:r>
            <a:endParaRPr/>
          </a:p>
        </p:txBody>
      </p:sp>
      <p:sp>
        <p:nvSpPr>
          <p:cNvPr id="130" name="Google Shape;130;p15"/>
          <p:cNvSpPr txBox="1"/>
          <p:nvPr/>
        </p:nvSpPr>
        <p:spPr>
          <a:xfrm>
            <a:off x="640080" y="2103120"/>
            <a:ext cx="10908900" cy="541800"/>
          </a:xfrm>
          <a:prstGeom prst="rect">
            <a:avLst/>
          </a:prstGeom>
          <a:noFill/>
          <a:ln>
            <a:noFill/>
          </a:ln>
        </p:spPr>
        <p:txBody>
          <a:bodyPr anchorCtr="0" anchor="t" bIns="0" lIns="0" spcFirstLastPara="1" rIns="0" wrap="square" tIns="0">
            <a:spAutoFit/>
          </a:bodyPr>
          <a:lstStyle/>
          <a:p>
            <a:pPr indent="0" lvl="0" marL="0" marR="0" rtl="0" algn="l">
              <a:lnSpc>
                <a:spcPct val="120000"/>
              </a:lnSpc>
              <a:spcBef>
                <a:spcPts val="0"/>
              </a:spcBef>
              <a:spcAft>
                <a:spcPts val="0"/>
              </a:spcAft>
              <a:buNone/>
            </a:pPr>
            <a:r>
              <a:rPr b="0" i="0" lang="en-US" sz="1600" u="none" cap="none" strike="noStrike">
                <a:solidFill>
                  <a:srgbClr val="23325D"/>
                </a:solidFill>
                <a:latin typeface="Calibri"/>
                <a:ea typeface="Calibri"/>
                <a:cs typeface="Calibri"/>
                <a:sym typeface="Calibri"/>
              </a:rPr>
              <a:t>Ajax API unified into a single core framework</a:t>
            </a:r>
            <a:endParaRPr b="0" i="0" sz="1600" u="none" cap="none" strike="noStrike">
              <a:solidFill>
                <a:srgbClr val="23325D"/>
              </a:solidFill>
              <a:latin typeface="Calibri"/>
              <a:ea typeface="Calibri"/>
              <a:cs typeface="Calibri"/>
              <a:sym typeface="Calibri"/>
            </a:endParaRPr>
          </a:p>
          <a:p>
            <a:pPr indent="0" lvl="0" marL="0" marR="0" rtl="0" algn="l">
              <a:lnSpc>
                <a:spcPct val="120000"/>
              </a:lnSpc>
              <a:spcBef>
                <a:spcPts val="0"/>
              </a:spcBef>
              <a:spcAft>
                <a:spcPts val="0"/>
              </a:spcAft>
              <a:buNone/>
            </a:pPr>
            <a:r>
              <a:t/>
            </a:r>
            <a:endParaRPr sz="1600">
              <a:solidFill>
                <a:srgbClr val="23325D"/>
              </a:solidFill>
              <a:latin typeface="Calibri"/>
              <a:ea typeface="Calibri"/>
              <a:cs typeface="Calibri"/>
              <a:sym typeface="Calibri"/>
            </a:endParaRPr>
          </a:p>
        </p:txBody>
      </p:sp>
      <p:sp>
        <p:nvSpPr>
          <p:cNvPr id="131" name="Google Shape;131;p15"/>
          <p:cNvSpPr txBox="1"/>
          <p:nvPr/>
        </p:nvSpPr>
        <p:spPr>
          <a:xfrm>
            <a:off x="640075" y="2892375"/>
            <a:ext cx="2011800" cy="2001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300" u="none" cap="none" strike="noStrike">
                <a:solidFill>
                  <a:srgbClr val="0D6DAC"/>
                </a:solidFill>
                <a:latin typeface="Courier New"/>
                <a:ea typeface="Courier New"/>
                <a:cs typeface="Courier New"/>
                <a:sym typeface="Courier New"/>
              </a:rPr>
              <a:t>DRUPAL 8 → 11</a:t>
            </a:r>
            <a:endParaRPr/>
          </a:p>
        </p:txBody>
      </p:sp>
      <p:sp>
        <p:nvSpPr>
          <p:cNvPr id="132" name="Google Shape;132;p15"/>
          <p:cNvSpPr txBox="1"/>
          <p:nvPr/>
        </p:nvSpPr>
        <p:spPr>
          <a:xfrm>
            <a:off x="640075" y="3212421"/>
            <a:ext cx="10908900" cy="246300"/>
          </a:xfrm>
          <a:prstGeom prst="rect">
            <a:avLst/>
          </a:prstGeom>
          <a:noFill/>
          <a:ln>
            <a:noFill/>
          </a:ln>
        </p:spPr>
        <p:txBody>
          <a:bodyPr anchorCtr="0" anchor="t" bIns="0" lIns="0" spcFirstLastPara="1" rIns="0" wrap="square" tIns="0">
            <a:spAutoFit/>
          </a:bodyPr>
          <a:lstStyle/>
          <a:p>
            <a:pPr indent="0" lvl="0" marL="0" marR="0" rtl="0" algn="l">
              <a:lnSpc>
                <a:spcPct val="120000"/>
              </a:lnSpc>
              <a:spcBef>
                <a:spcPts val="0"/>
              </a:spcBef>
              <a:spcAft>
                <a:spcPts val="0"/>
              </a:spcAft>
              <a:buNone/>
            </a:pPr>
            <a:r>
              <a:rPr b="0" i="0" lang="en-US" sz="1600" u="none" cap="none" strike="noStrike">
                <a:solidFill>
                  <a:srgbClr val="23325D"/>
                </a:solidFill>
                <a:latin typeface="Calibri"/>
                <a:ea typeface="Calibri"/>
                <a:cs typeface="Calibri"/>
                <a:sym typeface="Calibri"/>
              </a:rPr>
              <a:t>Rebuilt on Symfony's HttpKernel</a:t>
            </a:r>
            <a:r>
              <a:rPr lang="en-US" sz="1600">
                <a:solidFill>
                  <a:srgbClr val="23325D"/>
                </a:solidFill>
                <a:latin typeface="Calibri"/>
                <a:ea typeface="Calibri"/>
                <a:cs typeface="Calibri"/>
                <a:sym typeface="Calibri"/>
              </a:rPr>
              <a:t>, </a:t>
            </a:r>
            <a:r>
              <a:rPr b="0" i="0" lang="en-US" sz="1600" u="none" cap="none" strike="noStrike">
                <a:solidFill>
                  <a:srgbClr val="23325D"/>
                </a:solidFill>
                <a:latin typeface="Calibri"/>
                <a:ea typeface="Calibri"/>
                <a:cs typeface="Calibri"/>
                <a:sym typeface="Calibri"/>
              </a:rPr>
              <a:t>AjaxResponse extends Response; interactions become a stack of Commands</a:t>
            </a:r>
            <a:endParaRPr/>
          </a:p>
        </p:txBody>
      </p:sp>
      <p:sp>
        <p:nvSpPr>
          <p:cNvPr id="133" name="Google Shape;133;p15"/>
          <p:cNvSpPr txBox="1"/>
          <p:nvPr/>
        </p:nvSpPr>
        <p:spPr>
          <a:xfrm>
            <a:off x="640080" y="3554072"/>
            <a:ext cx="10908900" cy="2463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0" i="0" lang="en-US" sz="1600" u="none" cap="none" strike="noStrike">
                <a:solidFill>
                  <a:srgbClr val="23325D"/>
                </a:solidFill>
                <a:latin typeface="Calibri"/>
                <a:ea typeface="Calibri"/>
                <a:cs typeface="Calibri"/>
                <a:sym typeface="Calibri"/>
              </a:rPr>
              <a:t>Mature. Well-documented. Everywhere in core</a:t>
            </a:r>
            <a:r>
              <a:rPr lang="en-US" sz="1600">
                <a:solidFill>
                  <a:srgbClr val="23325D"/>
                </a:solidFill>
                <a:latin typeface="Calibri"/>
                <a:ea typeface="Calibri"/>
                <a:cs typeface="Calibri"/>
                <a:sym typeface="Calibri"/>
              </a:rPr>
              <a:t>:</a:t>
            </a:r>
            <a:r>
              <a:rPr b="0" i="0" lang="en-US" sz="1600" u="none" cap="none" strike="noStrike">
                <a:solidFill>
                  <a:srgbClr val="23325D"/>
                </a:solidFill>
                <a:latin typeface="Calibri"/>
                <a:ea typeface="Calibri"/>
                <a:cs typeface="Calibri"/>
                <a:sym typeface="Calibri"/>
              </a:rPr>
              <a:t> exposed filters, autocomplete, modals, inline entity forms.</a:t>
            </a:r>
            <a:endParaRPr>
              <a:solidFill>
                <a:srgbClr val="23325D"/>
              </a:solidFill>
            </a:endParaRPr>
          </a:p>
        </p:txBody>
      </p:sp>
      <p:sp>
        <p:nvSpPr>
          <p:cNvPr id="134" name="Google Shape;134;p15"/>
          <p:cNvSpPr txBox="1"/>
          <p:nvPr/>
        </p:nvSpPr>
        <p:spPr>
          <a:xfrm>
            <a:off x="640080" y="3974215"/>
            <a:ext cx="10908900" cy="2310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0" i="1" lang="en-US" sz="1500" u="none" cap="none" strike="noStrike">
                <a:solidFill>
                  <a:srgbClr val="9AA3B5"/>
                </a:solidFill>
                <a:latin typeface="Calibri"/>
                <a:ea typeface="Calibri"/>
                <a:cs typeface="Calibri"/>
                <a:sym typeface="Calibri"/>
              </a:rPr>
              <a:t>The right answer for 2011.</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9" name="Shape 139"/>
        <p:cNvGrpSpPr/>
        <p:nvPr/>
      </p:nvGrpSpPr>
      <p:grpSpPr>
        <a:xfrm>
          <a:off x="0" y="0"/>
          <a:ext cx="0" cy="0"/>
          <a:chOff x="0" y="0"/>
          <a:chExt cx="0" cy="0"/>
        </a:xfrm>
      </p:grpSpPr>
      <p:sp>
        <p:nvSpPr>
          <p:cNvPr id="140" name="Google Shape;140;p16"/>
          <p:cNvSpPr txBox="1"/>
          <p:nvPr/>
        </p:nvSpPr>
        <p:spPr>
          <a:xfrm>
            <a:off x="640075" y="320047"/>
            <a:ext cx="7315200" cy="1848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1200">
                <a:solidFill>
                  <a:srgbClr val="0D6DAC"/>
                </a:solidFill>
                <a:latin typeface="Calibri"/>
                <a:ea typeface="Calibri"/>
                <a:cs typeface="Calibri"/>
                <a:sym typeface="Calibri"/>
              </a:rPr>
              <a:t>— </a:t>
            </a:r>
            <a:r>
              <a:rPr b="1" i="0" lang="en-US" sz="1200" u="none" cap="none" strike="noStrike">
                <a:solidFill>
                  <a:srgbClr val="0D6DAC"/>
                </a:solidFill>
                <a:latin typeface="Calibri"/>
                <a:ea typeface="Calibri"/>
                <a:cs typeface="Calibri"/>
                <a:sym typeface="Calibri"/>
              </a:rPr>
              <a:t>THE MECHANICS</a:t>
            </a:r>
            <a:endParaRPr/>
          </a:p>
        </p:txBody>
      </p:sp>
      <p:sp>
        <p:nvSpPr>
          <p:cNvPr id="141" name="Google Shape;141;p16"/>
          <p:cNvSpPr txBox="1"/>
          <p:nvPr/>
        </p:nvSpPr>
        <p:spPr>
          <a:xfrm>
            <a:off x="640080" y="2569080"/>
            <a:ext cx="640200" cy="246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None/>
            </a:pPr>
            <a:r>
              <a:rPr b="1" i="0" lang="en-US" sz="1600" u="none" cap="none" strike="noStrike">
                <a:solidFill>
                  <a:srgbClr val="0D6DAC"/>
                </a:solidFill>
                <a:latin typeface="Courier New"/>
                <a:ea typeface="Courier New"/>
                <a:cs typeface="Courier New"/>
                <a:sym typeface="Courier New"/>
              </a:rPr>
              <a:t>01</a:t>
            </a:r>
            <a:endParaRPr/>
          </a:p>
        </p:txBody>
      </p:sp>
      <p:sp>
        <p:nvSpPr>
          <p:cNvPr id="142" name="Google Shape;142;p16"/>
          <p:cNvSpPr txBox="1"/>
          <p:nvPr/>
        </p:nvSpPr>
        <p:spPr>
          <a:xfrm>
            <a:off x="1463040" y="2576931"/>
            <a:ext cx="9875400" cy="26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None/>
            </a:pPr>
            <a:r>
              <a:rPr b="0" i="0" lang="en-US" sz="1700" u="none" cap="none" strike="noStrike">
                <a:solidFill>
                  <a:srgbClr val="23325D"/>
                </a:solidFill>
                <a:latin typeface="Calibri"/>
                <a:ea typeface="Calibri"/>
                <a:cs typeface="Calibri"/>
                <a:sym typeface="Calibri"/>
              </a:rPr>
              <a:t>An element gets an </a:t>
            </a:r>
            <a:r>
              <a:rPr b="1" i="0" lang="en-US" sz="1700" u="none" cap="none" strike="noStrike">
                <a:solidFill>
                  <a:srgbClr val="0D6DAC"/>
                </a:solidFill>
                <a:latin typeface="Courier New"/>
                <a:ea typeface="Courier New"/>
                <a:cs typeface="Courier New"/>
                <a:sym typeface="Courier New"/>
              </a:rPr>
              <a:t>#ajax</a:t>
            </a:r>
            <a:r>
              <a:rPr b="0" i="0" lang="en-US" sz="1700" u="none" cap="none" strike="noStrike">
                <a:solidFill>
                  <a:srgbClr val="23325D"/>
                </a:solidFill>
                <a:latin typeface="Calibri"/>
                <a:ea typeface="Calibri"/>
                <a:cs typeface="Calibri"/>
                <a:sym typeface="Calibri"/>
              </a:rPr>
              <a:t> property – callback, wrapper, event</a:t>
            </a:r>
            <a:endParaRPr/>
          </a:p>
        </p:txBody>
      </p:sp>
      <p:sp>
        <p:nvSpPr>
          <p:cNvPr id="143" name="Google Shape;143;p16"/>
          <p:cNvSpPr txBox="1"/>
          <p:nvPr/>
        </p:nvSpPr>
        <p:spPr>
          <a:xfrm>
            <a:off x="640080" y="3200395"/>
            <a:ext cx="640200" cy="246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None/>
            </a:pPr>
            <a:r>
              <a:rPr b="1" i="0" lang="en-US" sz="1600">
                <a:solidFill>
                  <a:srgbClr val="0D6DAC"/>
                </a:solidFill>
                <a:latin typeface="Courier New"/>
                <a:ea typeface="Courier New"/>
                <a:cs typeface="Courier New"/>
                <a:sym typeface="Courier New"/>
              </a:rPr>
              <a:t>02</a:t>
            </a:r>
            <a:endParaRPr/>
          </a:p>
        </p:txBody>
      </p:sp>
      <p:sp>
        <p:nvSpPr>
          <p:cNvPr id="144" name="Google Shape;144;p16"/>
          <p:cNvSpPr txBox="1"/>
          <p:nvPr/>
        </p:nvSpPr>
        <p:spPr>
          <a:xfrm>
            <a:off x="1463050" y="3200398"/>
            <a:ext cx="9875400" cy="26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None/>
            </a:pPr>
            <a:r>
              <a:rPr b="0" i="0" lang="en-US" sz="1700">
                <a:solidFill>
                  <a:srgbClr val="23325D"/>
                </a:solidFill>
                <a:latin typeface="Calibri"/>
                <a:ea typeface="Calibri"/>
                <a:cs typeface="Calibri"/>
                <a:sym typeface="Calibri"/>
              </a:rPr>
              <a:t>The callback returns an </a:t>
            </a:r>
            <a:r>
              <a:rPr b="1" i="0" lang="en-US" sz="1700">
                <a:solidFill>
                  <a:srgbClr val="0D6DAC"/>
                </a:solidFill>
                <a:latin typeface="Courier New"/>
                <a:ea typeface="Courier New"/>
                <a:cs typeface="Courier New"/>
                <a:sym typeface="Courier New"/>
              </a:rPr>
              <a:t>AjaxResponse</a:t>
            </a:r>
            <a:r>
              <a:rPr b="0" i="0" lang="en-US" sz="1700">
                <a:solidFill>
                  <a:srgbClr val="23325D"/>
                </a:solidFill>
                <a:latin typeface="Calibri"/>
                <a:ea typeface="Calibri"/>
                <a:cs typeface="Calibri"/>
                <a:sym typeface="Calibri"/>
              </a:rPr>
              <a:t> built from one or more Commands</a:t>
            </a:r>
            <a:endParaRPr/>
          </a:p>
        </p:txBody>
      </p:sp>
      <p:sp>
        <p:nvSpPr>
          <p:cNvPr id="145" name="Google Shape;145;p16"/>
          <p:cNvSpPr txBox="1"/>
          <p:nvPr/>
        </p:nvSpPr>
        <p:spPr>
          <a:xfrm>
            <a:off x="640080" y="3779985"/>
            <a:ext cx="640200" cy="246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None/>
            </a:pPr>
            <a:r>
              <a:rPr b="1" i="0" lang="en-US" sz="1600">
                <a:solidFill>
                  <a:srgbClr val="0D6DAC"/>
                </a:solidFill>
                <a:latin typeface="Courier New"/>
                <a:ea typeface="Courier New"/>
                <a:cs typeface="Courier New"/>
                <a:sym typeface="Courier New"/>
              </a:rPr>
              <a:t>03</a:t>
            </a:r>
            <a:endParaRPr/>
          </a:p>
        </p:txBody>
      </p:sp>
      <p:sp>
        <p:nvSpPr>
          <p:cNvPr id="146" name="Google Shape;146;p16"/>
          <p:cNvSpPr txBox="1"/>
          <p:nvPr/>
        </p:nvSpPr>
        <p:spPr>
          <a:xfrm>
            <a:off x="1463050" y="3779980"/>
            <a:ext cx="9875400" cy="26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None/>
            </a:pPr>
            <a:r>
              <a:rPr b="1" i="0" lang="en-US" sz="1700">
                <a:solidFill>
                  <a:srgbClr val="0D6DAC"/>
                </a:solidFill>
                <a:latin typeface="Courier New"/>
                <a:ea typeface="Courier New"/>
                <a:cs typeface="Courier New"/>
                <a:sym typeface="Courier New"/>
              </a:rPr>
              <a:t>core/drupal.ajax</a:t>
            </a:r>
            <a:r>
              <a:rPr b="0" i="0" lang="en-US" sz="1700">
                <a:solidFill>
                  <a:srgbClr val="23325D"/>
                </a:solidFill>
                <a:latin typeface="Calibri"/>
                <a:ea typeface="Calibri"/>
                <a:cs typeface="Calibri"/>
                <a:sym typeface="Calibri"/>
              </a:rPr>
              <a:t> + Drupal.behaviors interpret those commands client-side</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1" name="Shape 151"/>
        <p:cNvGrpSpPr/>
        <p:nvPr/>
      </p:nvGrpSpPr>
      <p:grpSpPr>
        <a:xfrm>
          <a:off x="0" y="0"/>
          <a:ext cx="0" cy="0"/>
          <a:chOff x="0" y="0"/>
          <a:chExt cx="0" cy="0"/>
        </a:xfrm>
      </p:grpSpPr>
      <p:sp>
        <p:nvSpPr>
          <p:cNvPr id="152" name="Google Shape;152;p17"/>
          <p:cNvSpPr txBox="1"/>
          <p:nvPr>
            <p:ph type="title"/>
          </p:nvPr>
        </p:nvSpPr>
        <p:spPr>
          <a:xfrm>
            <a:off x="1414780" y="365125"/>
            <a:ext cx="9939020" cy="1325880"/>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rgbClr val="23325D"/>
              </a:buClr>
              <a:buSzPts val="3200"/>
              <a:buFont typeface="Calibri"/>
              <a:buNone/>
            </a:pPr>
            <a:r>
              <a:rPr lang="en-US" sz="3200">
                <a:solidFill>
                  <a:srgbClr val="23325D"/>
                </a:solidFill>
              </a:rPr>
              <a:t>Ajax API request/response cycle</a:t>
            </a:r>
            <a:endParaRPr/>
          </a:p>
        </p:txBody>
      </p:sp>
      <p:sp>
        <p:nvSpPr>
          <p:cNvPr id="153" name="Google Shape;153;p17"/>
          <p:cNvSpPr txBox="1"/>
          <p:nvPr/>
        </p:nvSpPr>
        <p:spPr>
          <a:xfrm>
            <a:off x="1417320" y="320040"/>
            <a:ext cx="6400800" cy="1848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1200">
                <a:solidFill>
                  <a:srgbClr val="0D6DAC"/>
                </a:solidFill>
                <a:latin typeface="Calibri"/>
                <a:ea typeface="Calibri"/>
                <a:cs typeface="Calibri"/>
                <a:sym typeface="Calibri"/>
              </a:rPr>
              <a:t>— </a:t>
            </a:r>
            <a:r>
              <a:rPr b="1" i="0" lang="en-US" sz="1200">
                <a:solidFill>
                  <a:srgbClr val="0D6DAC"/>
                </a:solidFill>
                <a:latin typeface="Calibri"/>
                <a:ea typeface="Calibri"/>
                <a:cs typeface="Calibri"/>
                <a:sym typeface="Calibri"/>
              </a:rPr>
              <a:t>THE REQUEST/RESPONSE CYCLE</a:t>
            </a:r>
            <a:endParaRPr/>
          </a:p>
        </p:txBody>
      </p:sp>
      <p:pic>
        <p:nvPicPr>
          <p:cNvPr descr="ajax_sequence.png" id="154" name="Google Shape;154;p17"/>
          <p:cNvPicPr preferRelativeResize="0"/>
          <p:nvPr/>
        </p:nvPicPr>
        <p:blipFill rotWithShape="1">
          <a:blip r:embed="rId3">
            <a:alphaModFix/>
          </a:blip>
          <a:srcRect b="0" l="0" r="0" t="0"/>
          <a:stretch/>
        </p:blipFill>
        <p:spPr>
          <a:xfrm>
            <a:off x="2546176" y="1691000"/>
            <a:ext cx="7676226" cy="4836025"/>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18"/>
          <p:cNvSpPr txBox="1"/>
          <p:nvPr>
            <p:ph type="title"/>
          </p:nvPr>
        </p:nvSpPr>
        <p:spPr>
          <a:xfrm>
            <a:off x="517275" y="640075"/>
            <a:ext cx="10765800" cy="785700"/>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rgbClr val="23325D"/>
              </a:buClr>
              <a:buSzPts val="3400"/>
              <a:buFont typeface="Calibri"/>
              <a:buNone/>
            </a:pPr>
            <a:r>
              <a:rPr lang="en-US" sz="3400">
                <a:solidFill>
                  <a:srgbClr val="23325D"/>
                </a:solidFill>
              </a:rPr>
              <a:t>The #ajax property</a:t>
            </a:r>
            <a:endParaRPr/>
          </a:p>
        </p:txBody>
      </p:sp>
      <p:sp>
        <p:nvSpPr>
          <p:cNvPr id="161" name="Google Shape;161;p18"/>
          <p:cNvSpPr txBox="1"/>
          <p:nvPr/>
        </p:nvSpPr>
        <p:spPr>
          <a:xfrm>
            <a:off x="640080" y="320040"/>
            <a:ext cx="7315200" cy="1848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1200">
                <a:solidFill>
                  <a:srgbClr val="0D6DAC"/>
                </a:solidFill>
                <a:latin typeface="Calibri"/>
                <a:ea typeface="Calibri"/>
                <a:cs typeface="Calibri"/>
                <a:sym typeface="Calibri"/>
              </a:rPr>
              <a:t>— </a:t>
            </a:r>
            <a:r>
              <a:rPr b="1" i="0" lang="en-US" sz="1200">
                <a:solidFill>
                  <a:srgbClr val="0D6DAC"/>
                </a:solidFill>
                <a:latin typeface="Calibri"/>
                <a:ea typeface="Calibri"/>
                <a:cs typeface="Calibri"/>
                <a:sym typeface="Calibri"/>
              </a:rPr>
              <a:t>IN CODE</a:t>
            </a:r>
            <a:endParaRPr/>
          </a:p>
        </p:txBody>
      </p:sp>
      <p:sp>
        <p:nvSpPr>
          <p:cNvPr id="162" name="Google Shape;162;p18"/>
          <p:cNvSpPr/>
          <p:nvPr/>
        </p:nvSpPr>
        <p:spPr>
          <a:xfrm>
            <a:off x="640075" y="1378625"/>
            <a:ext cx="10954500" cy="3812400"/>
          </a:xfrm>
          <a:prstGeom prst="roundRect">
            <a:avLst>
              <a:gd fmla="val 4000" name="adj"/>
            </a:avLst>
          </a:prstGeom>
          <a:solidFill>
            <a:srgbClr val="23325D"/>
          </a:solidFill>
          <a:ln>
            <a:noFill/>
          </a:ln>
        </p:spPr>
        <p:txBody>
          <a:bodyPr anchorCtr="0" anchor="ctr" bIns="228600" lIns="320025" spcFirstLastPara="1" rIns="274300" wrap="square" tIns="228600">
            <a:noAutofit/>
          </a:bodyPr>
          <a:lstStyle/>
          <a:p>
            <a:pPr indent="0" lvl="0" marL="0" marR="0" rtl="0" algn="l">
              <a:lnSpc>
                <a:spcPct val="122000"/>
              </a:lnSpc>
              <a:spcBef>
                <a:spcPts val="0"/>
              </a:spcBef>
              <a:spcAft>
                <a:spcPts val="0"/>
              </a:spcAft>
              <a:buNone/>
            </a:pPr>
            <a:r>
              <a:rPr b="0" i="0" lang="en-US" sz="1250">
                <a:solidFill>
                  <a:srgbClr val="D8E4F5"/>
                </a:solidFill>
                <a:latin typeface="Courier New"/>
                <a:ea typeface="Courier New"/>
                <a:cs typeface="Courier New"/>
                <a:sym typeface="Courier New"/>
              </a:rPr>
              <a:t>$form['filter'] = [</a:t>
            </a:r>
            <a:endParaRPr/>
          </a:p>
          <a:p>
            <a:pPr indent="0" lvl="0" marL="0" marR="0" rtl="0" algn="l">
              <a:lnSpc>
                <a:spcPct val="122000"/>
              </a:lnSpc>
              <a:spcBef>
                <a:spcPts val="0"/>
              </a:spcBef>
              <a:spcAft>
                <a:spcPts val="0"/>
              </a:spcAft>
              <a:buNone/>
            </a:pPr>
            <a:r>
              <a:rPr b="0" i="0" lang="en-US" sz="1250">
                <a:solidFill>
                  <a:srgbClr val="D8E4F5"/>
                </a:solidFill>
                <a:latin typeface="Courier New"/>
                <a:ea typeface="Courier New"/>
                <a:cs typeface="Courier New"/>
                <a:sym typeface="Courier New"/>
              </a:rPr>
              <a:t>  '#type' =&gt; 'select',</a:t>
            </a:r>
            <a:endParaRPr/>
          </a:p>
          <a:p>
            <a:pPr indent="0" lvl="0" marL="0" marR="0" rtl="0" algn="l">
              <a:lnSpc>
                <a:spcPct val="122000"/>
              </a:lnSpc>
              <a:spcBef>
                <a:spcPts val="0"/>
              </a:spcBef>
              <a:spcAft>
                <a:spcPts val="0"/>
              </a:spcAft>
              <a:buNone/>
            </a:pPr>
            <a:r>
              <a:rPr b="1" i="0" lang="en-US" sz="1250">
                <a:solidFill>
                  <a:srgbClr val="FFC427"/>
                </a:solidFill>
                <a:latin typeface="Courier New"/>
                <a:ea typeface="Courier New"/>
                <a:cs typeface="Courier New"/>
                <a:sym typeface="Courier New"/>
              </a:rPr>
              <a:t>  '#ajax' =&gt; [</a:t>
            </a:r>
            <a:endParaRPr/>
          </a:p>
          <a:p>
            <a:pPr indent="0" lvl="0" marL="0" marR="0" rtl="0" algn="l">
              <a:lnSpc>
                <a:spcPct val="122000"/>
              </a:lnSpc>
              <a:spcBef>
                <a:spcPts val="0"/>
              </a:spcBef>
              <a:spcAft>
                <a:spcPts val="0"/>
              </a:spcAft>
              <a:buNone/>
            </a:pPr>
            <a:r>
              <a:rPr b="0" i="0" lang="en-US" sz="1250">
                <a:solidFill>
                  <a:srgbClr val="D8E4F5"/>
                </a:solidFill>
                <a:latin typeface="Courier New"/>
                <a:ea typeface="Courier New"/>
                <a:cs typeface="Courier New"/>
                <a:sym typeface="Courier New"/>
              </a:rPr>
              <a:t>    'callback' =&gt; '::updateResults',</a:t>
            </a:r>
            <a:endParaRPr/>
          </a:p>
          <a:p>
            <a:pPr indent="0" lvl="0" marL="0" marR="0" rtl="0" algn="l">
              <a:lnSpc>
                <a:spcPct val="122000"/>
              </a:lnSpc>
              <a:spcBef>
                <a:spcPts val="0"/>
              </a:spcBef>
              <a:spcAft>
                <a:spcPts val="0"/>
              </a:spcAft>
              <a:buNone/>
            </a:pPr>
            <a:r>
              <a:rPr b="1" i="0" lang="en-US" sz="1250">
                <a:solidFill>
                  <a:srgbClr val="FFC427"/>
                </a:solidFill>
                <a:latin typeface="Courier New"/>
                <a:ea typeface="Courier New"/>
                <a:cs typeface="Courier New"/>
                <a:sym typeface="Courier New"/>
              </a:rPr>
              <a:t>    'wrapper' =&gt; 'results-wrapper',</a:t>
            </a:r>
            <a:endParaRPr/>
          </a:p>
          <a:p>
            <a:pPr indent="0" lvl="0" marL="0" marR="0" rtl="0" algn="l">
              <a:lnSpc>
                <a:spcPct val="122000"/>
              </a:lnSpc>
              <a:spcBef>
                <a:spcPts val="0"/>
              </a:spcBef>
              <a:spcAft>
                <a:spcPts val="0"/>
              </a:spcAft>
              <a:buNone/>
            </a:pPr>
            <a:r>
              <a:rPr b="0" i="0" lang="en-US" sz="1250">
                <a:solidFill>
                  <a:srgbClr val="D8E4F5"/>
                </a:solidFill>
                <a:latin typeface="Courier New"/>
                <a:ea typeface="Courier New"/>
                <a:cs typeface="Courier New"/>
                <a:sym typeface="Courier New"/>
              </a:rPr>
              <a:t>    'event' =&gt; 'change',</a:t>
            </a:r>
            <a:endParaRPr/>
          </a:p>
          <a:p>
            <a:pPr indent="0" lvl="0" marL="0" marR="0" rtl="0" algn="l">
              <a:lnSpc>
                <a:spcPct val="122000"/>
              </a:lnSpc>
              <a:spcBef>
                <a:spcPts val="0"/>
              </a:spcBef>
              <a:spcAft>
                <a:spcPts val="0"/>
              </a:spcAft>
              <a:buNone/>
            </a:pPr>
            <a:r>
              <a:rPr b="0" i="0" lang="en-US" sz="1250">
                <a:solidFill>
                  <a:srgbClr val="D8E4F5"/>
                </a:solidFill>
                <a:latin typeface="Courier New"/>
                <a:ea typeface="Courier New"/>
                <a:cs typeface="Courier New"/>
                <a:sym typeface="Courier New"/>
              </a:rPr>
              <a:t>  ],</a:t>
            </a:r>
            <a:endParaRPr/>
          </a:p>
          <a:p>
            <a:pPr indent="0" lvl="0" marL="0" marR="0" rtl="0" algn="l">
              <a:lnSpc>
                <a:spcPct val="122000"/>
              </a:lnSpc>
              <a:spcBef>
                <a:spcPts val="0"/>
              </a:spcBef>
              <a:spcAft>
                <a:spcPts val="0"/>
              </a:spcAft>
              <a:buNone/>
            </a:pPr>
            <a:r>
              <a:rPr b="0" i="0" lang="en-US" sz="1250">
                <a:solidFill>
                  <a:srgbClr val="D8E4F5"/>
                </a:solidFill>
                <a:latin typeface="Courier New"/>
                <a:ea typeface="Courier New"/>
                <a:cs typeface="Courier New"/>
                <a:sym typeface="Courier New"/>
              </a:rPr>
              <a:t>];</a:t>
            </a:r>
            <a:endParaRPr/>
          </a:p>
          <a:p>
            <a:pPr indent="0" lvl="0" marL="0" marR="0" rtl="0" algn="l">
              <a:lnSpc>
                <a:spcPct val="122000"/>
              </a:lnSpc>
              <a:spcBef>
                <a:spcPts val="0"/>
              </a:spcBef>
              <a:spcAft>
                <a:spcPts val="0"/>
              </a:spcAft>
              <a:buNone/>
            </a:pPr>
            <a:r>
              <a:rPr b="0" i="0" lang="en-US" sz="1250">
                <a:solidFill>
                  <a:srgbClr val="D8E4F5"/>
                </a:solidFill>
                <a:latin typeface="Courier New"/>
                <a:ea typeface="Courier New"/>
                <a:cs typeface="Courier New"/>
                <a:sym typeface="Courier New"/>
              </a:rPr>
              <a:t> </a:t>
            </a:r>
            <a:endParaRPr/>
          </a:p>
          <a:p>
            <a:pPr indent="0" lvl="0" marL="0" marR="0" rtl="0" algn="l">
              <a:lnSpc>
                <a:spcPct val="122000"/>
              </a:lnSpc>
              <a:spcBef>
                <a:spcPts val="0"/>
              </a:spcBef>
              <a:spcAft>
                <a:spcPts val="0"/>
              </a:spcAft>
              <a:buNone/>
            </a:pPr>
            <a:r>
              <a:rPr b="0" i="0" lang="en-US" sz="1250">
                <a:solidFill>
                  <a:srgbClr val="D8E4F5"/>
                </a:solidFill>
                <a:latin typeface="Courier New"/>
                <a:ea typeface="Courier New"/>
                <a:cs typeface="Courier New"/>
                <a:sym typeface="Courier New"/>
              </a:rPr>
              <a:t>public function updateResults(...) {</a:t>
            </a:r>
            <a:endParaRPr/>
          </a:p>
          <a:p>
            <a:pPr indent="0" lvl="0" marL="0" marR="0" rtl="0" algn="l">
              <a:lnSpc>
                <a:spcPct val="122000"/>
              </a:lnSpc>
              <a:spcBef>
                <a:spcPts val="0"/>
              </a:spcBef>
              <a:spcAft>
                <a:spcPts val="0"/>
              </a:spcAft>
              <a:buNone/>
            </a:pPr>
            <a:r>
              <a:rPr b="1" i="0" lang="en-US" sz="1250">
                <a:solidFill>
                  <a:srgbClr val="FFC427"/>
                </a:solidFill>
                <a:latin typeface="Courier New"/>
                <a:ea typeface="Courier New"/>
                <a:cs typeface="Courier New"/>
                <a:sym typeface="Courier New"/>
              </a:rPr>
              <a:t>  $response = new AjaxResponse();</a:t>
            </a:r>
            <a:endParaRPr/>
          </a:p>
          <a:p>
            <a:pPr indent="0" lvl="0" marL="0" marR="0" rtl="0" algn="l">
              <a:lnSpc>
                <a:spcPct val="122000"/>
              </a:lnSpc>
              <a:spcBef>
                <a:spcPts val="0"/>
              </a:spcBef>
              <a:spcAft>
                <a:spcPts val="0"/>
              </a:spcAft>
              <a:buNone/>
            </a:pPr>
            <a:r>
              <a:rPr b="1" i="0" lang="en-US" sz="1250">
                <a:solidFill>
                  <a:srgbClr val="FFC427"/>
                </a:solidFill>
                <a:latin typeface="Courier New"/>
                <a:ea typeface="Courier New"/>
                <a:cs typeface="Courier New"/>
                <a:sym typeface="Courier New"/>
              </a:rPr>
              <a:t>  $response-&gt;addCommand(new ReplaceCommand(</a:t>
            </a:r>
            <a:endParaRPr/>
          </a:p>
          <a:p>
            <a:pPr indent="0" lvl="0" marL="0" marR="0" rtl="0" algn="l">
              <a:lnSpc>
                <a:spcPct val="122000"/>
              </a:lnSpc>
              <a:spcBef>
                <a:spcPts val="0"/>
              </a:spcBef>
              <a:spcAft>
                <a:spcPts val="0"/>
              </a:spcAft>
              <a:buNone/>
            </a:pPr>
            <a:r>
              <a:rPr b="1" i="0" lang="en-US" sz="1250">
                <a:solidFill>
                  <a:srgbClr val="FFC427"/>
                </a:solidFill>
                <a:latin typeface="Courier New"/>
                <a:ea typeface="Courier New"/>
                <a:cs typeface="Courier New"/>
                <a:sym typeface="Courier New"/>
              </a:rPr>
              <a:t>    '#results-wrapper', $form['results']));</a:t>
            </a:r>
            <a:endParaRPr/>
          </a:p>
          <a:p>
            <a:pPr indent="0" lvl="0" marL="0" marR="0" rtl="0" algn="l">
              <a:lnSpc>
                <a:spcPct val="122000"/>
              </a:lnSpc>
              <a:spcBef>
                <a:spcPts val="0"/>
              </a:spcBef>
              <a:spcAft>
                <a:spcPts val="0"/>
              </a:spcAft>
              <a:buNone/>
            </a:pPr>
            <a:r>
              <a:rPr b="0" i="0" lang="en-US" sz="1250">
                <a:solidFill>
                  <a:srgbClr val="D8E4F5"/>
                </a:solidFill>
                <a:latin typeface="Courier New"/>
                <a:ea typeface="Courier New"/>
                <a:cs typeface="Courier New"/>
                <a:sym typeface="Courier New"/>
              </a:rPr>
              <a:t>  return $response;</a:t>
            </a:r>
            <a:endParaRPr/>
          </a:p>
          <a:p>
            <a:pPr indent="0" lvl="0" marL="0" marR="0" rtl="0" algn="l">
              <a:lnSpc>
                <a:spcPct val="122000"/>
              </a:lnSpc>
              <a:spcBef>
                <a:spcPts val="0"/>
              </a:spcBef>
              <a:spcAft>
                <a:spcPts val="0"/>
              </a:spcAft>
              <a:buNone/>
            </a:pPr>
            <a:r>
              <a:rPr b="0" i="0" lang="en-US" sz="1250">
                <a:solidFill>
                  <a:srgbClr val="D8E4F5"/>
                </a:solidFill>
                <a:latin typeface="Courier New"/>
                <a:ea typeface="Courier New"/>
                <a:cs typeface="Courier New"/>
                <a:sym typeface="Courier New"/>
              </a:rPr>
              <a:t>}</a:t>
            </a:r>
            <a:endParaRPr/>
          </a:p>
        </p:txBody>
      </p:sp>
      <p:sp>
        <p:nvSpPr>
          <p:cNvPr id="163" name="Google Shape;163;p18"/>
          <p:cNvSpPr txBox="1"/>
          <p:nvPr/>
        </p:nvSpPr>
        <p:spPr>
          <a:xfrm>
            <a:off x="640080" y="5328285"/>
            <a:ext cx="10908900" cy="215400"/>
          </a:xfrm>
          <a:prstGeom prst="rect">
            <a:avLst/>
          </a:prstGeom>
          <a:noFill/>
          <a:ln>
            <a:noFill/>
          </a:ln>
        </p:spPr>
        <p:txBody>
          <a:bodyPr anchorCtr="0" anchor="t" bIns="0" lIns="0" spcFirstLastPara="1" rIns="0" wrap="square" tIns="0">
            <a:spAutoFit/>
          </a:bodyPr>
          <a:lstStyle/>
          <a:p>
            <a:pPr indent="0" lvl="0" marL="0" marR="0" rtl="0" algn="l">
              <a:lnSpc>
                <a:spcPct val="115000"/>
              </a:lnSpc>
              <a:spcBef>
                <a:spcPts val="0"/>
              </a:spcBef>
              <a:spcAft>
                <a:spcPts val="0"/>
              </a:spcAft>
              <a:buNone/>
            </a:pPr>
            <a:r>
              <a:rPr b="0" i="0" lang="en-US" sz="1400">
                <a:solidFill>
                  <a:srgbClr val="5B6378"/>
                </a:solidFill>
                <a:latin typeface="Calibri"/>
                <a:ea typeface="Calibri"/>
                <a:cs typeface="Calibri"/>
                <a:sym typeface="Calibri"/>
              </a:rPr>
              <a:t>Two files. Two languages. One wrapper ID that has to match exactly or nothing happens. Silently.</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8" name="Shape 168"/>
        <p:cNvGrpSpPr/>
        <p:nvPr/>
      </p:nvGrpSpPr>
      <p:grpSpPr>
        <a:xfrm>
          <a:off x="0" y="0"/>
          <a:ext cx="0" cy="0"/>
          <a:chOff x="0" y="0"/>
          <a:chExt cx="0" cy="0"/>
        </a:xfrm>
      </p:grpSpPr>
      <p:sp>
        <p:nvSpPr>
          <p:cNvPr id="169" name="Google Shape;169;p19"/>
          <p:cNvSpPr txBox="1"/>
          <p:nvPr>
            <p:ph type="title"/>
          </p:nvPr>
        </p:nvSpPr>
        <p:spPr>
          <a:xfrm>
            <a:off x="1414780" y="365125"/>
            <a:ext cx="9939020" cy="1325880"/>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rgbClr val="23325D"/>
              </a:buClr>
              <a:buSzPts val="3200"/>
              <a:buFont typeface="Calibri"/>
              <a:buNone/>
            </a:pPr>
            <a:r>
              <a:rPr lang="en-US" sz="3200">
                <a:solidFill>
                  <a:srgbClr val="23325D"/>
                </a:solidFill>
              </a:rPr>
              <a:t>One string, two files, no compiler</a:t>
            </a:r>
            <a:endParaRPr/>
          </a:p>
        </p:txBody>
      </p:sp>
      <p:sp>
        <p:nvSpPr>
          <p:cNvPr id="170" name="Google Shape;170;p19"/>
          <p:cNvSpPr txBox="1"/>
          <p:nvPr/>
        </p:nvSpPr>
        <p:spPr>
          <a:xfrm>
            <a:off x="1417320" y="320040"/>
            <a:ext cx="6400800" cy="1848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1200">
                <a:solidFill>
                  <a:srgbClr val="0D6DAC"/>
                </a:solidFill>
                <a:latin typeface="Calibri"/>
                <a:ea typeface="Calibri"/>
                <a:cs typeface="Calibri"/>
                <a:sym typeface="Calibri"/>
              </a:rPr>
              <a:t>— </a:t>
            </a:r>
            <a:r>
              <a:rPr b="1" i="0" lang="en-US" sz="1200">
                <a:solidFill>
                  <a:srgbClr val="0D6DAC"/>
                </a:solidFill>
                <a:latin typeface="Calibri"/>
                <a:ea typeface="Calibri"/>
                <a:cs typeface="Calibri"/>
                <a:sym typeface="Calibri"/>
              </a:rPr>
              <a:t>WHERE IT SILENTLY BREAKS</a:t>
            </a:r>
            <a:endParaRPr/>
          </a:p>
        </p:txBody>
      </p:sp>
      <p:pic>
        <p:nvPicPr>
          <p:cNvPr descr="coupling_flowchart.png" id="171" name="Google Shape;171;p19"/>
          <p:cNvPicPr preferRelativeResize="0"/>
          <p:nvPr/>
        </p:nvPicPr>
        <p:blipFill rotWithShape="1">
          <a:blip r:embed="rId3">
            <a:alphaModFix/>
          </a:blip>
          <a:srcRect b="0" l="0" r="0" t="0"/>
          <a:stretch/>
        </p:blipFill>
        <p:spPr>
          <a:xfrm>
            <a:off x="1820702" y="1825625"/>
            <a:ext cx="8934136" cy="3984625"/>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6" name="Shape 176"/>
        <p:cNvGrpSpPr/>
        <p:nvPr/>
      </p:nvGrpSpPr>
      <p:grpSpPr>
        <a:xfrm>
          <a:off x="0" y="0"/>
          <a:ext cx="0" cy="0"/>
          <a:chOff x="0" y="0"/>
          <a:chExt cx="0" cy="0"/>
        </a:xfrm>
      </p:grpSpPr>
      <p:sp>
        <p:nvSpPr>
          <p:cNvPr id="177" name="Google Shape;177;p20"/>
          <p:cNvSpPr txBox="1"/>
          <p:nvPr>
            <p:ph type="title"/>
          </p:nvPr>
        </p:nvSpPr>
        <p:spPr>
          <a:xfrm>
            <a:off x="540850" y="365125"/>
            <a:ext cx="10813200" cy="1325700"/>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rgbClr val="23325D"/>
              </a:buClr>
              <a:buSzPts val="3400"/>
              <a:buFont typeface="Calibri"/>
              <a:buNone/>
            </a:pPr>
            <a:r>
              <a:rPr lang="en-US" sz="3400">
                <a:solidFill>
                  <a:srgbClr val="23325D"/>
                </a:solidFill>
              </a:rPr>
              <a:t>Four pain points</a:t>
            </a:r>
            <a:endParaRPr/>
          </a:p>
        </p:txBody>
      </p:sp>
      <p:sp>
        <p:nvSpPr>
          <p:cNvPr id="178" name="Google Shape;178;p20"/>
          <p:cNvSpPr/>
          <p:nvPr/>
        </p:nvSpPr>
        <p:spPr>
          <a:xfrm>
            <a:off x="640080" y="1783080"/>
            <a:ext cx="5317236" cy="1417320"/>
          </a:xfrm>
          <a:prstGeom prst="roundRect">
            <a:avLst>
              <a:gd fmla="val 6000" name="adj"/>
            </a:avLst>
          </a:prstGeom>
          <a:solidFill>
            <a:srgbClr val="EAF6FC"/>
          </a:solidFill>
          <a:ln>
            <a:noFill/>
          </a:ln>
        </p:spPr>
        <p:txBody>
          <a:bodyPr anchorCtr="0" anchor="ctr" bIns="164575" lIns="228600" spcFirstLastPara="1" rIns="228600" wrap="square" tIns="164575">
            <a:noAutofit/>
          </a:bodyPr>
          <a:lstStyle/>
          <a:p>
            <a:pPr indent="0" lvl="0" marL="0" marR="0" rtl="0" algn="l">
              <a:spcBef>
                <a:spcPts val="0"/>
              </a:spcBef>
              <a:spcAft>
                <a:spcPts val="0"/>
              </a:spcAft>
              <a:buNone/>
            </a:pPr>
            <a:r>
              <a:rPr b="1" i="0" lang="en-US" sz="1400">
                <a:solidFill>
                  <a:srgbClr val="0D6DAC"/>
                </a:solidFill>
                <a:latin typeface="Courier New"/>
                <a:ea typeface="Courier New"/>
                <a:cs typeface="Courier New"/>
                <a:sym typeface="Courier New"/>
              </a:rPr>
              <a:t>JS COUPLING</a:t>
            </a:r>
            <a:endParaRPr/>
          </a:p>
          <a:p>
            <a:pPr indent="0" lvl="0" marL="0" marR="0" rtl="0" algn="l">
              <a:lnSpc>
                <a:spcPct val="120000"/>
              </a:lnSpc>
              <a:spcBef>
                <a:spcPts val="0"/>
              </a:spcBef>
              <a:spcAft>
                <a:spcPts val="0"/>
              </a:spcAft>
              <a:buNone/>
            </a:pPr>
            <a:r>
              <a:rPr b="0" i="0" lang="en-US" sz="1350">
                <a:solidFill>
                  <a:srgbClr val="5B6378"/>
                </a:solidFill>
                <a:latin typeface="Calibri"/>
                <a:ea typeface="Calibri"/>
                <a:cs typeface="Calibri"/>
                <a:sym typeface="Calibri"/>
              </a:rPr>
              <a:t>Every interaction needs a matching PHP command + JS behavior pair.</a:t>
            </a:r>
            <a:endParaRPr/>
          </a:p>
        </p:txBody>
      </p:sp>
      <p:sp>
        <p:nvSpPr>
          <p:cNvPr id="179" name="Google Shape;179;p20"/>
          <p:cNvSpPr/>
          <p:nvPr/>
        </p:nvSpPr>
        <p:spPr>
          <a:xfrm>
            <a:off x="6231636" y="1783080"/>
            <a:ext cx="5317236" cy="1417320"/>
          </a:xfrm>
          <a:prstGeom prst="roundRect">
            <a:avLst>
              <a:gd fmla="val 6000" name="adj"/>
            </a:avLst>
          </a:prstGeom>
          <a:solidFill>
            <a:srgbClr val="EAF6FC"/>
          </a:solidFill>
          <a:ln>
            <a:noFill/>
          </a:ln>
        </p:spPr>
        <p:txBody>
          <a:bodyPr anchorCtr="0" anchor="ctr" bIns="164575" lIns="228600" spcFirstLastPara="1" rIns="228600" wrap="square" tIns="164575">
            <a:noAutofit/>
          </a:bodyPr>
          <a:lstStyle/>
          <a:p>
            <a:pPr indent="0" lvl="0" marL="0" marR="0" rtl="0" algn="l">
              <a:spcBef>
                <a:spcPts val="0"/>
              </a:spcBef>
              <a:spcAft>
                <a:spcPts val="0"/>
              </a:spcAft>
              <a:buNone/>
            </a:pPr>
            <a:r>
              <a:rPr b="1" i="0" lang="en-US" sz="1400">
                <a:solidFill>
                  <a:srgbClr val="0D6DAC"/>
                </a:solidFill>
                <a:latin typeface="Courier New"/>
                <a:ea typeface="Courier New"/>
                <a:cs typeface="Courier New"/>
                <a:sym typeface="Courier New"/>
              </a:rPr>
              <a:t>COMPLEXITY</a:t>
            </a:r>
            <a:endParaRPr/>
          </a:p>
          <a:p>
            <a:pPr indent="0" lvl="0" marL="0" marR="0" rtl="0" algn="l">
              <a:lnSpc>
                <a:spcPct val="120000"/>
              </a:lnSpc>
              <a:spcBef>
                <a:spcPts val="0"/>
              </a:spcBef>
              <a:spcAft>
                <a:spcPts val="0"/>
              </a:spcAft>
              <a:buNone/>
            </a:pPr>
            <a:r>
              <a:rPr b="0" i="0" lang="en-US" sz="1350">
                <a:solidFill>
                  <a:srgbClr val="5B6378"/>
                </a:solidFill>
                <a:latin typeface="Calibri"/>
                <a:ea typeface="Calibri"/>
                <a:cs typeface="Calibri"/>
                <a:sym typeface="Calibri"/>
              </a:rPr>
              <a:t>An imperative command stack, not a description of the result.</a:t>
            </a:r>
            <a:endParaRPr/>
          </a:p>
        </p:txBody>
      </p:sp>
      <p:sp>
        <p:nvSpPr>
          <p:cNvPr id="180" name="Google Shape;180;p20"/>
          <p:cNvSpPr/>
          <p:nvPr/>
        </p:nvSpPr>
        <p:spPr>
          <a:xfrm>
            <a:off x="640080" y="3474720"/>
            <a:ext cx="5317236" cy="1417320"/>
          </a:xfrm>
          <a:prstGeom prst="roundRect">
            <a:avLst>
              <a:gd fmla="val 6000" name="adj"/>
            </a:avLst>
          </a:prstGeom>
          <a:solidFill>
            <a:srgbClr val="EAF6FC"/>
          </a:solidFill>
          <a:ln>
            <a:noFill/>
          </a:ln>
        </p:spPr>
        <p:txBody>
          <a:bodyPr anchorCtr="0" anchor="ctr" bIns="164575" lIns="228600" spcFirstLastPara="1" rIns="228600" wrap="square" tIns="164575">
            <a:noAutofit/>
          </a:bodyPr>
          <a:lstStyle/>
          <a:p>
            <a:pPr indent="0" lvl="0" marL="0" marR="0" rtl="0" algn="l">
              <a:spcBef>
                <a:spcPts val="0"/>
              </a:spcBef>
              <a:spcAft>
                <a:spcPts val="0"/>
              </a:spcAft>
              <a:buNone/>
            </a:pPr>
            <a:r>
              <a:rPr b="1" i="0" lang="en-US" sz="1400">
                <a:solidFill>
                  <a:srgbClr val="0D6DAC"/>
                </a:solidFill>
                <a:latin typeface="Courier New"/>
                <a:ea typeface="Courier New"/>
                <a:cs typeface="Courier New"/>
                <a:sym typeface="Courier New"/>
              </a:rPr>
              <a:t>MAINTENANCE OVERHEAD</a:t>
            </a:r>
            <a:endParaRPr/>
          </a:p>
          <a:p>
            <a:pPr indent="0" lvl="0" marL="0" marR="0" rtl="0" algn="l">
              <a:lnSpc>
                <a:spcPct val="120000"/>
              </a:lnSpc>
              <a:spcBef>
                <a:spcPts val="0"/>
              </a:spcBef>
              <a:spcAft>
                <a:spcPts val="0"/>
              </a:spcAft>
              <a:buNone/>
            </a:pPr>
            <a:r>
              <a:rPr b="0" i="0" lang="en-US" sz="1350">
                <a:solidFill>
                  <a:srgbClr val="5B6378"/>
                </a:solidFill>
                <a:latin typeface="Calibri"/>
                <a:ea typeface="Calibri"/>
                <a:cs typeface="Calibri"/>
                <a:sym typeface="Calibri"/>
              </a:rPr>
              <a:t>One typo, no error, silent failure.</a:t>
            </a:r>
            <a:endParaRPr/>
          </a:p>
        </p:txBody>
      </p:sp>
      <p:sp>
        <p:nvSpPr>
          <p:cNvPr id="181" name="Google Shape;181;p20"/>
          <p:cNvSpPr/>
          <p:nvPr/>
        </p:nvSpPr>
        <p:spPr>
          <a:xfrm>
            <a:off x="6231636" y="3474720"/>
            <a:ext cx="5317236" cy="1417320"/>
          </a:xfrm>
          <a:prstGeom prst="roundRect">
            <a:avLst>
              <a:gd fmla="val 6000" name="adj"/>
            </a:avLst>
          </a:prstGeom>
          <a:solidFill>
            <a:srgbClr val="EAF6FC"/>
          </a:solidFill>
          <a:ln>
            <a:noFill/>
          </a:ln>
        </p:spPr>
        <p:txBody>
          <a:bodyPr anchorCtr="0" anchor="ctr" bIns="164575" lIns="228600" spcFirstLastPara="1" rIns="228600" wrap="square" tIns="164575">
            <a:noAutofit/>
          </a:bodyPr>
          <a:lstStyle/>
          <a:p>
            <a:pPr indent="0" lvl="0" marL="0" marR="0" rtl="0" algn="l">
              <a:spcBef>
                <a:spcPts val="0"/>
              </a:spcBef>
              <a:spcAft>
                <a:spcPts val="0"/>
              </a:spcAft>
              <a:buNone/>
            </a:pPr>
            <a:r>
              <a:rPr b="1" i="0" lang="en-US" sz="1400">
                <a:solidFill>
                  <a:srgbClr val="0D6DAC"/>
                </a:solidFill>
                <a:latin typeface="Courier New"/>
                <a:ea typeface="Courier New"/>
                <a:cs typeface="Courier New"/>
                <a:sym typeface="Courier New"/>
              </a:rPr>
              <a:t>DISCOVERABILITY</a:t>
            </a:r>
            <a:endParaRPr/>
          </a:p>
          <a:p>
            <a:pPr indent="0" lvl="0" marL="0" marR="0" rtl="0" algn="l">
              <a:lnSpc>
                <a:spcPct val="120000"/>
              </a:lnSpc>
              <a:spcBef>
                <a:spcPts val="0"/>
              </a:spcBef>
              <a:spcAft>
                <a:spcPts val="0"/>
              </a:spcAft>
              <a:buNone/>
            </a:pPr>
            <a:r>
              <a:rPr b="0" i="0" lang="en-US" sz="1350">
                <a:solidFill>
                  <a:srgbClr val="5B6378"/>
                </a:solidFill>
                <a:latin typeface="Calibri"/>
                <a:ea typeface="Calibri"/>
                <a:cs typeface="Calibri"/>
                <a:sym typeface="Calibri"/>
              </a:rPr>
              <a:t>The markup never says it's interactive.</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6" name="Shape 186"/>
        <p:cNvGrpSpPr/>
        <p:nvPr/>
      </p:nvGrpSpPr>
      <p:grpSpPr>
        <a:xfrm>
          <a:off x="0" y="0"/>
          <a:ext cx="0" cy="0"/>
          <a:chOff x="0" y="0"/>
          <a:chExt cx="0" cy="0"/>
        </a:xfrm>
      </p:grpSpPr>
      <p:sp>
        <p:nvSpPr>
          <p:cNvPr id="187" name="Google Shape;187;p21"/>
          <p:cNvSpPr txBox="1"/>
          <p:nvPr>
            <p:ph type="title"/>
          </p:nvPr>
        </p:nvSpPr>
        <p:spPr>
          <a:xfrm>
            <a:off x="322580" y="2272665"/>
            <a:ext cx="11376660" cy="948055"/>
          </a:xfrm>
          <a:prstGeom prst="rect">
            <a:avLst/>
          </a:prstGeom>
          <a:noFill/>
          <a:ln>
            <a:noFill/>
          </a:ln>
        </p:spPr>
        <p:txBody>
          <a:bodyPr anchorCtr="0" anchor="ctr" bIns="45700" lIns="91425" spcFirstLastPara="1" rIns="91425" wrap="square" tIns="45700">
            <a:normAutofit/>
          </a:bodyPr>
          <a:lstStyle/>
          <a:p>
            <a:pPr indent="0" lvl="0" marL="0" rtl="0" algn="ctr">
              <a:lnSpc>
                <a:spcPct val="90000"/>
              </a:lnSpc>
              <a:spcBef>
                <a:spcPts val="0"/>
              </a:spcBef>
              <a:spcAft>
                <a:spcPts val="0"/>
              </a:spcAft>
              <a:buClr>
                <a:schemeClr val="lt1"/>
              </a:buClr>
              <a:buSzPts val="4400"/>
              <a:buFont typeface="Calibri"/>
              <a:buNone/>
            </a:pPr>
            <a:r>
              <a:t/>
            </a:r>
            <a:endParaRPr b="1">
              <a:solidFill>
                <a:schemeClr val="lt1"/>
              </a:solidFill>
            </a:endParaRPr>
          </a:p>
        </p:txBody>
      </p:sp>
      <p:sp>
        <p:nvSpPr>
          <p:cNvPr id="188" name="Google Shape;188;p21"/>
          <p:cNvSpPr txBox="1"/>
          <p:nvPr/>
        </p:nvSpPr>
        <p:spPr>
          <a:xfrm>
            <a:off x="640080" y="320040"/>
            <a:ext cx="7315200" cy="1848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1200">
                <a:solidFill>
                  <a:srgbClr val="0D6DAC"/>
                </a:solidFill>
                <a:latin typeface="Calibri"/>
                <a:ea typeface="Calibri"/>
                <a:cs typeface="Calibri"/>
                <a:sym typeface="Calibri"/>
              </a:rPr>
              <a:t>— </a:t>
            </a:r>
            <a:r>
              <a:rPr b="1" i="0" lang="en-US" sz="1200">
                <a:solidFill>
                  <a:srgbClr val="0D6DAC"/>
                </a:solidFill>
                <a:latin typeface="Calibri"/>
                <a:ea typeface="Calibri"/>
                <a:cs typeface="Calibri"/>
                <a:sym typeface="Calibri"/>
              </a:rPr>
              <a:t>A TRUE STORY</a:t>
            </a:r>
            <a:endParaRPr/>
          </a:p>
        </p:txBody>
      </p:sp>
      <p:sp>
        <p:nvSpPr>
          <p:cNvPr id="189" name="Google Shape;189;p21"/>
          <p:cNvSpPr txBox="1"/>
          <p:nvPr/>
        </p:nvSpPr>
        <p:spPr>
          <a:xfrm>
            <a:off x="914400" y="2745590"/>
            <a:ext cx="10332600" cy="1366800"/>
          </a:xfrm>
          <a:prstGeom prst="rect">
            <a:avLst/>
          </a:prstGeom>
          <a:noFill/>
          <a:ln>
            <a:noFill/>
          </a:ln>
        </p:spPr>
        <p:txBody>
          <a:bodyPr anchorCtr="0" anchor="ctr" bIns="0" lIns="0" spcFirstLastPara="1" rIns="0" wrap="square" tIns="0">
            <a:spAutoFit/>
          </a:bodyPr>
          <a:lstStyle/>
          <a:p>
            <a:pPr indent="0" lvl="0" marL="0" marR="0" rtl="0" algn="l">
              <a:lnSpc>
                <a:spcPct val="135000"/>
              </a:lnSpc>
              <a:spcBef>
                <a:spcPts val="0"/>
              </a:spcBef>
              <a:spcAft>
                <a:spcPts val="0"/>
              </a:spcAft>
              <a:buNone/>
            </a:pPr>
            <a:r>
              <a:rPr b="0" i="1" lang="en-US" sz="2400">
                <a:solidFill>
                  <a:srgbClr val="23325D"/>
                </a:solidFill>
                <a:latin typeface="Calibri"/>
                <a:ea typeface="Calibri"/>
                <a:cs typeface="Calibri"/>
                <a:sym typeface="Calibri"/>
              </a:rPr>
              <a:t>“40 minutes in devtools. The bug wasn't PHP. It wasn't JS logic. It was one mismatched wrapper ID</a:t>
            </a:r>
            <a:r>
              <a:rPr i="1" lang="en-US" sz="2400">
                <a:solidFill>
                  <a:srgbClr val="23325D"/>
                </a:solidFill>
                <a:latin typeface="Calibri"/>
                <a:ea typeface="Calibri"/>
                <a:cs typeface="Calibri"/>
                <a:sym typeface="Calibri"/>
              </a:rPr>
              <a:t>,</a:t>
            </a:r>
            <a:r>
              <a:rPr b="0" i="1" lang="en-US" sz="2400">
                <a:solidFill>
                  <a:srgbClr val="23325D"/>
                </a:solidFill>
                <a:latin typeface="Calibri"/>
                <a:ea typeface="Calibri"/>
                <a:cs typeface="Calibri"/>
                <a:sym typeface="Calibri"/>
              </a:rPr>
              <a:t> three directories away. Nothing threw an error. It just didn't work.”</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4" name="Shape 194"/>
        <p:cNvGrpSpPr/>
        <p:nvPr/>
      </p:nvGrpSpPr>
      <p:grpSpPr>
        <a:xfrm>
          <a:off x="0" y="0"/>
          <a:ext cx="0" cy="0"/>
          <a:chOff x="0" y="0"/>
          <a:chExt cx="0" cy="0"/>
        </a:xfrm>
      </p:grpSpPr>
      <p:sp>
        <p:nvSpPr>
          <p:cNvPr id="195" name="Google Shape;195;p22"/>
          <p:cNvSpPr txBox="1"/>
          <p:nvPr>
            <p:ph type="title"/>
          </p:nvPr>
        </p:nvSpPr>
        <p:spPr>
          <a:xfrm>
            <a:off x="553725" y="2904920"/>
            <a:ext cx="10760700" cy="577200"/>
          </a:xfrm>
          <a:prstGeom prst="rect">
            <a:avLst/>
          </a:prstGeom>
          <a:noFill/>
          <a:ln>
            <a:noFill/>
          </a:ln>
        </p:spPr>
        <p:txBody>
          <a:bodyPr anchorCtr="0" anchor="t" bIns="45700" lIns="91425" spcFirstLastPara="1" rIns="91425" wrap="square" tIns="45700">
            <a:normAutofit/>
          </a:bodyPr>
          <a:lstStyle/>
          <a:p>
            <a:pPr indent="0" lvl="0" marL="0" rtl="0" algn="ctr">
              <a:lnSpc>
                <a:spcPct val="90000"/>
              </a:lnSpc>
              <a:spcBef>
                <a:spcPts val="0"/>
              </a:spcBef>
              <a:spcAft>
                <a:spcPts val="0"/>
              </a:spcAft>
              <a:buClr>
                <a:srgbClr val="FFFFFF"/>
              </a:buClr>
              <a:buSzPts val="3200"/>
              <a:buFont typeface="Calibri"/>
              <a:buNone/>
            </a:pPr>
            <a:r>
              <a:rPr b="1" i="0" lang="en-US" sz="3200">
                <a:solidFill>
                  <a:srgbClr val="FFFFFF"/>
                </a:solidFill>
                <a:latin typeface="Calibri"/>
                <a:ea typeface="Calibri"/>
                <a:cs typeface="Calibri"/>
                <a:sym typeface="Calibri"/>
              </a:rPr>
              <a:t>…the element itself could just describe what it needs?</a:t>
            </a:r>
            <a:endParaRPr/>
          </a:p>
        </p:txBody>
      </p:sp>
      <p:sp>
        <p:nvSpPr>
          <p:cNvPr id="196" name="Google Shape;196;p22"/>
          <p:cNvSpPr txBox="1"/>
          <p:nvPr>
            <p:ph idx="1" type="body"/>
          </p:nvPr>
        </p:nvSpPr>
        <p:spPr>
          <a:xfrm>
            <a:off x="593100" y="3482125"/>
            <a:ext cx="10760700" cy="406800"/>
          </a:xfrm>
          <a:prstGeom prst="rect">
            <a:avLst/>
          </a:prstGeom>
          <a:noFill/>
          <a:ln>
            <a:noFill/>
          </a:ln>
        </p:spPr>
        <p:txBody>
          <a:bodyPr anchorCtr="0" anchor="t" bIns="45700" lIns="91425" spcFirstLastPara="1" rIns="91425" wrap="square" tIns="45700">
            <a:normAutofit/>
          </a:bodyPr>
          <a:lstStyle/>
          <a:p>
            <a:pPr indent="0" lvl="0" marL="0" rtl="0" algn="ctr">
              <a:lnSpc>
                <a:spcPct val="125000"/>
              </a:lnSpc>
              <a:spcBef>
                <a:spcPts val="0"/>
              </a:spcBef>
              <a:spcAft>
                <a:spcPts val="0"/>
              </a:spcAft>
              <a:buClr>
                <a:srgbClr val="FFC427"/>
              </a:buClr>
              <a:buSzPts val="1800"/>
              <a:buNone/>
            </a:pPr>
            <a:r>
              <a:rPr b="0" i="0" lang="en-US" sz="1800">
                <a:solidFill>
                  <a:srgbClr val="FFC427"/>
                </a:solidFill>
                <a:latin typeface="Calibri"/>
                <a:ea typeface="Calibri"/>
                <a:cs typeface="Calibri"/>
                <a:sym typeface="Calibri"/>
              </a:rPr>
              <a:t>No command classes. No wrapper-ID matching. No second file to go find.</a:t>
            </a:r>
            <a:endParaRPr/>
          </a:p>
        </p:txBody>
      </p:sp>
      <p:sp>
        <p:nvSpPr>
          <p:cNvPr id="197" name="Google Shape;197;p22"/>
          <p:cNvSpPr txBox="1"/>
          <p:nvPr/>
        </p:nvSpPr>
        <p:spPr>
          <a:xfrm>
            <a:off x="6468100" y="6355080"/>
            <a:ext cx="4846200" cy="200100"/>
          </a:xfrm>
          <a:prstGeom prst="rect">
            <a:avLst/>
          </a:prstGeom>
          <a:noFill/>
          <a:ln>
            <a:noFill/>
          </a:ln>
        </p:spPr>
        <p:txBody>
          <a:bodyPr anchorCtr="0" anchor="t" bIns="0" lIns="0" spcFirstLastPara="1" rIns="0" wrap="square" tIns="0">
            <a:spAutoFit/>
          </a:bodyPr>
          <a:lstStyle/>
          <a:p>
            <a:pPr indent="0" lvl="0" marL="0" marR="0" rtl="0" algn="r">
              <a:spcBef>
                <a:spcPts val="0"/>
              </a:spcBef>
              <a:spcAft>
                <a:spcPts val="0"/>
              </a:spcAft>
              <a:buNone/>
            </a:pPr>
            <a:r>
              <a:rPr b="1" i="0" lang="en-US" sz="1300">
                <a:solidFill>
                  <a:srgbClr val="FFC427"/>
                </a:solidFill>
                <a:latin typeface="Calibri"/>
                <a:ea typeface="Calibri"/>
                <a:cs typeface="Calibri"/>
                <a:sym typeface="Calibri"/>
              </a:rPr>
              <a:t>→ next: HTMX</a:t>
            </a:r>
            <a:endParaRPr/>
          </a:p>
        </p:txBody>
      </p:sp>
      <p:sp>
        <p:nvSpPr>
          <p:cNvPr id="198" name="Google Shape;198;p22"/>
          <p:cNvSpPr txBox="1"/>
          <p:nvPr/>
        </p:nvSpPr>
        <p:spPr>
          <a:xfrm>
            <a:off x="640075" y="320047"/>
            <a:ext cx="7315200" cy="1848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1200">
                <a:solidFill>
                  <a:srgbClr val="FFC427"/>
                </a:solidFill>
                <a:latin typeface="Calibri"/>
                <a:ea typeface="Calibri"/>
                <a:cs typeface="Calibri"/>
                <a:sym typeface="Calibri"/>
              </a:rPr>
              <a:t>— </a:t>
            </a:r>
            <a:r>
              <a:rPr b="1" lang="en-US" sz="1200">
                <a:solidFill>
                  <a:srgbClr val="FFC427"/>
                </a:solidFill>
                <a:latin typeface="Calibri"/>
                <a:ea typeface="Calibri"/>
                <a:cs typeface="Calibri"/>
                <a:sym typeface="Calibri"/>
              </a:rPr>
              <a:t>SO WHAT IF…</a:t>
            </a:r>
            <a:endParaRPr>
              <a:solidFill>
                <a:srgbClr val="FFC427"/>
              </a:solidFill>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3" name="Shape 203"/>
        <p:cNvGrpSpPr/>
        <p:nvPr/>
      </p:nvGrpSpPr>
      <p:grpSpPr>
        <a:xfrm>
          <a:off x="0" y="0"/>
          <a:ext cx="0" cy="0"/>
          <a:chOff x="0" y="0"/>
          <a:chExt cx="0" cy="0"/>
        </a:xfrm>
      </p:grpSpPr>
      <p:sp>
        <p:nvSpPr>
          <p:cNvPr id="204" name="Google Shape;204;p23"/>
          <p:cNvSpPr txBox="1"/>
          <p:nvPr>
            <p:ph type="title"/>
          </p:nvPr>
        </p:nvSpPr>
        <p:spPr>
          <a:xfrm>
            <a:off x="322580" y="2689490"/>
            <a:ext cx="11376600" cy="948000"/>
          </a:xfrm>
          <a:prstGeom prst="rect">
            <a:avLst/>
          </a:prstGeom>
          <a:noFill/>
          <a:ln>
            <a:noFill/>
          </a:ln>
        </p:spPr>
        <p:txBody>
          <a:bodyPr anchorCtr="0" anchor="ctr" bIns="45700" lIns="91425" spcFirstLastPara="1" rIns="91425" wrap="square" tIns="45700">
            <a:normAutofit/>
          </a:bodyPr>
          <a:lstStyle/>
          <a:p>
            <a:pPr indent="0" lvl="0" marL="0" rtl="0" algn="ctr">
              <a:lnSpc>
                <a:spcPct val="90000"/>
              </a:lnSpc>
              <a:spcBef>
                <a:spcPts val="0"/>
              </a:spcBef>
              <a:spcAft>
                <a:spcPts val="0"/>
              </a:spcAft>
              <a:buClr>
                <a:schemeClr val="lt1"/>
              </a:buClr>
              <a:buSzPts val="4400"/>
              <a:buFont typeface="Calibri"/>
              <a:buNone/>
            </a:pPr>
            <a:r>
              <a:t/>
            </a:r>
            <a:endParaRPr b="1">
              <a:solidFill>
                <a:schemeClr val="lt1"/>
              </a:solidFill>
            </a:endParaRPr>
          </a:p>
        </p:txBody>
      </p:sp>
      <p:sp>
        <p:nvSpPr>
          <p:cNvPr id="205" name="Google Shape;205;p23"/>
          <p:cNvSpPr txBox="1"/>
          <p:nvPr/>
        </p:nvSpPr>
        <p:spPr>
          <a:xfrm>
            <a:off x="822960" y="2428505"/>
            <a:ext cx="10515600" cy="200100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i="0" lang="en-US" sz="4000">
                <a:solidFill>
                  <a:srgbClr val="9AA3B5"/>
                </a:solidFill>
                <a:latin typeface="Calibri"/>
                <a:ea typeface="Calibri"/>
                <a:cs typeface="Calibri"/>
                <a:sym typeface="Calibri"/>
              </a:rPr>
              <a:t>That's not a hypothetical.</a:t>
            </a:r>
            <a:endParaRPr/>
          </a:p>
          <a:p>
            <a:pPr indent="0" lvl="0" marL="0" marR="0" rtl="0" algn="l">
              <a:spcBef>
                <a:spcPts val="600"/>
              </a:spcBef>
              <a:spcAft>
                <a:spcPts val="0"/>
              </a:spcAft>
              <a:buNone/>
            </a:pPr>
            <a:r>
              <a:rPr b="1" i="0" lang="en-US" sz="4000">
                <a:solidFill>
                  <a:srgbClr val="23325D"/>
                </a:solidFill>
                <a:latin typeface="Calibri"/>
                <a:ea typeface="Calibri"/>
                <a:cs typeface="Calibri"/>
                <a:sym typeface="Calibri"/>
              </a:rPr>
              <a:t>It's called HTMX.</a:t>
            </a:r>
            <a:endParaRPr/>
          </a:p>
          <a:p>
            <a:pPr indent="0" lvl="0" marL="0" marR="0" rtl="0" algn="l">
              <a:spcBef>
                <a:spcPts val="600"/>
              </a:spcBef>
              <a:spcAft>
                <a:spcPts val="0"/>
              </a:spcAft>
              <a:buNone/>
            </a:pPr>
            <a:r>
              <a:rPr b="1" i="0" lang="en-US" sz="4000">
                <a:solidFill>
                  <a:srgbClr val="23325D"/>
                </a:solidFill>
                <a:latin typeface="Calibri"/>
                <a:ea typeface="Calibri"/>
                <a:cs typeface="Calibri"/>
                <a:sym typeface="Calibri"/>
              </a:rPr>
              <a:t>Built on an idea older than Ajax: hypermedia.</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0" name="Shape 210"/>
        <p:cNvGrpSpPr/>
        <p:nvPr/>
      </p:nvGrpSpPr>
      <p:grpSpPr>
        <a:xfrm>
          <a:off x="0" y="0"/>
          <a:ext cx="0" cy="0"/>
          <a:chOff x="0" y="0"/>
          <a:chExt cx="0" cy="0"/>
        </a:xfrm>
      </p:grpSpPr>
      <p:sp>
        <p:nvSpPr>
          <p:cNvPr id="211" name="Google Shape;211;p24"/>
          <p:cNvSpPr txBox="1"/>
          <p:nvPr>
            <p:ph type="title"/>
          </p:nvPr>
        </p:nvSpPr>
        <p:spPr>
          <a:xfrm>
            <a:off x="322580" y="2272665"/>
            <a:ext cx="11376660" cy="948055"/>
          </a:xfrm>
          <a:prstGeom prst="rect">
            <a:avLst/>
          </a:prstGeom>
          <a:noFill/>
          <a:ln>
            <a:noFill/>
          </a:ln>
        </p:spPr>
        <p:txBody>
          <a:bodyPr anchorCtr="0" anchor="ctr" bIns="45700" lIns="91425" spcFirstLastPara="1" rIns="91425" wrap="square" tIns="45700">
            <a:normAutofit/>
          </a:bodyPr>
          <a:lstStyle/>
          <a:p>
            <a:pPr indent="0" lvl="0" marL="0" rtl="0" algn="ctr">
              <a:lnSpc>
                <a:spcPct val="90000"/>
              </a:lnSpc>
              <a:spcBef>
                <a:spcPts val="0"/>
              </a:spcBef>
              <a:spcAft>
                <a:spcPts val="0"/>
              </a:spcAft>
              <a:buClr>
                <a:schemeClr val="lt1"/>
              </a:buClr>
              <a:buSzPts val="4400"/>
              <a:buFont typeface="Calibri"/>
              <a:buNone/>
            </a:pPr>
            <a:r>
              <a:t/>
            </a:r>
            <a:endParaRPr b="1">
              <a:solidFill>
                <a:schemeClr val="lt1"/>
              </a:solidFill>
            </a:endParaRPr>
          </a:p>
        </p:txBody>
      </p:sp>
      <p:sp>
        <p:nvSpPr>
          <p:cNvPr id="212" name="Google Shape;212;p24"/>
          <p:cNvSpPr txBox="1"/>
          <p:nvPr/>
        </p:nvSpPr>
        <p:spPr>
          <a:xfrm>
            <a:off x="640080" y="320040"/>
            <a:ext cx="7315200" cy="1848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1200">
                <a:solidFill>
                  <a:srgbClr val="F26351"/>
                </a:solidFill>
                <a:latin typeface="Calibri"/>
                <a:ea typeface="Calibri"/>
                <a:cs typeface="Calibri"/>
                <a:sym typeface="Calibri"/>
              </a:rPr>
              <a:t>— </a:t>
            </a:r>
            <a:r>
              <a:rPr b="1" i="0" lang="en-US" sz="1200">
                <a:solidFill>
                  <a:srgbClr val="F26351"/>
                </a:solidFill>
                <a:latin typeface="Calibri"/>
                <a:ea typeface="Calibri"/>
                <a:cs typeface="Calibri"/>
                <a:sym typeface="Calibri"/>
              </a:rPr>
              <a:t>THE IDEA</a:t>
            </a:r>
            <a:endParaRPr/>
          </a:p>
        </p:txBody>
      </p:sp>
      <p:sp>
        <p:nvSpPr>
          <p:cNvPr id="213" name="Google Shape;213;p24"/>
          <p:cNvSpPr txBox="1"/>
          <p:nvPr/>
        </p:nvSpPr>
        <p:spPr>
          <a:xfrm>
            <a:off x="914400" y="2573990"/>
            <a:ext cx="10332600" cy="1710000"/>
          </a:xfrm>
          <a:prstGeom prst="rect">
            <a:avLst/>
          </a:prstGeom>
          <a:noFill/>
          <a:ln>
            <a:noFill/>
          </a:ln>
        </p:spPr>
        <p:txBody>
          <a:bodyPr anchorCtr="0" anchor="ctr" bIns="0" lIns="0" spcFirstLastPara="1" rIns="0" wrap="square" tIns="0">
            <a:spAutoFit/>
          </a:bodyPr>
          <a:lstStyle/>
          <a:p>
            <a:pPr indent="0" lvl="0" marL="0" marR="0" rtl="0" algn="l">
              <a:lnSpc>
                <a:spcPct val="135000"/>
              </a:lnSpc>
              <a:spcBef>
                <a:spcPts val="0"/>
              </a:spcBef>
              <a:spcAft>
                <a:spcPts val="0"/>
              </a:spcAft>
              <a:buNone/>
            </a:pPr>
            <a:r>
              <a:rPr b="0" i="1" lang="en-US" sz="2200">
                <a:solidFill>
                  <a:srgbClr val="23325D"/>
                </a:solidFill>
                <a:latin typeface="Calibri"/>
                <a:ea typeface="Calibri"/>
                <a:cs typeface="Calibri"/>
                <a:sym typeface="Calibri"/>
              </a:rPr>
              <a:t>You already know hypermedia. Every &lt;a href&gt; and every &lt;form&gt; you've ever written is a hypermedia control</a:t>
            </a:r>
            <a:r>
              <a:rPr i="1" lang="en-US" sz="2200">
                <a:solidFill>
                  <a:srgbClr val="23325D"/>
                </a:solidFill>
                <a:latin typeface="Calibri"/>
                <a:ea typeface="Calibri"/>
                <a:cs typeface="Calibri"/>
                <a:sym typeface="Calibri"/>
              </a:rPr>
              <a:t>,</a:t>
            </a:r>
            <a:r>
              <a:rPr b="0" i="1" lang="en-US" sz="2200">
                <a:solidFill>
                  <a:srgbClr val="23325D"/>
                </a:solidFill>
                <a:latin typeface="Calibri"/>
                <a:ea typeface="Calibri"/>
                <a:cs typeface="Calibri"/>
                <a:sym typeface="Calibri"/>
              </a:rPr>
              <a:t> an element that tells the browser what to fetch and where to put the result. HTMX just extends that vocabulary: any element, any event, any HTTP verb, any part of the page as the target.</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8" name="Shape 218"/>
        <p:cNvGrpSpPr/>
        <p:nvPr/>
      </p:nvGrpSpPr>
      <p:grpSpPr>
        <a:xfrm>
          <a:off x="0" y="0"/>
          <a:ext cx="0" cy="0"/>
          <a:chOff x="0" y="0"/>
          <a:chExt cx="0" cy="0"/>
        </a:xfrm>
      </p:grpSpPr>
      <p:sp>
        <p:nvSpPr>
          <p:cNvPr id="219" name="Google Shape;219;p25"/>
          <p:cNvSpPr txBox="1"/>
          <p:nvPr>
            <p:ph type="title"/>
          </p:nvPr>
        </p:nvSpPr>
        <p:spPr>
          <a:xfrm>
            <a:off x="564400" y="365125"/>
            <a:ext cx="10789200" cy="958500"/>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rgbClr val="23325D"/>
              </a:buClr>
              <a:buSzPts val="3400"/>
              <a:buFont typeface="Calibri"/>
              <a:buNone/>
            </a:pPr>
            <a:r>
              <a:rPr lang="en-US" sz="3400">
                <a:solidFill>
                  <a:srgbClr val="23325D"/>
                </a:solidFill>
              </a:rPr>
              <a:t>One element. Four attributes.</a:t>
            </a:r>
            <a:endParaRPr/>
          </a:p>
        </p:txBody>
      </p:sp>
      <p:sp>
        <p:nvSpPr>
          <p:cNvPr id="220" name="Google Shape;220;p25"/>
          <p:cNvSpPr txBox="1"/>
          <p:nvPr/>
        </p:nvSpPr>
        <p:spPr>
          <a:xfrm>
            <a:off x="640080" y="320040"/>
            <a:ext cx="7315200" cy="1848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1200">
                <a:solidFill>
                  <a:srgbClr val="F26351"/>
                </a:solidFill>
                <a:latin typeface="Calibri"/>
                <a:ea typeface="Calibri"/>
                <a:cs typeface="Calibri"/>
                <a:sym typeface="Calibri"/>
              </a:rPr>
              <a:t>— </a:t>
            </a:r>
            <a:r>
              <a:rPr b="1" i="0" lang="en-US" sz="1200">
                <a:solidFill>
                  <a:srgbClr val="F26351"/>
                </a:solidFill>
                <a:latin typeface="Calibri"/>
                <a:ea typeface="Calibri"/>
                <a:cs typeface="Calibri"/>
                <a:sym typeface="Calibri"/>
              </a:rPr>
              <a:t>IN CODE</a:t>
            </a:r>
            <a:endParaRPr/>
          </a:p>
        </p:txBody>
      </p:sp>
      <p:sp>
        <p:nvSpPr>
          <p:cNvPr id="221" name="Google Shape;221;p25"/>
          <p:cNvSpPr/>
          <p:nvPr/>
        </p:nvSpPr>
        <p:spPr>
          <a:xfrm>
            <a:off x="640080" y="1987165"/>
            <a:ext cx="10908900" cy="2531100"/>
          </a:xfrm>
          <a:prstGeom prst="roundRect">
            <a:avLst>
              <a:gd fmla="val 4000" name="adj"/>
            </a:avLst>
          </a:prstGeom>
          <a:solidFill>
            <a:srgbClr val="23325D"/>
          </a:solidFill>
          <a:ln>
            <a:noFill/>
          </a:ln>
        </p:spPr>
        <p:txBody>
          <a:bodyPr anchorCtr="0" anchor="ctr" bIns="228600" lIns="320025" spcFirstLastPara="1" rIns="274300" wrap="square" tIns="228600">
            <a:noAutofit/>
          </a:bodyPr>
          <a:lstStyle/>
          <a:p>
            <a:pPr indent="0" lvl="0" marL="0" marR="0" rtl="0" algn="l">
              <a:lnSpc>
                <a:spcPct val="122000"/>
              </a:lnSpc>
              <a:spcBef>
                <a:spcPts val="0"/>
              </a:spcBef>
              <a:spcAft>
                <a:spcPts val="0"/>
              </a:spcAft>
              <a:buNone/>
            </a:pPr>
            <a:r>
              <a:rPr b="0" i="0" lang="en-US" sz="1250">
                <a:solidFill>
                  <a:srgbClr val="D8E4F5"/>
                </a:solidFill>
                <a:latin typeface="Courier New"/>
                <a:ea typeface="Courier New"/>
                <a:cs typeface="Courier New"/>
                <a:sym typeface="Courier New"/>
              </a:rPr>
              <a:t>&lt;select </a:t>
            </a:r>
            <a:r>
              <a:rPr b="1" i="0" lang="en-US" sz="1250">
                <a:solidFill>
                  <a:srgbClr val="F26351"/>
                </a:solidFill>
                <a:latin typeface="Courier New"/>
                <a:ea typeface="Courier New"/>
                <a:cs typeface="Courier New"/>
                <a:sym typeface="Courier New"/>
              </a:rPr>
              <a:t>hx-get</a:t>
            </a:r>
            <a:r>
              <a:rPr b="0" i="0" lang="en-US" sz="1250">
                <a:solidFill>
                  <a:srgbClr val="D8E4F5"/>
                </a:solidFill>
                <a:latin typeface="Courier New"/>
                <a:ea typeface="Courier New"/>
                <a:cs typeface="Courier New"/>
                <a:sym typeface="Courier New"/>
              </a:rPr>
              <a:t>="/filter-results"</a:t>
            </a:r>
            <a:endParaRPr/>
          </a:p>
          <a:p>
            <a:pPr indent="0" lvl="0" marL="0" marR="0" rtl="0" algn="l">
              <a:lnSpc>
                <a:spcPct val="122000"/>
              </a:lnSpc>
              <a:spcBef>
                <a:spcPts val="0"/>
              </a:spcBef>
              <a:spcAft>
                <a:spcPts val="0"/>
              </a:spcAft>
              <a:buNone/>
            </a:pPr>
            <a:r>
              <a:rPr b="0" i="0" lang="en-US" sz="1250">
                <a:solidFill>
                  <a:srgbClr val="D8E4F5"/>
                </a:solidFill>
                <a:latin typeface="Courier New"/>
                <a:ea typeface="Courier New"/>
                <a:cs typeface="Courier New"/>
                <a:sym typeface="Courier New"/>
              </a:rPr>
              <a:t>        </a:t>
            </a:r>
            <a:r>
              <a:rPr b="1" i="0" lang="en-US" sz="1250">
                <a:solidFill>
                  <a:srgbClr val="F26351"/>
                </a:solidFill>
                <a:latin typeface="Courier New"/>
                <a:ea typeface="Courier New"/>
                <a:cs typeface="Courier New"/>
                <a:sym typeface="Courier New"/>
              </a:rPr>
              <a:t>hx-trigger</a:t>
            </a:r>
            <a:r>
              <a:rPr b="0" i="0" lang="en-US" sz="1250">
                <a:solidFill>
                  <a:srgbClr val="D8E4F5"/>
                </a:solidFill>
                <a:latin typeface="Courier New"/>
                <a:ea typeface="Courier New"/>
                <a:cs typeface="Courier New"/>
                <a:sym typeface="Courier New"/>
              </a:rPr>
              <a:t>="change"</a:t>
            </a:r>
            <a:endParaRPr/>
          </a:p>
          <a:p>
            <a:pPr indent="0" lvl="0" marL="0" marR="0" rtl="0" algn="l">
              <a:lnSpc>
                <a:spcPct val="122000"/>
              </a:lnSpc>
              <a:spcBef>
                <a:spcPts val="0"/>
              </a:spcBef>
              <a:spcAft>
                <a:spcPts val="0"/>
              </a:spcAft>
              <a:buNone/>
            </a:pPr>
            <a:r>
              <a:rPr b="0" i="0" lang="en-US" sz="1250">
                <a:solidFill>
                  <a:srgbClr val="D8E4F5"/>
                </a:solidFill>
                <a:latin typeface="Courier New"/>
                <a:ea typeface="Courier New"/>
                <a:cs typeface="Courier New"/>
                <a:sym typeface="Courier New"/>
              </a:rPr>
              <a:t>        </a:t>
            </a:r>
            <a:r>
              <a:rPr b="1" i="0" lang="en-US" sz="1250">
                <a:solidFill>
                  <a:srgbClr val="F26351"/>
                </a:solidFill>
                <a:latin typeface="Courier New"/>
                <a:ea typeface="Courier New"/>
                <a:cs typeface="Courier New"/>
                <a:sym typeface="Courier New"/>
              </a:rPr>
              <a:t>hx-target</a:t>
            </a:r>
            <a:r>
              <a:rPr b="0" i="0" lang="en-US" sz="1250">
                <a:solidFill>
                  <a:srgbClr val="D8E4F5"/>
                </a:solidFill>
                <a:latin typeface="Courier New"/>
                <a:ea typeface="Courier New"/>
                <a:cs typeface="Courier New"/>
                <a:sym typeface="Courier New"/>
              </a:rPr>
              <a:t>="#results"</a:t>
            </a:r>
            <a:endParaRPr/>
          </a:p>
          <a:p>
            <a:pPr indent="0" lvl="0" marL="0" marR="0" rtl="0" algn="l">
              <a:lnSpc>
                <a:spcPct val="122000"/>
              </a:lnSpc>
              <a:spcBef>
                <a:spcPts val="0"/>
              </a:spcBef>
              <a:spcAft>
                <a:spcPts val="0"/>
              </a:spcAft>
              <a:buNone/>
            </a:pPr>
            <a:r>
              <a:rPr b="0" i="0" lang="en-US" sz="1250">
                <a:solidFill>
                  <a:srgbClr val="D8E4F5"/>
                </a:solidFill>
                <a:latin typeface="Courier New"/>
                <a:ea typeface="Courier New"/>
                <a:cs typeface="Courier New"/>
                <a:sym typeface="Courier New"/>
              </a:rPr>
              <a:t>        </a:t>
            </a:r>
            <a:r>
              <a:rPr b="1" i="0" lang="en-US" sz="1250">
                <a:solidFill>
                  <a:srgbClr val="F26351"/>
                </a:solidFill>
                <a:latin typeface="Courier New"/>
                <a:ea typeface="Courier New"/>
                <a:cs typeface="Courier New"/>
                <a:sym typeface="Courier New"/>
              </a:rPr>
              <a:t>hx-swap</a:t>
            </a:r>
            <a:r>
              <a:rPr b="0" i="0" lang="en-US" sz="1250">
                <a:solidFill>
                  <a:srgbClr val="D8E4F5"/>
                </a:solidFill>
                <a:latin typeface="Courier New"/>
                <a:ea typeface="Courier New"/>
                <a:cs typeface="Courier New"/>
                <a:sym typeface="Courier New"/>
              </a:rPr>
              <a:t>="innerHTML"&gt;</a:t>
            </a:r>
            <a:endParaRPr/>
          </a:p>
          <a:p>
            <a:pPr indent="0" lvl="0" marL="0" marR="0" rtl="0" algn="l">
              <a:lnSpc>
                <a:spcPct val="122000"/>
              </a:lnSpc>
              <a:spcBef>
                <a:spcPts val="0"/>
              </a:spcBef>
              <a:spcAft>
                <a:spcPts val="0"/>
              </a:spcAft>
              <a:buNone/>
            </a:pPr>
            <a:r>
              <a:rPr b="0" i="0" lang="en-US" sz="1250">
                <a:solidFill>
                  <a:srgbClr val="D8E4F5"/>
                </a:solidFill>
                <a:latin typeface="Courier New"/>
                <a:ea typeface="Courier New"/>
                <a:cs typeface="Courier New"/>
                <a:sym typeface="Courier New"/>
              </a:rPr>
              <a:t>  ...</a:t>
            </a:r>
            <a:endParaRPr/>
          </a:p>
          <a:p>
            <a:pPr indent="0" lvl="0" marL="0" marR="0" rtl="0" algn="l">
              <a:lnSpc>
                <a:spcPct val="122000"/>
              </a:lnSpc>
              <a:spcBef>
                <a:spcPts val="0"/>
              </a:spcBef>
              <a:spcAft>
                <a:spcPts val="0"/>
              </a:spcAft>
              <a:buNone/>
            </a:pPr>
            <a:r>
              <a:rPr b="0" i="0" lang="en-US" sz="1250">
                <a:solidFill>
                  <a:srgbClr val="D8E4F5"/>
                </a:solidFill>
                <a:latin typeface="Courier New"/>
                <a:ea typeface="Courier New"/>
                <a:cs typeface="Courier New"/>
                <a:sym typeface="Courier New"/>
              </a:rPr>
              <a:t>&lt;/select&gt;</a:t>
            </a:r>
            <a:endParaRPr/>
          </a:p>
          <a:p>
            <a:pPr indent="0" lvl="0" marL="0" marR="0" rtl="0" algn="l">
              <a:lnSpc>
                <a:spcPct val="122000"/>
              </a:lnSpc>
              <a:spcBef>
                <a:spcPts val="0"/>
              </a:spcBef>
              <a:spcAft>
                <a:spcPts val="0"/>
              </a:spcAft>
              <a:buNone/>
            </a:pPr>
            <a:r>
              <a:rPr b="0" i="0" lang="en-US" sz="1250">
                <a:solidFill>
                  <a:srgbClr val="D8E4F5"/>
                </a:solidFill>
                <a:latin typeface="Courier New"/>
                <a:ea typeface="Courier New"/>
                <a:cs typeface="Courier New"/>
                <a:sym typeface="Courier New"/>
              </a:rPr>
              <a:t> </a:t>
            </a:r>
            <a:endParaRPr/>
          </a:p>
          <a:p>
            <a:pPr indent="0" lvl="0" marL="0" marR="0" rtl="0" algn="l">
              <a:lnSpc>
                <a:spcPct val="122000"/>
              </a:lnSpc>
              <a:spcBef>
                <a:spcPts val="0"/>
              </a:spcBef>
              <a:spcAft>
                <a:spcPts val="0"/>
              </a:spcAft>
              <a:buNone/>
            </a:pPr>
            <a:r>
              <a:rPr b="0" i="0" lang="en-US" sz="1250">
                <a:solidFill>
                  <a:srgbClr val="D8E4F5"/>
                </a:solidFill>
                <a:latin typeface="Courier New"/>
                <a:ea typeface="Courier New"/>
                <a:cs typeface="Courier New"/>
                <a:sym typeface="Courier New"/>
              </a:rPr>
              <a:t>&lt;div id="results"&gt;</a:t>
            </a:r>
            <a:endParaRPr/>
          </a:p>
          <a:p>
            <a:pPr indent="0" lvl="0" marL="0" marR="0" rtl="0" algn="l">
              <a:lnSpc>
                <a:spcPct val="122000"/>
              </a:lnSpc>
              <a:spcBef>
                <a:spcPts val="0"/>
              </a:spcBef>
              <a:spcAft>
                <a:spcPts val="0"/>
              </a:spcAft>
              <a:buNone/>
            </a:pPr>
            <a:r>
              <a:rPr b="0" i="0" lang="en-US" sz="1250">
                <a:solidFill>
                  <a:srgbClr val="D8E4F5"/>
                </a:solidFill>
                <a:latin typeface="Courier New"/>
                <a:ea typeface="Courier New"/>
                <a:cs typeface="Courier New"/>
                <a:sym typeface="Courier New"/>
              </a:rPr>
              <a:t>  &lt;!-- server returns just this fragment --&gt;</a:t>
            </a:r>
            <a:endParaRPr/>
          </a:p>
          <a:p>
            <a:pPr indent="0" lvl="0" marL="0" marR="0" rtl="0" algn="l">
              <a:lnSpc>
                <a:spcPct val="122000"/>
              </a:lnSpc>
              <a:spcBef>
                <a:spcPts val="0"/>
              </a:spcBef>
              <a:spcAft>
                <a:spcPts val="0"/>
              </a:spcAft>
              <a:buNone/>
            </a:pPr>
            <a:r>
              <a:rPr b="0" i="0" lang="en-US" sz="1250">
                <a:solidFill>
                  <a:srgbClr val="D8E4F5"/>
                </a:solidFill>
                <a:latin typeface="Courier New"/>
                <a:ea typeface="Courier New"/>
                <a:cs typeface="Courier New"/>
                <a:sym typeface="Courier New"/>
              </a:rPr>
              <a:t>&lt;/div&gt;</a:t>
            </a:r>
            <a:endParaRPr/>
          </a:p>
        </p:txBody>
      </p:sp>
      <p:sp>
        <p:nvSpPr>
          <p:cNvPr id="222" name="Google Shape;222;p25"/>
          <p:cNvSpPr txBox="1"/>
          <p:nvPr/>
        </p:nvSpPr>
        <p:spPr>
          <a:xfrm>
            <a:off x="640080" y="4655434"/>
            <a:ext cx="10908900" cy="215400"/>
          </a:xfrm>
          <a:prstGeom prst="rect">
            <a:avLst/>
          </a:prstGeom>
          <a:noFill/>
          <a:ln>
            <a:noFill/>
          </a:ln>
        </p:spPr>
        <p:txBody>
          <a:bodyPr anchorCtr="0" anchor="t" bIns="0" lIns="0" spcFirstLastPara="1" rIns="0" wrap="square" tIns="0">
            <a:spAutoFit/>
          </a:bodyPr>
          <a:lstStyle/>
          <a:p>
            <a:pPr indent="0" lvl="0" marL="0" marR="0" rtl="0" algn="l">
              <a:lnSpc>
                <a:spcPct val="115000"/>
              </a:lnSpc>
              <a:spcBef>
                <a:spcPts val="0"/>
              </a:spcBef>
              <a:spcAft>
                <a:spcPts val="0"/>
              </a:spcAft>
              <a:buNone/>
            </a:pPr>
            <a:r>
              <a:rPr b="0" i="0" lang="en-US" sz="1400">
                <a:solidFill>
                  <a:srgbClr val="5B6378"/>
                </a:solidFill>
                <a:latin typeface="Calibri"/>
                <a:ea typeface="Calibri"/>
                <a:cs typeface="Calibri"/>
                <a:sym typeface="Calibri"/>
              </a:rPr>
              <a:t>One element. Four attributes. The behavior lives right there in the tag — no PHP file to go find, no wrapper ID to keep in sync across two files.</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7" name="Shape 227"/>
        <p:cNvGrpSpPr/>
        <p:nvPr/>
      </p:nvGrpSpPr>
      <p:grpSpPr>
        <a:xfrm>
          <a:off x="0" y="0"/>
          <a:ext cx="0" cy="0"/>
          <a:chOff x="0" y="0"/>
          <a:chExt cx="0" cy="0"/>
        </a:xfrm>
      </p:grpSpPr>
      <p:sp>
        <p:nvSpPr>
          <p:cNvPr id="228" name="Google Shape;228;p26"/>
          <p:cNvSpPr txBox="1"/>
          <p:nvPr>
            <p:ph type="title"/>
          </p:nvPr>
        </p:nvSpPr>
        <p:spPr>
          <a:xfrm>
            <a:off x="1341600" y="365125"/>
            <a:ext cx="10012200" cy="1326000"/>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rgbClr val="23325D"/>
              </a:buClr>
              <a:buSzPts val="3200"/>
              <a:buFont typeface="Calibri"/>
              <a:buNone/>
            </a:pPr>
            <a:r>
              <a:rPr lang="en-US" sz="3200">
                <a:solidFill>
                  <a:srgbClr val="23325D"/>
                </a:solidFill>
              </a:rPr>
              <a:t>HTMX request/response cycle</a:t>
            </a:r>
            <a:endParaRPr/>
          </a:p>
        </p:txBody>
      </p:sp>
      <p:sp>
        <p:nvSpPr>
          <p:cNvPr id="229" name="Google Shape;229;p26"/>
          <p:cNvSpPr txBox="1"/>
          <p:nvPr/>
        </p:nvSpPr>
        <p:spPr>
          <a:xfrm>
            <a:off x="1417320" y="320040"/>
            <a:ext cx="6400800" cy="1848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1200">
                <a:solidFill>
                  <a:srgbClr val="F26351"/>
                </a:solidFill>
                <a:latin typeface="Calibri"/>
                <a:ea typeface="Calibri"/>
                <a:cs typeface="Calibri"/>
                <a:sym typeface="Calibri"/>
              </a:rPr>
              <a:t>— </a:t>
            </a:r>
            <a:r>
              <a:rPr b="1" i="0" lang="en-US" sz="1200">
                <a:solidFill>
                  <a:srgbClr val="F26351"/>
                </a:solidFill>
                <a:latin typeface="Calibri"/>
                <a:ea typeface="Calibri"/>
                <a:cs typeface="Calibri"/>
                <a:sym typeface="Calibri"/>
              </a:rPr>
              <a:t>THE REQUEST/RESPONSE CYCLE</a:t>
            </a:r>
            <a:endParaRPr/>
          </a:p>
        </p:txBody>
      </p:sp>
      <p:pic>
        <p:nvPicPr>
          <p:cNvPr descr="htmx_sequence.png" id="230" name="Google Shape;230;p26"/>
          <p:cNvPicPr preferRelativeResize="0"/>
          <p:nvPr/>
        </p:nvPicPr>
        <p:blipFill rotWithShape="1">
          <a:blip r:embed="rId3">
            <a:alphaModFix/>
          </a:blip>
          <a:srcRect b="0" l="0" r="0" t="0"/>
          <a:stretch/>
        </p:blipFill>
        <p:spPr>
          <a:xfrm>
            <a:off x="1421996" y="1885689"/>
            <a:ext cx="9747252" cy="3864497"/>
          </a:xfrm>
          <a:prstGeom prst="rect">
            <a:avLst/>
          </a:prstGeom>
          <a:noFill/>
          <a:ln>
            <a:noFill/>
          </a:ln>
        </p:spPr>
      </p:pic>
      <p:sp>
        <p:nvSpPr>
          <p:cNvPr id="231" name="Google Shape;231;p26"/>
          <p:cNvSpPr txBox="1"/>
          <p:nvPr/>
        </p:nvSpPr>
        <p:spPr>
          <a:xfrm>
            <a:off x="640080" y="6263640"/>
            <a:ext cx="10908900" cy="200100"/>
          </a:xfrm>
          <a:prstGeom prst="rect">
            <a:avLst/>
          </a:prstGeom>
          <a:noFill/>
          <a:ln>
            <a:noFill/>
          </a:ln>
        </p:spPr>
        <p:txBody>
          <a:bodyPr anchorCtr="0" anchor="t" bIns="0" lIns="0" spcFirstLastPara="1" rIns="0" wrap="square" tIns="0">
            <a:spAutoFit/>
          </a:bodyPr>
          <a:lstStyle/>
          <a:p>
            <a:pPr indent="0" lvl="0" marL="0" marR="0" rtl="0" algn="ctr">
              <a:spcBef>
                <a:spcPts val="0"/>
              </a:spcBef>
              <a:spcAft>
                <a:spcPts val="0"/>
              </a:spcAft>
              <a:buNone/>
            </a:pPr>
            <a:r>
              <a:rPr b="0" i="0" lang="en-US" sz="1300">
                <a:solidFill>
                  <a:srgbClr val="5B6378"/>
                </a:solidFill>
                <a:latin typeface="Calibri"/>
                <a:ea typeface="Calibri"/>
                <a:cs typeface="Calibri"/>
                <a:sym typeface="Calibri"/>
              </a:rPr>
              <a:t>Same three participants</a:t>
            </a:r>
            <a:r>
              <a:rPr lang="en-US" sz="1300">
                <a:solidFill>
                  <a:srgbClr val="5B6378"/>
                </a:solidFill>
                <a:latin typeface="Calibri"/>
                <a:ea typeface="Calibri"/>
                <a:cs typeface="Calibri"/>
                <a:sym typeface="Calibri"/>
              </a:rPr>
              <a:t>:</a:t>
            </a:r>
            <a:r>
              <a:rPr b="0" i="0" lang="en-US" sz="1300">
                <a:solidFill>
                  <a:srgbClr val="5B6378"/>
                </a:solidFill>
                <a:latin typeface="Calibri"/>
                <a:ea typeface="Calibri"/>
                <a:cs typeface="Calibri"/>
                <a:sym typeface="Calibri"/>
              </a:rPr>
              <a:t> user, browser, server. Seven steps in the Ajax version. Four here.</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6" name="Shape 236"/>
        <p:cNvGrpSpPr/>
        <p:nvPr/>
      </p:nvGrpSpPr>
      <p:grpSpPr>
        <a:xfrm>
          <a:off x="0" y="0"/>
          <a:ext cx="0" cy="0"/>
          <a:chOff x="0" y="0"/>
          <a:chExt cx="0" cy="0"/>
        </a:xfrm>
      </p:grpSpPr>
      <p:sp>
        <p:nvSpPr>
          <p:cNvPr id="237" name="Google Shape;237;p27"/>
          <p:cNvSpPr txBox="1"/>
          <p:nvPr>
            <p:ph type="title"/>
          </p:nvPr>
        </p:nvSpPr>
        <p:spPr>
          <a:xfrm>
            <a:off x="553725" y="2250974"/>
            <a:ext cx="10760700" cy="736500"/>
          </a:xfrm>
          <a:prstGeom prst="rect">
            <a:avLst/>
          </a:prstGeom>
          <a:noFill/>
          <a:ln>
            <a:noFill/>
          </a:ln>
        </p:spPr>
        <p:txBody>
          <a:bodyPr anchorCtr="0" anchor="t" bIns="45700" lIns="91425" spcFirstLastPara="1" rIns="91425" wrap="square" tIns="45700">
            <a:normAutofit/>
          </a:bodyPr>
          <a:lstStyle/>
          <a:p>
            <a:pPr indent="0" lvl="0" marL="0" rtl="0" algn="l">
              <a:lnSpc>
                <a:spcPct val="90000"/>
              </a:lnSpc>
              <a:spcBef>
                <a:spcPts val="0"/>
              </a:spcBef>
              <a:spcAft>
                <a:spcPts val="0"/>
              </a:spcAft>
              <a:buClr>
                <a:srgbClr val="FFFFFF"/>
              </a:buClr>
              <a:buSzPts val="3200"/>
              <a:buFont typeface="Calibri"/>
              <a:buNone/>
            </a:pPr>
            <a:r>
              <a:rPr b="1" i="0" lang="en-US" sz="3200">
                <a:solidFill>
                  <a:srgbClr val="FFFFFF"/>
                </a:solidFill>
                <a:latin typeface="Calibri"/>
                <a:ea typeface="Calibri"/>
                <a:cs typeface="Calibri"/>
                <a:sym typeface="Calibri"/>
              </a:rPr>
              <a:t>The response </a:t>
            </a:r>
            <a:r>
              <a:rPr b="1" i="1" lang="en-US" sz="3200">
                <a:solidFill>
                  <a:srgbClr val="FFFFFF"/>
                </a:solidFill>
                <a:latin typeface="Calibri"/>
                <a:ea typeface="Calibri"/>
                <a:cs typeface="Calibri"/>
                <a:sym typeface="Calibri"/>
              </a:rPr>
              <a:t>is</a:t>
            </a:r>
            <a:r>
              <a:rPr b="1" i="0" lang="en-US" sz="3200">
                <a:solidFill>
                  <a:srgbClr val="FFFFFF"/>
                </a:solidFill>
                <a:latin typeface="Calibri"/>
                <a:ea typeface="Calibri"/>
                <a:cs typeface="Calibri"/>
                <a:sym typeface="Calibri"/>
              </a:rPr>
              <a:t> the next state of the UI — already rendered.</a:t>
            </a:r>
            <a:endParaRPr/>
          </a:p>
        </p:txBody>
      </p:sp>
      <p:sp>
        <p:nvSpPr>
          <p:cNvPr id="238" name="Google Shape;238;p27"/>
          <p:cNvSpPr txBox="1"/>
          <p:nvPr>
            <p:ph idx="1" type="body"/>
          </p:nvPr>
        </p:nvSpPr>
        <p:spPr>
          <a:xfrm>
            <a:off x="593100" y="3042225"/>
            <a:ext cx="10760700" cy="1564800"/>
          </a:xfrm>
          <a:prstGeom prst="rect">
            <a:avLst/>
          </a:prstGeom>
          <a:noFill/>
          <a:ln>
            <a:noFill/>
          </a:ln>
        </p:spPr>
        <p:txBody>
          <a:bodyPr anchorCtr="0" anchor="t" bIns="45700" lIns="91425" spcFirstLastPara="1" rIns="91425" wrap="square" tIns="45700">
            <a:normAutofit/>
          </a:bodyPr>
          <a:lstStyle/>
          <a:p>
            <a:pPr indent="0" lvl="0" marL="0" rtl="0" algn="l">
              <a:lnSpc>
                <a:spcPct val="125000"/>
              </a:lnSpc>
              <a:spcBef>
                <a:spcPts val="0"/>
              </a:spcBef>
              <a:spcAft>
                <a:spcPts val="0"/>
              </a:spcAft>
              <a:buClr>
                <a:srgbClr val="FFC427"/>
              </a:buClr>
              <a:buSzPts val="1800"/>
              <a:buNone/>
            </a:pPr>
            <a:r>
              <a:rPr b="0" i="0" lang="en-US" sz="1800">
                <a:solidFill>
                  <a:srgbClr val="FFC427"/>
                </a:solidFill>
                <a:latin typeface="Calibri"/>
                <a:ea typeface="Calibri"/>
                <a:cs typeface="Calibri"/>
                <a:sym typeface="Calibri"/>
              </a:rPr>
              <a:t>No separate JSON API. </a:t>
            </a:r>
            <a:endParaRPr b="0" i="0" sz="1800">
              <a:solidFill>
                <a:srgbClr val="FFC427"/>
              </a:solidFill>
              <a:latin typeface="Calibri"/>
              <a:ea typeface="Calibri"/>
              <a:cs typeface="Calibri"/>
              <a:sym typeface="Calibri"/>
            </a:endParaRPr>
          </a:p>
          <a:p>
            <a:pPr indent="0" lvl="0" marL="0" rtl="0" algn="l">
              <a:lnSpc>
                <a:spcPct val="125000"/>
              </a:lnSpc>
              <a:spcBef>
                <a:spcPts val="0"/>
              </a:spcBef>
              <a:spcAft>
                <a:spcPts val="0"/>
              </a:spcAft>
              <a:buClr>
                <a:srgbClr val="FFC427"/>
              </a:buClr>
              <a:buSzPts val="1800"/>
              <a:buNone/>
            </a:pPr>
            <a:r>
              <a:rPr b="0" i="0" lang="en-US" sz="1800">
                <a:solidFill>
                  <a:srgbClr val="FFC427"/>
                </a:solidFill>
                <a:latin typeface="Calibri"/>
                <a:ea typeface="Calibri"/>
                <a:cs typeface="Calibri"/>
                <a:sym typeface="Calibri"/>
              </a:rPr>
              <a:t>No client-side templating layer. </a:t>
            </a:r>
            <a:endParaRPr b="0" i="0" sz="1800">
              <a:solidFill>
                <a:srgbClr val="FFC427"/>
              </a:solidFill>
              <a:latin typeface="Calibri"/>
              <a:ea typeface="Calibri"/>
              <a:cs typeface="Calibri"/>
              <a:sym typeface="Calibri"/>
            </a:endParaRPr>
          </a:p>
          <a:p>
            <a:pPr indent="0" lvl="0" marL="0" rtl="0" algn="l">
              <a:lnSpc>
                <a:spcPct val="125000"/>
              </a:lnSpc>
              <a:spcBef>
                <a:spcPts val="0"/>
              </a:spcBef>
              <a:spcAft>
                <a:spcPts val="0"/>
              </a:spcAft>
              <a:buClr>
                <a:srgbClr val="FFC427"/>
              </a:buClr>
              <a:buSzPts val="1800"/>
              <a:buNone/>
            </a:pPr>
            <a:r>
              <a:rPr b="0" i="0" lang="en-US" sz="1800">
                <a:solidFill>
                  <a:srgbClr val="FFC427"/>
                </a:solidFill>
                <a:latin typeface="Calibri"/>
                <a:ea typeface="Calibri"/>
                <a:cs typeface="Calibri"/>
                <a:sym typeface="Calibri"/>
              </a:rPr>
              <a:t>HTMX just closes the gap between the first page load and everything after, so both work the same way.</a:t>
            </a:r>
            <a:endParaRPr/>
          </a:p>
        </p:txBody>
      </p:sp>
      <p:sp>
        <p:nvSpPr>
          <p:cNvPr id="239" name="Google Shape;239;p27"/>
          <p:cNvSpPr txBox="1"/>
          <p:nvPr/>
        </p:nvSpPr>
        <p:spPr>
          <a:xfrm>
            <a:off x="640075" y="320047"/>
            <a:ext cx="7315200" cy="1848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1200">
                <a:solidFill>
                  <a:srgbClr val="FFC427"/>
                </a:solidFill>
                <a:latin typeface="Calibri"/>
                <a:ea typeface="Calibri"/>
                <a:cs typeface="Calibri"/>
                <a:sym typeface="Calibri"/>
              </a:rPr>
              <a:t>— </a:t>
            </a:r>
            <a:r>
              <a:rPr b="1" lang="en-US" sz="1200">
                <a:solidFill>
                  <a:srgbClr val="FFC427"/>
                </a:solidFill>
                <a:latin typeface="Calibri"/>
                <a:ea typeface="Calibri"/>
                <a:cs typeface="Calibri"/>
                <a:sym typeface="Calibri"/>
              </a:rPr>
              <a:t>THE BIGGER IDEA</a:t>
            </a:r>
            <a:endParaRPr>
              <a:solidFill>
                <a:srgbClr val="FFC427"/>
              </a:solidFill>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4" name="Shape 244"/>
        <p:cNvGrpSpPr/>
        <p:nvPr/>
      </p:nvGrpSpPr>
      <p:grpSpPr>
        <a:xfrm>
          <a:off x="0" y="0"/>
          <a:ext cx="0" cy="0"/>
          <a:chOff x="0" y="0"/>
          <a:chExt cx="0" cy="0"/>
        </a:xfrm>
      </p:grpSpPr>
      <p:sp>
        <p:nvSpPr>
          <p:cNvPr id="245" name="Google Shape;245;p28"/>
          <p:cNvSpPr txBox="1"/>
          <p:nvPr>
            <p:ph type="title"/>
          </p:nvPr>
        </p:nvSpPr>
        <p:spPr>
          <a:xfrm>
            <a:off x="548700" y="365125"/>
            <a:ext cx="10805100" cy="1325700"/>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rgbClr val="23325D"/>
              </a:buClr>
              <a:buSzPts val="3400"/>
              <a:buFont typeface="Calibri"/>
              <a:buNone/>
            </a:pPr>
            <a:r>
              <a:rPr lang="en-US" sz="3400">
                <a:solidFill>
                  <a:srgbClr val="23325D"/>
                </a:solidFill>
              </a:rPr>
              <a:t>Four attributes</a:t>
            </a:r>
            <a:endParaRPr/>
          </a:p>
        </p:txBody>
      </p:sp>
      <p:sp>
        <p:nvSpPr>
          <p:cNvPr id="246" name="Google Shape;246;p28"/>
          <p:cNvSpPr/>
          <p:nvPr/>
        </p:nvSpPr>
        <p:spPr>
          <a:xfrm>
            <a:off x="640080" y="1783080"/>
            <a:ext cx="5317236" cy="1417320"/>
          </a:xfrm>
          <a:prstGeom prst="roundRect">
            <a:avLst>
              <a:gd fmla="val 6000" name="adj"/>
            </a:avLst>
          </a:prstGeom>
          <a:solidFill>
            <a:srgbClr val="FBE4DF"/>
          </a:solidFill>
          <a:ln>
            <a:noFill/>
          </a:ln>
        </p:spPr>
        <p:txBody>
          <a:bodyPr anchorCtr="0" anchor="ctr" bIns="164575" lIns="228600" spcFirstLastPara="1" rIns="228600" wrap="square" tIns="164575">
            <a:noAutofit/>
          </a:bodyPr>
          <a:lstStyle/>
          <a:p>
            <a:pPr indent="0" lvl="0" marL="0" marR="0" rtl="0" algn="l">
              <a:spcBef>
                <a:spcPts val="0"/>
              </a:spcBef>
              <a:spcAft>
                <a:spcPts val="0"/>
              </a:spcAft>
              <a:buNone/>
            </a:pPr>
            <a:r>
              <a:rPr b="1" i="0" lang="en-US" sz="1400">
                <a:solidFill>
                  <a:srgbClr val="F26351"/>
                </a:solidFill>
                <a:latin typeface="Courier New"/>
                <a:ea typeface="Courier New"/>
                <a:cs typeface="Courier New"/>
                <a:sym typeface="Courier New"/>
              </a:rPr>
              <a:t>VERB</a:t>
            </a:r>
            <a:endParaRPr/>
          </a:p>
          <a:p>
            <a:pPr indent="0" lvl="0" marL="0" marR="0" rtl="0" algn="l">
              <a:lnSpc>
                <a:spcPct val="120000"/>
              </a:lnSpc>
              <a:spcBef>
                <a:spcPts val="0"/>
              </a:spcBef>
              <a:spcAft>
                <a:spcPts val="0"/>
              </a:spcAft>
              <a:buNone/>
            </a:pPr>
            <a:r>
              <a:rPr b="0" i="0" lang="en-US" sz="1350">
                <a:solidFill>
                  <a:srgbClr val="5B6378"/>
                </a:solidFill>
                <a:latin typeface="Calibri"/>
                <a:ea typeface="Calibri"/>
                <a:cs typeface="Calibri"/>
                <a:sym typeface="Calibri"/>
              </a:rPr>
              <a:t>hx-get / hx-post / hx-put / hx-delete</a:t>
            </a:r>
            <a:endParaRPr/>
          </a:p>
        </p:txBody>
      </p:sp>
      <p:sp>
        <p:nvSpPr>
          <p:cNvPr id="247" name="Google Shape;247;p28"/>
          <p:cNvSpPr/>
          <p:nvPr/>
        </p:nvSpPr>
        <p:spPr>
          <a:xfrm>
            <a:off x="6231636" y="1783080"/>
            <a:ext cx="5317236" cy="1417320"/>
          </a:xfrm>
          <a:prstGeom prst="roundRect">
            <a:avLst>
              <a:gd fmla="val 6000" name="adj"/>
            </a:avLst>
          </a:prstGeom>
          <a:solidFill>
            <a:srgbClr val="FBE4DF"/>
          </a:solidFill>
          <a:ln>
            <a:noFill/>
          </a:ln>
        </p:spPr>
        <p:txBody>
          <a:bodyPr anchorCtr="0" anchor="ctr" bIns="164575" lIns="228600" spcFirstLastPara="1" rIns="228600" wrap="square" tIns="164575">
            <a:noAutofit/>
          </a:bodyPr>
          <a:lstStyle/>
          <a:p>
            <a:pPr indent="0" lvl="0" marL="0" marR="0" rtl="0" algn="l">
              <a:spcBef>
                <a:spcPts val="0"/>
              </a:spcBef>
              <a:spcAft>
                <a:spcPts val="0"/>
              </a:spcAft>
              <a:buNone/>
            </a:pPr>
            <a:r>
              <a:rPr b="1" i="0" lang="en-US" sz="1400">
                <a:solidFill>
                  <a:srgbClr val="F26351"/>
                </a:solidFill>
                <a:latin typeface="Courier New"/>
                <a:ea typeface="Courier New"/>
                <a:cs typeface="Courier New"/>
                <a:sym typeface="Courier New"/>
              </a:rPr>
              <a:t>TRIGGER</a:t>
            </a:r>
            <a:endParaRPr/>
          </a:p>
          <a:p>
            <a:pPr indent="0" lvl="0" marL="0" marR="0" rtl="0" algn="l">
              <a:lnSpc>
                <a:spcPct val="120000"/>
              </a:lnSpc>
              <a:spcBef>
                <a:spcPts val="0"/>
              </a:spcBef>
              <a:spcAft>
                <a:spcPts val="0"/>
              </a:spcAft>
              <a:buNone/>
            </a:pPr>
            <a:r>
              <a:rPr b="0" i="0" lang="en-US" sz="1350">
                <a:solidFill>
                  <a:srgbClr val="5B6378"/>
                </a:solidFill>
                <a:latin typeface="Calibri"/>
                <a:ea typeface="Calibri"/>
                <a:cs typeface="Calibri"/>
                <a:sym typeface="Calibri"/>
              </a:rPr>
              <a:t>hx-trigger — any DOM event, not just click/submit</a:t>
            </a:r>
            <a:endParaRPr/>
          </a:p>
        </p:txBody>
      </p:sp>
      <p:sp>
        <p:nvSpPr>
          <p:cNvPr id="248" name="Google Shape;248;p28"/>
          <p:cNvSpPr/>
          <p:nvPr/>
        </p:nvSpPr>
        <p:spPr>
          <a:xfrm>
            <a:off x="640080" y="3474720"/>
            <a:ext cx="5317236" cy="1417320"/>
          </a:xfrm>
          <a:prstGeom prst="roundRect">
            <a:avLst>
              <a:gd fmla="val 6000" name="adj"/>
            </a:avLst>
          </a:prstGeom>
          <a:solidFill>
            <a:srgbClr val="FBE4DF"/>
          </a:solidFill>
          <a:ln>
            <a:noFill/>
          </a:ln>
        </p:spPr>
        <p:txBody>
          <a:bodyPr anchorCtr="0" anchor="ctr" bIns="164575" lIns="228600" spcFirstLastPara="1" rIns="228600" wrap="square" tIns="164575">
            <a:noAutofit/>
          </a:bodyPr>
          <a:lstStyle/>
          <a:p>
            <a:pPr indent="0" lvl="0" marL="0" marR="0" rtl="0" algn="l">
              <a:spcBef>
                <a:spcPts val="0"/>
              </a:spcBef>
              <a:spcAft>
                <a:spcPts val="0"/>
              </a:spcAft>
              <a:buNone/>
            </a:pPr>
            <a:r>
              <a:rPr b="1" i="0" lang="en-US" sz="1400">
                <a:solidFill>
                  <a:srgbClr val="F26351"/>
                </a:solidFill>
                <a:latin typeface="Courier New"/>
                <a:ea typeface="Courier New"/>
                <a:cs typeface="Courier New"/>
                <a:sym typeface="Courier New"/>
              </a:rPr>
              <a:t>TARGET</a:t>
            </a:r>
            <a:endParaRPr/>
          </a:p>
          <a:p>
            <a:pPr indent="0" lvl="0" marL="0" marR="0" rtl="0" algn="l">
              <a:lnSpc>
                <a:spcPct val="120000"/>
              </a:lnSpc>
              <a:spcBef>
                <a:spcPts val="0"/>
              </a:spcBef>
              <a:spcAft>
                <a:spcPts val="0"/>
              </a:spcAft>
              <a:buNone/>
            </a:pPr>
            <a:r>
              <a:rPr b="0" i="0" lang="en-US" sz="1350">
                <a:solidFill>
                  <a:srgbClr val="5B6378"/>
                </a:solidFill>
                <a:latin typeface="Calibri"/>
                <a:ea typeface="Calibri"/>
                <a:cs typeface="Calibri"/>
                <a:sym typeface="Calibri"/>
              </a:rPr>
              <a:t>hx-target — any element, not just the one that triggered this</a:t>
            </a:r>
            <a:endParaRPr/>
          </a:p>
        </p:txBody>
      </p:sp>
      <p:sp>
        <p:nvSpPr>
          <p:cNvPr id="249" name="Google Shape;249;p28"/>
          <p:cNvSpPr/>
          <p:nvPr/>
        </p:nvSpPr>
        <p:spPr>
          <a:xfrm>
            <a:off x="6231636" y="3474720"/>
            <a:ext cx="5317236" cy="1417320"/>
          </a:xfrm>
          <a:prstGeom prst="roundRect">
            <a:avLst>
              <a:gd fmla="val 6000" name="adj"/>
            </a:avLst>
          </a:prstGeom>
          <a:solidFill>
            <a:srgbClr val="FBE4DF"/>
          </a:solidFill>
          <a:ln>
            <a:noFill/>
          </a:ln>
        </p:spPr>
        <p:txBody>
          <a:bodyPr anchorCtr="0" anchor="ctr" bIns="164575" lIns="228600" spcFirstLastPara="1" rIns="228600" wrap="square" tIns="164575">
            <a:noAutofit/>
          </a:bodyPr>
          <a:lstStyle/>
          <a:p>
            <a:pPr indent="0" lvl="0" marL="0" marR="0" rtl="0" algn="l">
              <a:spcBef>
                <a:spcPts val="0"/>
              </a:spcBef>
              <a:spcAft>
                <a:spcPts val="0"/>
              </a:spcAft>
              <a:buNone/>
            </a:pPr>
            <a:r>
              <a:rPr b="1" i="0" lang="en-US" sz="1400">
                <a:solidFill>
                  <a:srgbClr val="F26351"/>
                </a:solidFill>
                <a:latin typeface="Courier New"/>
                <a:ea typeface="Courier New"/>
                <a:cs typeface="Courier New"/>
                <a:sym typeface="Courier New"/>
              </a:rPr>
              <a:t>SWAP</a:t>
            </a:r>
            <a:endParaRPr/>
          </a:p>
          <a:p>
            <a:pPr indent="0" lvl="0" marL="0" marR="0" rtl="0" algn="l">
              <a:lnSpc>
                <a:spcPct val="120000"/>
              </a:lnSpc>
              <a:spcBef>
                <a:spcPts val="0"/>
              </a:spcBef>
              <a:spcAft>
                <a:spcPts val="0"/>
              </a:spcAft>
              <a:buNone/>
            </a:pPr>
            <a:r>
              <a:rPr b="0" i="0" lang="en-US" sz="1350">
                <a:solidFill>
                  <a:srgbClr val="5B6378"/>
                </a:solidFill>
                <a:latin typeface="Calibri"/>
                <a:ea typeface="Calibri"/>
                <a:cs typeface="Calibri"/>
                <a:sym typeface="Calibri"/>
              </a:rPr>
              <a:t>hx-swap — innerHTML, outerHTML, beforeend, afterbegin, and more</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4" name="Shape 254"/>
        <p:cNvGrpSpPr/>
        <p:nvPr/>
      </p:nvGrpSpPr>
      <p:grpSpPr>
        <a:xfrm>
          <a:off x="0" y="0"/>
          <a:ext cx="0" cy="0"/>
          <a:chOff x="0" y="0"/>
          <a:chExt cx="0" cy="0"/>
        </a:xfrm>
      </p:grpSpPr>
      <p:sp>
        <p:nvSpPr>
          <p:cNvPr id="255" name="Google Shape;255;p29"/>
          <p:cNvSpPr txBox="1"/>
          <p:nvPr>
            <p:ph type="title"/>
          </p:nvPr>
        </p:nvSpPr>
        <p:spPr>
          <a:xfrm>
            <a:off x="553720" y="2163440"/>
            <a:ext cx="10760700" cy="1231800"/>
          </a:xfrm>
          <a:prstGeom prst="rect">
            <a:avLst/>
          </a:prstGeom>
          <a:noFill/>
          <a:ln>
            <a:noFill/>
          </a:ln>
        </p:spPr>
        <p:txBody>
          <a:bodyPr anchorCtr="0" anchor="t" bIns="45700" lIns="91425" spcFirstLastPara="1" rIns="91425" wrap="square" tIns="45700">
            <a:normAutofit/>
          </a:bodyPr>
          <a:lstStyle/>
          <a:p>
            <a:pPr indent="0" lvl="0" marL="0" rtl="0" algn="l">
              <a:lnSpc>
                <a:spcPct val="90000"/>
              </a:lnSpc>
              <a:spcBef>
                <a:spcPts val="0"/>
              </a:spcBef>
              <a:spcAft>
                <a:spcPts val="0"/>
              </a:spcAft>
              <a:buClr>
                <a:srgbClr val="FFFFFF"/>
              </a:buClr>
              <a:buSzPts val="3200"/>
              <a:buFont typeface="Calibri"/>
              <a:buNone/>
            </a:pPr>
            <a:r>
              <a:rPr b="1" i="0" lang="en-US" sz="3200">
                <a:solidFill>
                  <a:srgbClr val="FFFFFF"/>
                </a:solidFill>
                <a:latin typeface="Calibri"/>
                <a:ea typeface="Calibri"/>
                <a:cs typeface="Calibri"/>
                <a:sym typeface="Calibri"/>
              </a:rPr>
              <a:t>HTMX gives Drupal back a vocabulary </a:t>
            </a:r>
            <a:endParaRPr b="1" i="0" sz="3200">
              <a:solidFill>
                <a:srgbClr val="FFFFFF"/>
              </a:solidFill>
              <a:latin typeface="Calibri"/>
              <a:ea typeface="Calibri"/>
              <a:cs typeface="Calibri"/>
              <a:sym typeface="Calibri"/>
            </a:endParaRPr>
          </a:p>
          <a:p>
            <a:pPr indent="0" lvl="0" marL="0" rtl="0" algn="l">
              <a:lnSpc>
                <a:spcPct val="90000"/>
              </a:lnSpc>
              <a:spcBef>
                <a:spcPts val="0"/>
              </a:spcBef>
              <a:spcAft>
                <a:spcPts val="0"/>
              </a:spcAft>
              <a:buClr>
                <a:srgbClr val="FFFFFF"/>
              </a:buClr>
              <a:buSzPts val="3200"/>
              <a:buFont typeface="Calibri"/>
              <a:buNone/>
            </a:pPr>
            <a:r>
              <a:rPr b="1" i="0" lang="en-US" sz="3200">
                <a:solidFill>
                  <a:srgbClr val="FFFFFF"/>
                </a:solidFill>
                <a:latin typeface="Calibri"/>
                <a:ea typeface="Calibri"/>
                <a:cs typeface="Calibri"/>
                <a:sym typeface="Calibri"/>
              </a:rPr>
              <a:t>it never lost: </a:t>
            </a:r>
            <a:r>
              <a:rPr lang="en-US" sz="3200">
                <a:solidFill>
                  <a:srgbClr val="FFC428"/>
                </a:solidFill>
              </a:rPr>
              <a:t>H</a:t>
            </a:r>
            <a:r>
              <a:rPr b="1" i="0" lang="en-US" sz="3200">
                <a:solidFill>
                  <a:srgbClr val="FFC428"/>
                </a:solidFill>
                <a:latin typeface="Calibri"/>
                <a:ea typeface="Calibri"/>
                <a:cs typeface="Calibri"/>
                <a:sym typeface="Calibri"/>
              </a:rPr>
              <a:t>ypermedia</a:t>
            </a:r>
            <a:r>
              <a:rPr b="1" i="0" lang="en-US" sz="3200">
                <a:solidFill>
                  <a:srgbClr val="FFFFFF"/>
                </a:solidFill>
                <a:latin typeface="Calibri"/>
                <a:ea typeface="Calibri"/>
                <a:cs typeface="Calibri"/>
                <a:sym typeface="Calibri"/>
              </a:rPr>
              <a:t>.</a:t>
            </a:r>
            <a:endParaRPr/>
          </a:p>
        </p:txBody>
      </p:sp>
      <p:sp>
        <p:nvSpPr>
          <p:cNvPr id="256" name="Google Shape;256;p29"/>
          <p:cNvSpPr txBox="1"/>
          <p:nvPr>
            <p:ph idx="1" type="body"/>
          </p:nvPr>
        </p:nvSpPr>
        <p:spPr>
          <a:xfrm>
            <a:off x="553725" y="3322950"/>
            <a:ext cx="10800000" cy="1371600"/>
          </a:xfrm>
          <a:prstGeom prst="rect">
            <a:avLst/>
          </a:prstGeom>
          <a:noFill/>
          <a:ln>
            <a:noFill/>
          </a:ln>
        </p:spPr>
        <p:txBody>
          <a:bodyPr anchorCtr="0" anchor="t" bIns="45700" lIns="91425" spcFirstLastPara="1" rIns="91425" wrap="square" tIns="45700">
            <a:normAutofit/>
          </a:bodyPr>
          <a:lstStyle/>
          <a:p>
            <a:pPr indent="0" lvl="0" marL="0" rtl="0" algn="l">
              <a:lnSpc>
                <a:spcPct val="125000"/>
              </a:lnSpc>
              <a:spcBef>
                <a:spcPts val="0"/>
              </a:spcBef>
              <a:spcAft>
                <a:spcPts val="0"/>
              </a:spcAft>
              <a:buClr>
                <a:srgbClr val="FFC427"/>
              </a:buClr>
              <a:buSzPts val="1800"/>
              <a:buNone/>
            </a:pPr>
            <a:r>
              <a:rPr b="0" i="0" lang="en-US" sz="1800">
                <a:solidFill>
                  <a:srgbClr val="FFC427"/>
                </a:solidFill>
                <a:latin typeface="Calibri"/>
                <a:ea typeface="Calibri"/>
                <a:cs typeface="Calibri"/>
                <a:sym typeface="Calibri"/>
              </a:rPr>
              <a:t>Next: mapping that onto Drupal's own architecture</a:t>
            </a:r>
            <a:r>
              <a:rPr lang="en-US" sz="1800">
                <a:solidFill>
                  <a:srgbClr val="FFC427"/>
                </a:solidFill>
              </a:rPr>
              <a:t>:</a:t>
            </a:r>
            <a:r>
              <a:rPr b="0" i="0" lang="en-US" sz="1800">
                <a:solidFill>
                  <a:srgbClr val="FFC427"/>
                </a:solidFill>
                <a:latin typeface="Calibri"/>
                <a:ea typeface="Calibri"/>
                <a:cs typeface="Calibri"/>
                <a:sym typeface="Calibri"/>
              </a:rPr>
              <a:t> render arrays, routing, caching.</a:t>
            </a:r>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1" name="Shape 261"/>
        <p:cNvGrpSpPr/>
        <p:nvPr/>
      </p:nvGrpSpPr>
      <p:grpSpPr>
        <a:xfrm>
          <a:off x="0" y="0"/>
          <a:ext cx="0" cy="0"/>
          <a:chOff x="0" y="0"/>
          <a:chExt cx="0" cy="0"/>
        </a:xfrm>
      </p:grpSpPr>
      <p:sp>
        <p:nvSpPr>
          <p:cNvPr id="262" name="Google Shape;262;p30"/>
          <p:cNvSpPr txBox="1"/>
          <p:nvPr/>
        </p:nvSpPr>
        <p:spPr>
          <a:xfrm>
            <a:off x="7589520" y="4297680"/>
            <a:ext cx="3931920" cy="2103120"/>
          </a:xfrm>
          <a:prstGeom prst="rect">
            <a:avLst/>
          </a:prstGeom>
          <a:noFill/>
          <a:ln>
            <a:noFill/>
          </a:ln>
        </p:spPr>
        <p:txBody>
          <a:bodyPr anchorCtr="0" anchor="ctr" bIns="0" lIns="0" spcFirstLastPara="1" rIns="0" wrap="square" tIns="0">
            <a:spAutoFit/>
          </a:bodyPr>
          <a:lstStyle/>
          <a:p>
            <a:pPr indent="0" lvl="0" marL="0" marR="0" rtl="0" algn="r">
              <a:spcBef>
                <a:spcPts val="0"/>
              </a:spcBef>
              <a:spcAft>
                <a:spcPts val="0"/>
              </a:spcAft>
              <a:buNone/>
            </a:pPr>
            <a:r>
              <a:rPr b="1" i="0" lang="en-US" sz="17000">
                <a:solidFill>
                  <a:srgbClr val="FBDAD3"/>
                </a:solidFill>
                <a:latin typeface="Courier New"/>
                <a:ea typeface="Courier New"/>
                <a:cs typeface="Courier New"/>
                <a:sym typeface="Courier New"/>
              </a:rPr>
              <a:t>04</a:t>
            </a:r>
            <a:endParaRPr/>
          </a:p>
        </p:txBody>
      </p:sp>
      <p:sp>
        <p:nvSpPr>
          <p:cNvPr id="263" name="Google Shape;263;p30"/>
          <p:cNvSpPr txBox="1"/>
          <p:nvPr>
            <p:ph type="title"/>
          </p:nvPr>
        </p:nvSpPr>
        <p:spPr>
          <a:xfrm>
            <a:off x="799925" y="1847575"/>
            <a:ext cx="10922700" cy="1086000"/>
          </a:xfrm>
          <a:prstGeom prst="rect">
            <a:avLst/>
          </a:prstGeom>
          <a:noFill/>
          <a:ln>
            <a:noFill/>
          </a:ln>
        </p:spPr>
        <p:txBody>
          <a:bodyPr anchorCtr="0" anchor="t" bIns="45700" lIns="91425" spcFirstLastPara="1" rIns="91425" wrap="square" tIns="45700">
            <a:normAutofit/>
          </a:bodyPr>
          <a:lstStyle/>
          <a:p>
            <a:pPr indent="0" lvl="0" marL="0" rtl="0" algn="l">
              <a:spcBef>
                <a:spcPts val="0"/>
              </a:spcBef>
              <a:spcAft>
                <a:spcPts val="0"/>
              </a:spcAft>
              <a:buClr>
                <a:srgbClr val="23325D"/>
              </a:buClr>
              <a:buSzPts val="3600"/>
              <a:buFont typeface="Calibri"/>
              <a:buNone/>
            </a:pPr>
            <a:r>
              <a:rPr lang="en-US" sz="3600"/>
              <a:t>Mapping HTMX onto Drupal's Architecture</a:t>
            </a:r>
            <a:endParaRPr/>
          </a:p>
          <a:p>
            <a:pPr indent="0" lvl="0" marL="0" rtl="0" algn="l">
              <a:lnSpc>
                <a:spcPct val="90000"/>
              </a:lnSpc>
              <a:spcBef>
                <a:spcPts val="0"/>
              </a:spcBef>
              <a:spcAft>
                <a:spcPts val="0"/>
              </a:spcAft>
              <a:buClr>
                <a:srgbClr val="23325D"/>
              </a:buClr>
              <a:buSzPts val="3600"/>
              <a:buFont typeface="Calibri"/>
              <a:buNone/>
            </a:pPr>
            <a:r>
              <a:t/>
            </a:r>
            <a:endParaRPr sz="3600"/>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8" name="Shape 268"/>
        <p:cNvGrpSpPr/>
        <p:nvPr/>
      </p:nvGrpSpPr>
      <p:grpSpPr>
        <a:xfrm>
          <a:off x="0" y="0"/>
          <a:ext cx="0" cy="0"/>
          <a:chOff x="0" y="0"/>
          <a:chExt cx="0" cy="0"/>
        </a:xfrm>
      </p:grpSpPr>
      <p:sp>
        <p:nvSpPr>
          <p:cNvPr id="269" name="Google Shape;269;p31"/>
          <p:cNvSpPr txBox="1"/>
          <p:nvPr>
            <p:ph type="title"/>
          </p:nvPr>
        </p:nvSpPr>
        <p:spPr>
          <a:xfrm>
            <a:off x="322580" y="2272665"/>
            <a:ext cx="11376660" cy="948055"/>
          </a:xfrm>
          <a:prstGeom prst="rect">
            <a:avLst/>
          </a:prstGeom>
          <a:noFill/>
          <a:ln>
            <a:noFill/>
          </a:ln>
        </p:spPr>
        <p:txBody>
          <a:bodyPr anchorCtr="0" anchor="ctr" bIns="45700" lIns="91425" spcFirstLastPara="1" rIns="91425" wrap="square" tIns="45700">
            <a:normAutofit/>
          </a:bodyPr>
          <a:lstStyle/>
          <a:p>
            <a:pPr indent="0" lvl="0" marL="0" rtl="0" algn="ctr">
              <a:lnSpc>
                <a:spcPct val="90000"/>
              </a:lnSpc>
              <a:spcBef>
                <a:spcPts val="0"/>
              </a:spcBef>
              <a:spcAft>
                <a:spcPts val="0"/>
              </a:spcAft>
              <a:buClr>
                <a:schemeClr val="lt1"/>
              </a:buClr>
              <a:buSzPts val="4400"/>
              <a:buFont typeface="Calibri"/>
              <a:buNone/>
            </a:pPr>
            <a:r>
              <a:t/>
            </a:r>
            <a:endParaRPr b="1">
              <a:solidFill>
                <a:schemeClr val="lt1"/>
              </a:solidFill>
            </a:endParaRPr>
          </a:p>
        </p:txBody>
      </p:sp>
      <p:sp>
        <p:nvSpPr>
          <p:cNvPr id="270" name="Google Shape;270;p31"/>
          <p:cNvSpPr txBox="1"/>
          <p:nvPr/>
        </p:nvSpPr>
        <p:spPr>
          <a:xfrm>
            <a:off x="640080" y="320040"/>
            <a:ext cx="7315200" cy="1848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1200">
                <a:solidFill>
                  <a:srgbClr val="F26351"/>
                </a:solidFill>
                <a:latin typeface="Calibri"/>
                <a:ea typeface="Calibri"/>
                <a:cs typeface="Calibri"/>
                <a:sym typeface="Calibri"/>
              </a:rPr>
              <a:t>— </a:t>
            </a:r>
            <a:r>
              <a:rPr b="1" i="0" lang="en-US" sz="1200">
                <a:solidFill>
                  <a:srgbClr val="F26351"/>
                </a:solidFill>
                <a:latin typeface="Calibri"/>
                <a:ea typeface="Calibri"/>
                <a:cs typeface="Calibri"/>
                <a:sym typeface="Calibri"/>
              </a:rPr>
              <a:t>THE QUESTION</a:t>
            </a:r>
            <a:endParaRPr/>
          </a:p>
        </p:txBody>
      </p:sp>
      <p:sp>
        <p:nvSpPr>
          <p:cNvPr id="271" name="Google Shape;271;p31"/>
          <p:cNvSpPr txBox="1"/>
          <p:nvPr/>
        </p:nvSpPr>
        <p:spPr>
          <a:xfrm>
            <a:off x="914400" y="2958740"/>
            <a:ext cx="10332600" cy="940500"/>
          </a:xfrm>
          <a:prstGeom prst="rect">
            <a:avLst/>
          </a:prstGeom>
          <a:noFill/>
          <a:ln>
            <a:noFill/>
          </a:ln>
        </p:spPr>
        <p:txBody>
          <a:bodyPr anchorCtr="0" anchor="ctr" bIns="0" lIns="0" spcFirstLastPara="1" rIns="0" wrap="square" tIns="0">
            <a:spAutoFit/>
          </a:bodyPr>
          <a:lstStyle/>
          <a:p>
            <a:pPr indent="0" lvl="0" marL="0" marR="0" rtl="0" algn="l">
              <a:lnSpc>
                <a:spcPct val="135000"/>
              </a:lnSpc>
              <a:spcBef>
                <a:spcPts val="0"/>
              </a:spcBef>
              <a:spcAft>
                <a:spcPts val="0"/>
              </a:spcAft>
              <a:buNone/>
            </a:pPr>
            <a:r>
              <a:rPr b="0" i="1" lang="en-US" sz="2600">
                <a:solidFill>
                  <a:srgbClr val="23325D"/>
                </a:solidFill>
                <a:latin typeface="Calibri"/>
                <a:ea typeface="Calibri"/>
                <a:cs typeface="Calibri"/>
                <a:sym typeface="Calibri"/>
              </a:rPr>
              <a:t>HTMX doesn't need anything special from Drupal. It needs three things Drupal already has </a:t>
            </a:r>
            <a:r>
              <a:rPr b="1" i="1" lang="en-US" sz="2600">
                <a:solidFill>
                  <a:srgbClr val="23325D"/>
                </a:solidFill>
                <a:latin typeface="Calibri"/>
                <a:ea typeface="Calibri"/>
                <a:cs typeface="Calibri"/>
                <a:sym typeface="Calibri"/>
              </a:rPr>
              <a:t>and has had for over a decade.</a:t>
            </a:r>
            <a:endParaRPr b="1"/>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6" name="Shape 276"/>
        <p:cNvGrpSpPr/>
        <p:nvPr/>
      </p:nvGrpSpPr>
      <p:grpSpPr>
        <a:xfrm>
          <a:off x="0" y="0"/>
          <a:ext cx="0" cy="0"/>
          <a:chOff x="0" y="0"/>
          <a:chExt cx="0" cy="0"/>
        </a:xfrm>
      </p:grpSpPr>
      <p:sp>
        <p:nvSpPr>
          <p:cNvPr id="277" name="Google Shape;277;p32"/>
          <p:cNvSpPr txBox="1"/>
          <p:nvPr>
            <p:ph type="title"/>
          </p:nvPr>
        </p:nvSpPr>
        <p:spPr>
          <a:xfrm>
            <a:off x="525150" y="428675"/>
            <a:ext cx="10773600" cy="627900"/>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rgbClr val="23325D"/>
              </a:buClr>
              <a:buSzPts val="3400"/>
              <a:buFont typeface="Calibri"/>
              <a:buNone/>
            </a:pPr>
            <a:r>
              <a:rPr lang="en-US" sz="3400">
                <a:solidFill>
                  <a:srgbClr val="23325D"/>
                </a:solidFill>
              </a:rPr>
              <a:t>A normal Drupal route</a:t>
            </a:r>
            <a:endParaRPr/>
          </a:p>
        </p:txBody>
      </p:sp>
      <p:sp>
        <p:nvSpPr>
          <p:cNvPr id="278" name="Google Shape;278;p32"/>
          <p:cNvSpPr txBox="1"/>
          <p:nvPr/>
        </p:nvSpPr>
        <p:spPr>
          <a:xfrm>
            <a:off x="640080" y="320040"/>
            <a:ext cx="7315200" cy="1848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1200">
                <a:solidFill>
                  <a:srgbClr val="F26351"/>
                </a:solidFill>
                <a:latin typeface="Calibri"/>
                <a:ea typeface="Calibri"/>
                <a:cs typeface="Calibri"/>
                <a:sym typeface="Calibri"/>
              </a:rPr>
              <a:t>— </a:t>
            </a:r>
            <a:r>
              <a:rPr b="1" i="0" lang="en-US" sz="1200">
                <a:solidFill>
                  <a:srgbClr val="F26351"/>
                </a:solidFill>
                <a:latin typeface="Calibri"/>
                <a:ea typeface="Calibri"/>
                <a:cs typeface="Calibri"/>
                <a:sym typeface="Calibri"/>
              </a:rPr>
              <a:t>ROUTING</a:t>
            </a:r>
            <a:endParaRPr/>
          </a:p>
        </p:txBody>
      </p:sp>
      <p:sp>
        <p:nvSpPr>
          <p:cNvPr id="279" name="Google Shape;279;p32"/>
          <p:cNvSpPr/>
          <p:nvPr/>
        </p:nvSpPr>
        <p:spPr>
          <a:xfrm>
            <a:off x="640080" y="2207890"/>
            <a:ext cx="10908900" cy="1756500"/>
          </a:xfrm>
          <a:prstGeom prst="roundRect">
            <a:avLst>
              <a:gd fmla="val 4000" name="adj"/>
            </a:avLst>
          </a:prstGeom>
          <a:solidFill>
            <a:srgbClr val="23325D"/>
          </a:solidFill>
          <a:ln>
            <a:noFill/>
          </a:ln>
        </p:spPr>
        <p:txBody>
          <a:bodyPr anchorCtr="0" anchor="ctr" bIns="228600" lIns="320025" spcFirstLastPara="1" rIns="274300" wrap="square" tIns="228600">
            <a:noAutofit/>
          </a:bodyPr>
          <a:lstStyle/>
          <a:p>
            <a:pPr indent="0" lvl="0" marL="0" marR="0" rtl="0" algn="l">
              <a:lnSpc>
                <a:spcPct val="122000"/>
              </a:lnSpc>
              <a:spcBef>
                <a:spcPts val="0"/>
              </a:spcBef>
              <a:spcAft>
                <a:spcPts val="0"/>
              </a:spcAft>
              <a:buNone/>
            </a:pPr>
            <a:r>
              <a:rPr b="0" i="0" lang="en-US" sz="1250">
                <a:solidFill>
                  <a:srgbClr val="D8E4F5"/>
                </a:solidFill>
                <a:latin typeface="Courier New"/>
                <a:ea typeface="Courier New"/>
                <a:cs typeface="Courier New"/>
                <a:sym typeface="Courier New"/>
              </a:rPr>
              <a:t>my_module.filter_results:</a:t>
            </a:r>
            <a:endParaRPr/>
          </a:p>
          <a:p>
            <a:pPr indent="0" lvl="0" marL="0" marR="0" rtl="0" algn="l">
              <a:lnSpc>
                <a:spcPct val="122000"/>
              </a:lnSpc>
              <a:spcBef>
                <a:spcPts val="0"/>
              </a:spcBef>
              <a:spcAft>
                <a:spcPts val="0"/>
              </a:spcAft>
              <a:buNone/>
            </a:pPr>
            <a:r>
              <a:rPr b="0" i="0" lang="en-US" sz="1250">
                <a:solidFill>
                  <a:srgbClr val="D8E4F5"/>
                </a:solidFill>
                <a:latin typeface="Courier New"/>
                <a:ea typeface="Courier New"/>
                <a:cs typeface="Courier New"/>
                <a:sym typeface="Courier New"/>
              </a:rPr>
              <a:t>  path: </a:t>
            </a:r>
            <a:r>
              <a:rPr b="1" i="0" lang="en-US" sz="1250">
                <a:solidFill>
                  <a:srgbClr val="F26351"/>
                </a:solidFill>
                <a:latin typeface="Courier New"/>
                <a:ea typeface="Courier New"/>
                <a:cs typeface="Courier New"/>
                <a:sym typeface="Courier New"/>
              </a:rPr>
              <a:t>'/filter-results'</a:t>
            </a:r>
            <a:endParaRPr/>
          </a:p>
          <a:p>
            <a:pPr indent="0" lvl="0" marL="0" marR="0" rtl="0" algn="l">
              <a:lnSpc>
                <a:spcPct val="122000"/>
              </a:lnSpc>
              <a:spcBef>
                <a:spcPts val="0"/>
              </a:spcBef>
              <a:spcAft>
                <a:spcPts val="0"/>
              </a:spcAft>
              <a:buNone/>
            </a:pPr>
            <a:r>
              <a:rPr b="0" i="0" lang="en-US" sz="1250">
                <a:solidFill>
                  <a:srgbClr val="D8E4F5"/>
                </a:solidFill>
                <a:latin typeface="Courier New"/>
                <a:ea typeface="Courier New"/>
                <a:cs typeface="Courier New"/>
                <a:sym typeface="Courier New"/>
              </a:rPr>
              <a:t>  defaults:</a:t>
            </a:r>
            <a:endParaRPr/>
          </a:p>
          <a:p>
            <a:pPr indent="0" lvl="0" marL="0" marR="0" rtl="0" algn="l">
              <a:lnSpc>
                <a:spcPct val="122000"/>
              </a:lnSpc>
              <a:spcBef>
                <a:spcPts val="0"/>
              </a:spcBef>
              <a:spcAft>
                <a:spcPts val="0"/>
              </a:spcAft>
              <a:buNone/>
            </a:pPr>
            <a:r>
              <a:rPr b="0" i="0" lang="en-US" sz="1250">
                <a:solidFill>
                  <a:srgbClr val="D8E4F5"/>
                </a:solidFill>
                <a:latin typeface="Courier New"/>
                <a:ea typeface="Courier New"/>
                <a:cs typeface="Courier New"/>
                <a:sym typeface="Courier New"/>
              </a:rPr>
              <a:t>    _controller: '\Drupal\my_module\Controller\FilterController::results'</a:t>
            </a:r>
            <a:endParaRPr/>
          </a:p>
          <a:p>
            <a:pPr indent="0" lvl="0" marL="0" marR="0" rtl="0" algn="l">
              <a:lnSpc>
                <a:spcPct val="122000"/>
              </a:lnSpc>
              <a:spcBef>
                <a:spcPts val="0"/>
              </a:spcBef>
              <a:spcAft>
                <a:spcPts val="0"/>
              </a:spcAft>
              <a:buNone/>
            </a:pPr>
            <a:r>
              <a:rPr b="0" i="0" lang="en-US" sz="1250">
                <a:solidFill>
                  <a:srgbClr val="D8E4F5"/>
                </a:solidFill>
                <a:latin typeface="Courier New"/>
                <a:ea typeface="Courier New"/>
                <a:cs typeface="Courier New"/>
                <a:sym typeface="Courier New"/>
              </a:rPr>
              <a:t>  requirements:</a:t>
            </a:r>
            <a:endParaRPr/>
          </a:p>
          <a:p>
            <a:pPr indent="0" lvl="0" marL="0" marR="0" rtl="0" algn="l">
              <a:lnSpc>
                <a:spcPct val="122000"/>
              </a:lnSpc>
              <a:spcBef>
                <a:spcPts val="0"/>
              </a:spcBef>
              <a:spcAft>
                <a:spcPts val="0"/>
              </a:spcAft>
              <a:buNone/>
            </a:pPr>
            <a:r>
              <a:rPr b="0" i="0" lang="en-US" sz="1250">
                <a:solidFill>
                  <a:srgbClr val="D8E4F5"/>
                </a:solidFill>
                <a:latin typeface="Courier New"/>
                <a:ea typeface="Courier New"/>
                <a:cs typeface="Courier New"/>
                <a:sym typeface="Courier New"/>
              </a:rPr>
              <a:t>    _access: 'TRUE'</a:t>
            </a:r>
            <a:endParaRPr/>
          </a:p>
        </p:txBody>
      </p:sp>
      <p:sp>
        <p:nvSpPr>
          <p:cNvPr id="280" name="Google Shape;280;p32"/>
          <p:cNvSpPr txBox="1"/>
          <p:nvPr/>
        </p:nvSpPr>
        <p:spPr>
          <a:xfrm>
            <a:off x="640080" y="4101459"/>
            <a:ext cx="10908900" cy="215400"/>
          </a:xfrm>
          <a:prstGeom prst="rect">
            <a:avLst/>
          </a:prstGeom>
          <a:noFill/>
          <a:ln>
            <a:noFill/>
          </a:ln>
        </p:spPr>
        <p:txBody>
          <a:bodyPr anchorCtr="0" anchor="t" bIns="0" lIns="0" spcFirstLastPara="1" rIns="0" wrap="square" tIns="0">
            <a:spAutoFit/>
          </a:bodyPr>
          <a:lstStyle/>
          <a:p>
            <a:pPr indent="0" lvl="0" marL="0" marR="0" rtl="0" algn="l">
              <a:lnSpc>
                <a:spcPct val="115000"/>
              </a:lnSpc>
              <a:spcBef>
                <a:spcPts val="0"/>
              </a:spcBef>
              <a:spcAft>
                <a:spcPts val="0"/>
              </a:spcAft>
              <a:buNone/>
            </a:pPr>
            <a:r>
              <a:rPr b="0" i="0" lang="en-US" sz="1400">
                <a:solidFill>
                  <a:srgbClr val="5B6378"/>
                </a:solidFill>
                <a:latin typeface="Calibri"/>
                <a:ea typeface="Calibri"/>
                <a:cs typeface="Calibri"/>
                <a:sym typeface="Calibri"/>
              </a:rPr>
              <a:t>hx-get="/filter-results" isn't a special Ajax callback. It's a normal Drupal route — no #ajax property, no form-building context required.</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5" name="Shape 285"/>
        <p:cNvGrpSpPr/>
        <p:nvPr/>
      </p:nvGrpSpPr>
      <p:grpSpPr>
        <a:xfrm>
          <a:off x="0" y="0"/>
          <a:ext cx="0" cy="0"/>
          <a:chOff x="0" y="0"/>
          <a:chExt cx="0" cy="0"/>
        </a:xfrm>
      </p:grpSpPr>
      <p:sp>
        <p:nvSpPr>
          <p:cNvPr id="286" name="Google Shape;286;p33"/>
          <p:cNvSpPr txBox="1"/>
          <p:nvPr/>
        </p:nvSpPr>
        <p:spPr>
          <a:xfrm>
            <a:off x="640080" y="320040"/>
            <a:ext cx="7315200" cy="32004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200">
                <a:solidFill>
                  <a:srgbClr val="F26351"/>
                </a:solidFill>
                <a:latin typeface="Calibri"/>
                <a:ea typeface="Calibri"/>
                <a:cs typeface="Calibri"/>
                <a:sym typeface="Calibri"/>
              </a:rPr>
              <a:t>RENDER ARRAYS</a:t>
            </a:r>
            <a:endParaRPr/>
          </a:p>
        </p:txBody>
      </p:sp>
      <p:sp>
        <p:nvSpPr>
          <p:cNvPr id="287" name="Google Shape;287;p33"/>
          <p:cNvSpPr/>
          <p:nvPr/>
        </p:nvSpPr>
        <p:spPr>
          <a:xfrm>
            <a:off x="640080" y="1723703"/>
            <a:ext cx="10908900" cy="2724900"/>
          </a:xfrm>
          <a:prstGeom prst="roundRect">
            <a:avLst>
              <a:gd fmla="val 4000" name="adj"/>
            </a:avLst>
          </a:prstGeom>
          <a:solidFill>
            <a:srgbClr val="23325D"/>
          </a:solidFill>
          <a:ln>
            <a:noFill/>
          </a:ln>
        </p:spPr>
        <p:txBody>
          <a:bodyPr anchorCtr="0" anchor="ctr" bIns="228600" lIns="320025" spcFirstLastPara="1" rIns="274300" wrap="square" tIns="228600">
            <a:noAutofit/>
          </a:bodyPr>
          <a:lstStyle/>
          <a:p>
            <a:pPr indent="0" lvl="0" marL="0" marR="0" rtl="0" algn="l">
              <a:lnSpc>
                <a:spcPct val="122000"/>
              </a:lnSpc>
              <a:spcBef>
                <a:spcPts val="0"/>
              </a:spcBef>
              <a:spcAft>
                <a:spcPts val="0"/>
              </a:spcAft>
              <a:buNone/>
            </a:pPr>
            <a:r>
              <a:rPr b="0" i="0" lang="en-US" sz="1250">
                <a:solidFill>
                  <a:srgbClr val="D8E4F5"/>
                </a:solidFill>
                <a:latin typeface="Courier New"/>
                <a:ea typeface="Courier New"/>
                <a:cs typeface="Courier New"/>
                <a:sym typeface="Courier New"/>
              </a:rPr>
              <a:t>public function results(Request $request) {</a:t>
            </a:r>
            <a:endParaRPr/>
          </a:p>
          <a:p>
            <a:pPr indent="0" lvl="0" marL="0" marR="0" rtl="0" algn="l">
              <a:lnSpc>
                <a:spcPct val="122000"/>
              </a:lnSpc>
              <a:spcBef>
                <a:spcPts val="0"/>
              </a:spcBef>
              <a:spcAft>
                <a:spcPts val="0"/>
              </a:spcAft>
              <a:buNone/>
            </a:pPr>
            <a:r>
              <a:rPr b="0" i="0" lang="en-US" sz="1250">
                <a:solidFill>
                  <a:srgbClr val="D8E4F5"/>
                </a:solidFill>
                <a:latin typeface="Courier New"/>
                <a:ea typeface="Courier New"/>
                <a:cs typeface="Courier New"/>
                <a:sym typeface="Courier New"/>
              </a:rPr>
              <a:t>  $filter = $request-&gt;query-&gt;get('filter');</a:t>
            </a:r>
            <a:endParaRPr/>
          </a:p>
          <a:p>
            <a:pPr indent="0" lvl="0" marL="0" marR="0" rtl="0" algn="l">
              <a:lnSpc>
                <a:spcPct val="122000"/>
              </a:lnSpc>
              <a:spcBef>
                <a:spcPts val="0"/>
              </a:spcBef>
              <a:spcAft>
                <a:spcPts val="0"/>
              </a:spcAft>
              <a:buNone/>
            </a:pPr>
            <a:r>
              <a:rPr b="0" i="0" lang="en-US" sz="1250">
                <a:solidFill>
                  <a:srgbClr val="D8E4F5"/>
                </a:solidFill>
                <a:latin typeface="Courier New"/>
                <a:ea typeface="Courier New"/>
                <a:cs typeface="Courier New"/>
                <a:sym typeface="Courier New"/>
              </a:rPr>
              <a:t>  return [</a:t>
            </a:r>
            <a:endParaRPr/>
          </a:p>
          <a:p>
            <a:pPr indent="0" lvl="0" marL="0" marR="0" rtl="0" algn="l">
              <a:lnSpc>
                <a:spcPct val="122000"/>
              </a:lnSpc>
              <a:spcBef>
                <a:spcPts val="0"/>
              </a:spcBef>
              <a:spcAft>
                <a:spcPts val="0"/>
              </a:spcAft>
              <a:buNone/>
            </a:pPr>
            <a:r>
              <a:rPr b="0" i="0" lang="en-US" sz="1250">
                <a:solidFill>
                  <a:srgbClr val="D8E4F5"/>
                </a:solidFill>
                <a:latin typeface="Courier New"/>
                <a:ea typeface="Courier New"/>
                <a:cs typeface="Courier New"/>
                <a:sym typeface="Courier New"/>
              </a:rPr>
              <a:t>    '#theme' =&gt; 'item_list',</a:t>
            </a:r>
            <a:endParaRPr/>
          </a:p>
          <a:p>
            <a:pPr indent="0" lvl="0" marL="0" marR="0" rtl="0" algn="l">
              <a:lnSpc>
                <a:spcPct val="122000"/>
              </a:lnSpc>
              <a:spcBef>
                <a:spcPts val="0"/>
              </a:spcBef>
              <a:spcAft>
                <a:spcPts val="0"/>
              </a:spcAft>
              <a:buNone/>
            </a:pPr>
            <a:r>
              <a:rPr b="0" i="0" lang="en-US" sz="1250">
                <a:solidFill>
                  <a:srgbClr val="D8E4F5"/>
                </a:solidFill>
                <a:latin typeface="Courier New"/>
                <a:ea typeface="Courier New"/>
                <a:cs typeface="Courier New"/>
                <a:sym typeface="Courier New"/>
              </a:rPr>
              <a:t>    '#items' =&gt; $this-&gt;getFilteredItems($filter),</a:t>
            </a:r>
            <a:endParaRPr/>
          </a:p>
          <a:p>
            <a:pPr indent="0" lvl="0" marL="0" marR="0" rtl="0" algn="l">
              <a:lnSpc>
                <a:spcPct val="122000"/>
              </a:lnSpc>
              <a:spcBef>
                <a:spcPts val="0"/>
              </a:spcBef>
              <a:spcAft>
                <a:spcPts val="0"/>
              </a:spcAft>
              <a:buNone/>
            </a:pPr>
            <a:r>
              <a:rPr b="1" i="0" lang="en-US" sz="1250">
                <a:solidFill>
                  <a:srgbClr val="F26351"/>
                </a:solidFill>
                <a:latin typeface="Courier New"/>
                <a:ea typeface="Courier New"/>
                <a:cs typeface="Courier New"/>
                <a:sym typeface="Courier New"/>
              </a:rPr>
              <a:t>    '#cache' =&gt; [</a:t>
            </a:r>
            <a:endParaRPr/>
          </a:p>
          <a:p>
            <a:pPr indent="0" lvl="0" marL="0" marR="0" rtl="0" algn="l">
              <a:lnSpc>
                <a:spcPct val="122000"/>
              </a:lnSpc>
              <a:spcBef>
                <a:spcPts val="0"/>
              </a:spcBef>
              <a:spcAft>
                <a:spcPts val="0"/>
              </a:spcAft>
              <a:buNone/>
            </a:pPr>
            <a:r>
              <a:rPr b="0" i="0" lang="en-US" sz="1250">
                <a:solidFill>
                  <a:srgbClr val="D8E4F5"/>
                </a:solidFill>
                <a:latin typeface="Courier New"/>
                <a:ea typeface="Courier New"/>
                <a:cs typeface="Courier New"/>
                <a:sym typeface="Courier New"/>
              </a:rPr>
              <a:t>      'tags' =&gt; ['node_list'],</a:t>
            </a:r>
            <a:endParaRPr/>
          </a:p>
          <a:p>
            <a:pPr indent="0" lvl="0" marL="0" marR="0" rtl="0" algn="l">
              <a:lnSpc>
                <a:spcPct val="122000"/>
              </a:lnSpc>
              <a:spcBef>
                <a:spcPts val="0"/>
              </a:spcBef>
              <a:spcAft>
                <a:spcPts val="0"/>
              </a:spcAft>
              <a:buNone/>
            </a:pPr>
            <a:r>
              <a:rPr b="0" i="0" lang="en-US" sz="1250">
                <a:solidFill>
                  <a:srgbClr val="D8E4F5"/>
                </a:solidFill>
                <a:latin typeface="Courier New"/>
                <a:ea typeface="Courier New"/>
                <a:cs typeface="Courier New"/>
                <a:sym typeface="Courier New"/>
              </a:rPr>
              <a:t>      'contexts' =&gt; ['url.query_args:filter'],</a:t>
            </a:r>
            <a:endParaRPr/>
          </a:p>
          <a:p>
            <a:pPr indent="0" lvl="0" marL="0" marR="0" rtl="0" algn="l">
              <a:lnSpc>
                <a:spcPct val="122000"/>
              </a:lnSpc>
              <a:spcBef>
                <a:spcPts val="0"/>
              </a:spcBef>
              <a:spcAft>
                <a:spcPts val="0"/>
              </a:spcAft>
              <a:buNone/>
            </a:pPr>
            <a:r>
              <a:rPr b="0" i="0" lang="en-US" sz="1250">
                <a:solidFill>
                  <a:srgbClr val="D8E4F5"/>
                </a:solidFill>
                <a:latin typeface="Courier New"/>
                <a:ea typeface="Courier New"/>
                <a:cs typeface="Courier New"/>
                <a:sym typeface="Courier New"/>
              </a:rPr>
              <a:t>    ],</a:t>
            </a:r>
            <a:endParaRPr/>
          </a:p>
          <a:p>
            <a:pPr indent="0" lvl="0" marL="0" marR="0" rtl="0" algn="l">
              <a:lnSpc>
                <a:spcPct val="122000"/>
              </a:lnSpc>
              <a:spcBef>
                <a:spcPts val="0"/>
              </a:spcBef>
              <a:spcAft>
                <a:spcPts val="0"/>
              </a:spcAft>
              <a:buNone/>
            </a:pPr>
            <a:r>
              <a:rPr b="0" i="0" lang="en-US" sz="1250">
                <a:solidFill>
                  <a:srgbClr val="D8E4F5"/>
                </a:solidFill>
                <a:latin typeface="Courier New"/>
                <a:ea typeface="Courier New"/>
                <a:cs typeface="Courier New"/>
                <a:sym typeface="Courier New"/>
              </a:rPr>
              <a:t>  ];</a:t>
            </a:r>
            <a:endParaRPr/>
          </a:p>
          <a:p>
            <a:pPr indent="0" lvl="0" marL="0" marR="0" rtl="0" algn="l">
              <a:lnSpc>
                <a:spcPct val="122000"/>
              </a:lnSpc>
              <a:spcBef>
                <a:spcPts val="0"/>
              </a:spcBef>
              <a:spcAft>
                <a:spcPts val="0"/>
              </a:spcAft>
              <a:buNone/>
            </a:pPr>
            <a:r>
              <a:rPr b="0" i="0" lang="en-US" sz="1250">
                <a:solidFill>
                  <a:srgbClr val="D8E4F5"/>
                </a:solidFill>
                <a:latin typeface="Courier New"/>
                <a:ea typeface="Courier New"/>
                <a:cs typeface="Courier New"/>
                <a:sym typeface="Courier New"/>
              </a:rPr>
              <a:t>}</a:t>
            </a:r>
            <a:endParaRPr/>
          </a:p>
        </p:txBody>
      </p:sp>
      <p:sp>
        <p:nvSpPr>
          <p:cNvPr id="288" name="Google Shape;288;p33"/>
          <p:cNvSpPr txBox="1"/>
          <p:nvPr/>
        </p:nvSpPr>
        <p:spPr>
          <a:xfrm>
            <a:off x="640080" y="4585648"/>
            <a:ext cx="10908900" cy="215400"/>
          </a:xfrm>
          <a:prstGeom prst="rect">
            <a:avLst/>
          </a:prstGeom>
          <a:noFill/>
          <a:ln>
            <a:noFill/>
          </a:ln>
        </p:spPr>
        <p:txBody>
          <a:bodyPr anchorCtr="0" anchor="t" bIns="0" lIns="0" spcFirstLastPara="1" rIns="0" wrap="square" tIns="0">
            <a:spAutoFit/>
          </a:bodyPr>
          <a:lstStyle/>
          <a:p>
            <a:pPr indent="0" lvl="0" marL="0" marR="0" rtl="0" algn="l">
              <a:lnSpc>
                <a:spcPct val="115000"/>
              </a:lnSpc>
              <a:spcBef>
                <a:spcPts val="0"/>
              </a:spcBef>
              <a:spcAft>
                <a:spcPts val="0"/>
              </a:spcAft>
              <a:buNone/>
            </a:pPr>
            <a:r>
              <a:rPr b="0" i="0" lang="en-US" sz="1400">
                <a:solidFill>
                  <a:srgbClr val="5B6378"/>
                </a:solidFill>
                <a:latin typeface="Calibri"/>
                <a:ea typeface="Calibri"/>
                <a:cs typeface="Calibri"/>
                <a:sym typeface="Calibri"/>
              </a:rPr>
              <a:t>The same render array every Drupal controller already returns. No AjaxResponse. No Commands. The render pipeline already builds exactly this.</a:t>
            </a:r>
            <a:endParaRPr/>
          </a:p>
        </p:txBody>
      </p:sp>
      <p:sp>
        <p:nvSpPr>
          <p:cNvPr id="289" name="Google Shape;289;p33"/>
          <p:cNvSpPr txBox="1"/>
          <p:nvPr>
            <p:ph type="title"/>
          </p:nvPr>
        </p:nvSpPr>
        <p:spPr>
          <a:xfrm>
            <a:off x="525150" y="428675"/>
            <a:ext cx="10773600" cy="627900"/>
          </a:xfrm>
          <a:prstGeom prst="rect">
            <a:avLst/>
          </a:prstGeom>
          <a:noFill/>
          <a:ln>
            <a:noFill/>
          </a:ln>
        </p:spPr>
        <p:txBody>
          <a:bodyPr anchorCtr="0" anchor="ctr" bIns="45700" lIns="91425" spcFirstLastPara="1" rIns="91425" wrap="square" tIns="45700">
            <a:normAutofit/>
          </a:bodyPr>
          <a:lstStyle/>
          <a:p>
            <a:pPr indent="0" lvl="0" marL="0" rtl="0" algn="l">
              <a:spcBef>
                <a:spcPts val="0"/>
              </a:spcBef>
              <a:spcAft>
                <a:spcPts val="0"/>
              </a:spcAft>
              <a:buClr>
                <a:srgbClr val="23325D"/>
              </a:buClr>
              <a:buSzPts val="3400"/>
              <a:buFont typeface="Calibri"/>
              <a:buNone/>
            </a:pPr>
            <a:r>
              <a:rPr lang="en-US" sz="3400"/>
              <a:t>The same render array Drupal always returns</a:t>
            </a:r>
            <a:endParaRPr sz="3400"/>
          </a:p>
        </p:txBody>
      </p:sp>
      <p:sp>
        <p:nvSpPr>
          <p:cNvPr id="290" name="Google Shape;290;p33"/>
          <p:cNvSpPr txBox="1"/>
          <p:nvPr/>
        </p:nvSpPr>
        <p:spPr>
          <a:xfrm>
            <a:off x="640080" y="320040"/>
            <a:ext cx="7315200" cy="2154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Clr>
                <a:srgbClr val="000000"/>
              </a:buClr>
              <a:buFont typeface="Arial"/>
              <a:buNone/>
            </a:pPr>
            <a:r>
              <a:t/>
            </a:r>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34"/>
          <p:cNvSpPr txBox="1"/>
          <p:nvPr/>
        </p:nvSpPr>
        <p:spPr>
          <a:xfrm>
            <a:off x="640080" y="320040"/>
            <a:ext cx="7315200" cy="32004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200">
                <a:solidFill>
                  <a:srgbClr val="F26351"/>
                </a:solidFill>
                <a:latin typeface="Calibri"/>
                <a:ea typeface="Calibri"/>
                <a:cs typeface="Calibri"/>
                <a:sym typeface="Calibri"/>
              </a:rPr>
              <a:t>WHERE THIS PAYS OFF</a:t>
            </a:r>
            <a:endParaRPr/>
          </a:p>
        </p:txBody>
      </p:sp>
      <p:sp>
        <p:nvSpPr>
          <p:cNvPr id="297" name="Google Shape;297;p34"/>
          <p:cNvSpPr/>
          <p:nvPr/>
        </p:nvSpPr>
        <p:spPr>
          <a:xfrm>
            <a:off x="640080" y="2516217"/>
            <a:ext cx="5317200" cy="1417200"/>
          </a:xfrm>
          <a:prstGeom prst="roundRect">
            <a:avLst>
              <a:gd fmla="val 6000" name="adj"/>
            </a:avLst>
          </a:prstGeom>
          <a:solidFill>
            <a:srgbClr val="EAF6FC"/>
          </a:solidFill>
          <a:ln>
            <a:noFill/>
          </a:ln>
        </p:spPr>
        <p:txBody>
          <a:bodyPr anchorCtr="0" anchor="ctr" bIns="164575" lIns="228600" spcFirstLastPara="1" rIns="228600" wrap="square" tIns="164575">
            <a:noAutofit/>
          </a:bodyPr>
          <a:lstStyle/>
          <a:p>
            <a:pPr indent="0" lvl="0" marL="0" marR="0" rtl="0" algn="l">
              <a:spcBef>
                <a:spcPts val="0"/>
              </a:spcBef>
              <a:spcAft>
                <a:spcPts val="0"/>
              </a:spcAft>
              <a:buNone/>
            </a:pPr>
            <a:r>
              <a:rPr b="1" i="0" lang="en-US" sz="1400">
                <a:solidFill>
                  <a:srgbClr val="0D6DAC"/>
                </a:solidFill>
                <a:latin typeface="Courier New"/>
                <a:ea typeface="Courier New"/>
                <a:cs typeface="Courier New"/>
                <a:sym typeface="Courier New"/>
              </a:rPr>
              <a:t>AJAX API</a:t>
            </a:r>
            <a:endParaRPr/>
          </a:p>
          <a:p>
            <a:pPr indent="0" lvl="0" marL="0" marR="0" rtl="0" algn="l">
              <a:lnSpc>
                <a:spcPct val="120000"/>
              </a:lnSpc>
              <a:spcBef>
                <a:spcPts val="0"/>
              </a:spcBef>
              <a:spcAft>
                <a:spcPts val="0"/>
              </a:spcAft>
              <a:buNone/>
            </a:pPr>
            <a:r>
              <a:rPr b="0" i="0" lang="en-US" sz="1350">
                <a:solidFill>
                  <a:srgbClr val="5B6378"/>
                </a:solidFill>
                <a:latin typeface="Calibri"/>
                <a:ea typeface="Calibri"/>
                <a:cs typeface="Calibri"/>
                <a:sym typeface="Calibri"/>
              </a:rPr>
              <a:t>An AjaxResponse built from Commands doesn't sit in the cache pipeline. You're mostly on your own.</a:t>
            </a:r>
            <a:endParaRPr/>
          </a:p>
        </p:txBody>
      </p:sp>
      <p:sp>
        <p:nvSpPr>
          <p:cNvPr id="298" name="Google Shape;298;p34"/>
          <p:cNvSpPr/>
          <p:nvPr/>
        </p:nvSpPr>
        <p:spPr>
          <a:xfrm>
            <a:off x="6231636" y="2516217"/>
            <a:ext cx="5317200" cy="1417200"/>
          </a:xfrm>
          <a:prstGeom prst="roundRect">
            <a:avLst>
              <a:gd fmla="val 6000" name="adj"/>
            </a:avLst>
          </a:prstGeom>
          <a:solidFill>
            <a:srgbClr val="FBE4DF"/>
          </a:solidFill>
          <a:ln>
            <a:noFill/>
          </a:ln>
        </p:spPr>
        <p:txBody>
          <a:bodyPr anchorCtr="0" anchor="ctr" bIns="164575" lIns="228600" spcFirstLastPara="1" rIns="228600" wrap="square" tIns="164575">
            <a:noAutofit/>
          </a:bodyPr>
          <a:lstStyle/>
          <a:p>
            <a:pPr indent="0" lvl="0" marL="0" marR="0" rtl="0" algn="l">
              <a:spcBef>
                <a:spcPts val="0"/>
              </a:spcBef>
              <a:spcAft>
                <a:spcPts val="0"/>
              </a:spcAft>
              <a:buNone/>
            </a:pPr>
            <a:r>
              <a:rPr b="1" i="0" lang="en-US" sz="1400">
                <a:solidFill>
                  <a:srgbClr val="F26351"/>
                </a:solidFill>
                <a:latin typeface="Courier New"/>
                <a:ea typeface="Courier New"/>
                <a:cs typeface="Courier New"/>
                <a:sym typeface="Courier New"/>
              </a:rPr>
              <a:t>HTMX</a:t>
            </a:r>
            <a:endParaRPr/>
          </a:p>
          <a:p>
            <a:pPr indent="0" lvl="0" marL="0" marR="0" rtl="0" algn="l">
              <a:lnSpc>
                <a:spcPct val="120000"/>
              </a:lnSpc>
              <a:spcBef>
                <a:spcPts val="0"/>
              </a:spcBef>
              <a:spcAft>
                <a:spcPts val="0"/>
              </a:spcAft>
              <a:buNone/>
            </a:pPr>
            <a:r>
              <a:rPr b="0" i="0" lang="en-US" sz="1350">
                <a:solidFill>
                  <a:srgbClr val="5B6378"/>
                </a:solidFill>
                <a:latin typeface="Calibri"/>
                <a:ea typeface="Calibri"/>
                <a:cs typeface="Calibri"/>
                <a:sym typeface="Calibri"/>
              </a:rPr>
              <a:t>A plain render array — cache tags bubble up, contexts vary the response automatically. Caching for free.</a:t>
            </a:r>
            <a:endParaRPr/>
          </a:p>
        </p:txBody>
      </p:sp>
      <p:sp>
        <p:nvSpPr>
          <p:cNvPr id="299" name="Google Shape;299;p34"/>
          <p:cNvSpPr txBox="1"/>
          <p:nvPr/>
        </p:nvSpPr>
        <p:spPr>
          <a:xfrm>
            <a:off x="640080" y="320040"/>
            <a:ext cx="7315200" cy="2154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4" name="Shape 304"/>
        <p:cNvGrpSpPr/>
        <p:nvPr/>
      </p:nvGrpSpPr>
      <p:grpSpPr>
        <a:xfrm>
          <a:off x="0" y="0"/>
          <a:ext cx="0" cy="0"/>
          <a:chOff x="0" y="0"/>
          <a:chExt cx="0" cy="0"/>
        </a:xfrm>
      </p:grpSpPr>
      <p:sp>
        <p:nvSpPr>
          <p:cNvPr id="305" name="Google Shape;305;p35"/>
          <p:cNvSpPr txBox="1"/>
          <p:nvPr/>
        </p:nvSpPr>
        <p:spPr>
          <a:xfrm>
            <a:off x="640080" y="320040"/>
            <a:ext cx="7315200" cy="32004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200">
                <a:solidFill>
                  <a:srgbClr val="F26351"/>
                </a:solidFill>
                <a:latin typeface="Calibri"/>
                <a:ea typeface="Calibri"/>
                <a:cs typeface="Calibri"/>
                <a:sym typeface="Calibri"/>
              </a:rPr>
              <a:t>RECAP</a:t>
            </a:r>
            <a:endParaRPr/>
          </a:p>
        </p:txBody>
      </p:sp>
      <p:graphicFrame>
        <p:nvGraphicFramePr>
          <p:cNvPr id="306" name="Google Shape;306;p35"/>
          <p:cNvGraphicFramePr/>
          <p:nvPr/>
        </p:nvGraphicFramePr>
        <p:xfrm>
          <a:off x="640080" y="1920240"/>
          <a:ext cx="3000000" cy="3000000"/>
        </p:xfrm>
        <a:graphic>
          <a:graphicData uri="http://schemas.openxmlformats.org/drawingml/2006/table">
            <a:tbl>
              <a:tblPr bandRow="1" firstRow="1">
                <a:noFill/>
                <a:tableStyleId>{82BA0FA9-774D-4D84-A5C6-C2667BA39461}</a:tableStyleId>
              </a:tblPr>
              <a:tblGrid>
                <a:gridCol w="5454400"/>
                <a:gridCol w="5454400"/>
              </a:tblGrid>
              <a:tr h="502925">
                <a:tc>
                  <a:txBody>
                    <a:bodyPr/>
                    <a:lstStyle/>
                    <a:p>
                      <a:pPr indent="0" lvl="0" marL="0" marR="0" rtl="0" algn="l">
                        <a:spcBef>
                          <a:spcPts val="0"/>
                        </a:spcBef>
                        <a:spcAft>
                          <a:spcPts val="0"/>
                        </a:spcAft>
                        <a:buNone/>
                      </a:pPr>
                      <a:r>
                        <a:rPr b="1" i="0" lang="en-US" sz="1400" u="none" cap="none" strike="noStrike">
                          <a:solidFill>
                            <a:srgbClr val="FFFFFF"/>
                          </a:solidFill>
                          <a:latin typeface="Calibri"/>
                          <a:ea typeface="Calibri"/>
                          <a:cs typeface="Calibri"/>
                          <a:sym typeface="Calibri"/>
                        </a:rPr>
                        <a:t>HTMX asks for</a:t>
                      </a:r>
                      <a:endParaRPr/>
                    </a:p>
                  </a:txBody>
                  <a:tcPr marT="45725" marB="45725" marR="91450" marL="91450" anchor="ctr">
                    <a:solidFill>
                      <a:srgbClr val="23325D"/>
                    </a:solidFill>
                  </a:tcPr>
                </a:tc>
                <a:tc>
                  <a:txBody>
                    <a:bodyPr/>
                    <a:lstStyle/>
                    <a:p>
                      <a:pPr indent="0" lvl="0" marL="0" marR="0" rtl="0" algn="l">
                        <a:spcBef>
                          <a:spcPts val="0"/>
                        </a:spcBef>
                        <a:spcAft>
                          <a:spcPts val="0"/>
                        </a:spcAft>
                        <a:buNone/>
                      </a:pPr>
                      <a:r>
                        <a:rPr b="1" i="0" lang="en-US" sz="1400">
                          <a:solidFill>
                            <a:srgbClr val="FFFFFF"/>
                          </a:solidFill>
                          <a:latin typeface="Calibri"/>
                          <a:ea typeface="Calibri"/>
                          <a:cs typeface="Calibri"/>
                          <a:sym typeface="Calibri"/>
                        </a:rPr>
                        <a:t>Drupal already has</a:t>
                      </a:r>
                      <a:endParaRPr/>
                    </a:p>
                  </a:txBody>
                  <a:tcPr marT="45725" marB="45725" marR="91450" marL="91450" anchor="ctr">
                    <a:solidFill>
                      <a:srgbClr val="23325D"/>
                    </a:solidFill>
                  </a:tcPr>
                </a:tc>
              </a:tr>
              <a:tr h="502925">
                <a:tc>
                  <a:txBody>
                    <a:bodyPr/>
                    <a:lstStyle/>
                    <a:p>
                      <a:pPr indent="0" lvl="0" marL="0" marR="0" rtl="0" algn="l">
                        <a:spcBef>
                          <a:spcPts val="0"/>
                        </a:spcBef>
                        <a:spcAft>
                          <a:spcPts val="0"/>
                        </a:spcAft>
                        <a:buNone/>
                      </a:pPr>
                      <a:r>
                        <a:rPr b="1" i="0" lang="en-US" sz="1350">
                          <a:solidFill>
                            <a:srgbClr val="F26351"/>
                          </a:solidFill>
                          <a:latin typeface="Calibri"/>
                          <a:ea typeface="Calibri"/>
                          <a:cs typeface="Calibri"/>
                          <a:sym typeface="Calibri"/>
                        </a:rPr>
                        <a:t>A URL (hx-get/hx-post)</a:t>
                      </a:r>
                      <a:endParaRPr/>
                    </a:p>
                  </a:txBody>
                  <a:tcPr marT="45725" marB="45725" marR="91450" marL="91450" anchor="ctr">
                    <a:solidFill>
                      <a:srgbClr val="FFFFFF"/>
                    </a:solidFill>
                  </a:tcPr>
                </a:tc>
                <a:tc>
                  <a:txBody>
                    <a:bodyPr/>
                    <a:lstStyle/>
                    <a:p>
                      <a:pPr indent="0" lvl="0" marL="0" marR="0" rtl="0" algn="l">
                        <a:spcBef>
                          <a:spcPts val="0"/>
                        </a:spcBef>
                        <a:spcAft>
                          <a:spcPts val="0"/>
                        </a:spcAft>
                        <a:buNone/>
                      </a:pPr>
                      <a:r>
                        <a:rPr b="0" i="0" lang="en-US" sz="1350">
                          <a:solidFill>
                            <a:srgbClr val="5B6378"/>
                          </a:solidFill>
                          <a:latin typeface="Calibri"/>
                          <a:ea typeface="Calibri"/>
                          <a:cs typeface="Calibri"/>
                          <a:sym typeface="Calibri"/>
                        </a:rPr>
                        <a:t>A route + controller</a:t>
                      </a:r>
                      <a:endParaRPr/>
                    </a:p>
                  </a:txBody>
                  <a:tcPr marT="45725" marB="45725" marR="91450" marL="91450" anchor="ctr">
                    <a:solidFill>
                      <a:srgbClr val="FFFFFF"/>
                    </a:solidFill>
                  </a:tcPr>
                </a:tc>
              </a:tr>
              <a:tr h="502925">
                <a:tc>
                  <a:txBody>
                    <a:bodyPr/>
                    <a:lstStyle/>
                    <a:p>
                      <a:pPr indent="0" lvl="0" marL="0" marR="0" rtl="0" algn="l">
                        <a:spcBef>
                          <a:spcPts val="0"/>
                        </a:spcBef>
                        <a:spcAft>
                          <a:spcPts val="0"/>
                        </a:spcAft>
                        <a:buNone/>
                      </a:pPr>
                      <a:r>
                        <a:rPr b="1" i="0" lang="en-US" sz="1350">
                          <a:solidFill>
                            <a:srgbClr val="F26351"/>
                          </a:solidFill>
                          <a:latin typeface="Calibri"/>
                          <a:ea typeface="Calibri"/>
                          <a:cs typeface="Calibri"/>
                          <a:sym typeface="Calibri"/>
                        </a:rPr>
                        <a:t>HTML to swap in</a:t>
                      </a:r>
                      <a:endParaRPr/>
                    </a:p>
                  </a:txBody>
                  <a:tcPr marT="45725" marB="45725" marR="91450" marL="91450" anchor="ctr">
                    <a:solidFill>
                      <a:srgbClr val="EAF6FC"/>
                    </a:solidFill>
                  </a:tcPr>
                </a:tc>
                <a:tc>
                  <a:txBody>
                    <a:bodyPr/>
                    <a:lstStyle/>
                    <a:p>
                      <a:pPr indent="0" lvl="0" marL="0" marR="0" rtl="0" algn="l">
                        <a:spcBef>
                          <a:spcPts val="0"/>
                        </a:spcBef>
                        <a:spcAft>
                          <a:spcPts val="0"/>
                        </a:spcAft>
                        <a:buNone/>
                      </a:pPr>
                      <a:r>
                        <a:rPr b="0" i="0" lang="en-US" sz="1350">
                          <a:solidFill>
                            <a:srgbClr val="5B6378"/>
                          </a:solidFill>
                          <a:latin typeface="Calibri"/>
                          <a:ea typeface="Calibri"/>
                          <a:cs typeface="Calibri"/>
                          <a:sym typeface="Calibri"/>
                        </a:rPr>
                        <a:t>A render array</a:t>
                      </a:r>
                      <a:endParaRPr/>
                    </a:p>
                  </a:txBody>
                  <a:tcPr marT="45725" marB="45725" marR="91450" marL="91450" anchor="ctr">
                    <a:solidFill>
                      <a:srgbClr val="EAF6FC"/>
                    </a:solidFill>
                  </a:tcPr>
                </a:tc>
              </a:tr>
              <a:tr h="502925">
                <a:tc>
                  <a:txBody>
                    <a:bodyPr/>
                    <a:lstStyle/>
                    <a:p>
                      <a:pPr indent="0" lvl="0" marL="0" marR="0" rtl="0" algn="l">
                        <a:spcBef>
                          <a:spcPts val="0"/>
                        </a:spcBef>
                        <a:spcAft>
                          <a:spcPts val="0"/>
                        </a:spcAft>
                        <a:buNone/>
                      </a:pPr>
                      <a:r>
                        <a:rPr b="1" i="0" lang="en-US" sz="1350">
                          <a:solidFill>
                            <a:srgbClr val="F26351"/>
                          </a:solidFill>
                          <a:latin typeface="Calibri"/>
                          <a:ea typeface="Calibri"/>
                          <a:cs typeface="Calibri"/>
                          <a:sym typeface="Calibri"/>
                        </a:rPr>
                        <a:t>Correctness under caching</a:t>
                      </a:r>
                      <a:endParaRPr/>
                    </a:p>
                  </a:txBody>
                  <a:tcPr marT="45725" marB="45725" marR="91450" marL="91450" anchor="ctr">
                    <a:solidFill>
                      <a:srgbClr val="FFFFFF"/>
                    </a:solidFill>
                  </a:tcPr>
                </a:tc>
                <a:tc>
                  <a:txBody>
                    <a:bodyPr/>
                    <a:lstStyle/>
                    <a:p>
                      <a:pPr indent="0" lvl="0" marL="0" marR="0" rtl="0" algn="l">
                        <a:spcBef>
                          <a:spcPts val="0"/>
                        </a:spcBef>
                        <a:spcAft>
                          <a:spcPts val="0"/>
                        </a:spcAft>
                        <a:buNone/>
                      </a:pPr>
                      <a:r>
                        <a:rPr b="0" i="0" lang="en-US" sz="1350">
                          <a:solidFill>
                            <a:srgbClr val="5B6378"/>
                          </a:solidFill>
                          <a:latin typeface="Calibri"/>
                          <a:ea typeface="Calibri"/>
                          <a:cs typeface="Calibri"/>
                          <a:sym typeface="Calibri"/>
                        </a:rPr>
                        <a:t>#cache tags &amp; contexts</a:t>
                      </a:r>
                      <a:endParaRPr/>
                    </a:p>
                  </a:txBody>
                  <a:tcPr marT="45725" marB="45725" marR="91450" marL="91450" anchor="ctr">
                    <a:solidFill>
                      <a:srgbClr val="FFFFFF"/>
                    </a:solidFill>
                  </a:tcPr>
                </a:tc>
              </a:tr>
            </a:tbl>
          </a:graphicData>
        </a:graphic>
      </p:graphicFrame>
      <p:sp>
        <p:nvSpPr>
          <p:cNvPr id="307" name="Google Shape;307;p35"/>
          <p:cNvSpPr txBox="1"/>
          <p:nvPr/>
        </p:nvSpPr>
        <p:spPr>
          <a:xfrm>
            <a:off x="4572000" y="6355080"/>
            <a:ext cx="4846320" cy="320040"/>
          </a:xfrm>
          <a:prstGeom prst="rect">
            <a:avLst/>
          </a:prstGeom>
          <a:noFill/>
          <a:ln>
            <a:noFill/>
          </a:ln>
        </p:spPr>
        <p:txBody>
          <a:bodyPr anchorCtr="0" anchor="t" bIns="0" lIns="0" spcFirstLastPara="1" rIns="0" wrap="square" tIns="0">
            <a:spAutoFit/>
          </a:bodyPr>
          <a:lstStyle/>
          <a:p>
            <a:pPr indent="0" lvl="0" marL="0" marR="0" rtl="0" algn="r">
              <a:spcBef>
                <a:spcPts val="0"/>
              </a:spcBef>
              <a:spcAft>
                <a:spcPts val="0"/>
              </a:spcAft>
              <a:buNone/>
            </a:pPr>
            <a:r>
              <a:rPr b="1" i="0" lang="en-US" sz="1300">
                <a:solidFill>
                  <a:srgbClr val="F26351"/>
                </a:solidFill>
                <a:latin typeface="Calibri"/>
                <a:ea typeface="Calibri"/>
                <a:cs typeface="Calibri"/>
                <a:sym typeface="Calibri"/>
              </a:rPr>
              <a:t>→ next: live demo</a:t>
            </a:r>
            <a:endParaRPr/>
          </a:p>
        </p:txBody>
      </p:sp>
      <p:sp>
        <p:nvSpPr>
          <p:cNvPr id="308" name="Google Shape;308;p35"/>
          <p:cNvSpPr txBox="1"/>
          <p:nvPr>
            <p:ph type="title"/>
          </p:nvPr>
        </p:nvSpPr>
        <p:spPr>
          <a:xfrm>
            <a:off x="525150" y="428675"/>
            <a:ext cx="10773600" cy="627900"/>
          </a:xfrm>
          <a:prstGeom prst="rect">
            <a:avLst/>
          </a:prstGeom>
          <a:noFill/>
          <a:ln>
            <a:noFill/>
          </a:ln>
        </p:spPr>
        <p:txBody>
          <a:bodyPr anchorCtr="0" anchor="ctr" bIns="45700" lIns="91425" spcFirstLastPara="1" rIns="91425" wrap="square" tIns="45700">
            <a:normAutofit/>
          </a:bodyPr>
          <a:lstStyle/>
          <a:p>
            <a:pPr indent="0" lvl="0" marL="0" rtl="0" algn="l">
              <a:spcBef>
                <a:spcPts val="0"/>
              </a:spcBef>
              <a:spcAft>
                <a:spcPts val="0"/>
              </a:spcAft>
              <a:buClr>
                <a:srgbClr val="23325D"/>
              </a:buClr>
              <a:buSzPts val="3200"/>
              <a:buFont typeface="Calibri"/>
              <a:buNone/>
            </a:pPr>
            <a:r>
              <a:rPr lang="en-US" sz="3200"/>
              <a:t>Three things Drupal already gives</a:t>
            </a:r>
            <a:endParaRPr sz="3400"/>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3" name="Shape 313"/>
        <p:cNvGrpSpPr/>
        <p:nvPr/>
      </p:nvGrpSpPr>
      <p:grpSpPr>
        <a:xfrm>
          <a:off x="0" y="0"/>
          <a:ext cx="0" cy="0"/>
          <a:chOff x="0" y="0"/>
          <a:chExt cx="0" cy="0"/>
        </a:xfrm>
      </p:grpSpPr>
      <p:sp>
        <p:nvSpPr>
          <p:cNvPr id="314" name="Google Shape;314;p36"/>
          <p:cNvSpPr txBox="1"/>
          <p:nvPr>
            <p:ph type="title"/>
          </p:nvPr>
        </p:nvSpPr>
        <p:spPr>
          <a:xfrm>
            <a:off x="887095" y="1533525"/>
            <a:ext cx="10835640" cy="1085850"/>
          </a:xfrm>
          <a:prstGeom prst="rect">
            <a:avLst/>
          </a:prstGeom>
          <a:noFill/>
          <a:ln>
            <a:noFill/>
          </a:ln>
        </p:spPr>
        <p:txBody>
          <a:bodyPr anchorCtr="0" anchor="t" bIns="45700" lIns="91425" spcFirstLastPara="1" rIns="91425" wrap="square" tIns="45700">
            <a:normAutofit/>
          </a:bodyPr>
          <a:lstStyle/>
          <a:p>
            <a:pPr indent="0" lvl="0" marL="0" rtl="0" algn="l">
              <a:lnSpc>
                <a:spcPct val="90000"/>
              </a:lnSpc>
              <a:spcBef>
                <a:spcPts val="0"/>
              </a:spcBef>
              <a:spcAft>
                <a:spcPts val="0"/>
              </a:spcAft>
              <a:buClr>
                <a:srgbClr val="23325D"/>
              </a:buClr>
              <a:buSzPts val="3600"/>
              <a:buFont typeface="Calibri"/>
              <a:buNone/>
            </a:pPr>
            <a:r>
              <a:rPr lang="en-US" sz="3600">
                <a:solidFill>
                  <a:srgbClr val="23325D"/>
                </a:solidFill>
              </a:rPr>
              <a:t>Live Demo</a:t>
            </a:r>
            <a:endParaRPr/>
          </a:p>
        </p:txBody>
      </p:sp>
      <p:sp>
        <p:nvSpPr>
          <p:cNvPr id="315" name="Google Shape;315;p36"/>
          <p:cNvSpPr txBox="1"/>
          <p:nvPr>
            <p:ph idx="1" type="body"/>
          </p:nvPr>
        </p:nvSpPr>
        <p:spPr>
          <a:xfrm>
            <a:off x="887095" y="2679065"/>
            <a:ext cx="10835640" cy="1499870"/>
          </a:xfrm>
          <a:prstGeom prst="rect">
            <a:avLst/>
          </a:prstGeom>
          <a:noFill/>
          <a:ln>
            <a:noFill/>
          </a:ln>
        </p:spPr>
        <p:txBody>
          <a:bodyPr anchorCtr="0" anchor="t" bIns="45700" lIns="91425" spcFirstLastPara="1" rIns="91425" wrap="square" tIns="45700">
            <a:normAutofit/>
          </a:bodyPr>
          <a:lstStyle/>
          <a:p>
            <a:pPr indent="0" lvl="0" marL="0" rtl="0" algn="l">
              <a:lnSpc>
                <a:spcPct val="130000"/>
              </a:lnSpc>
              <a:spcBef>
                <a:spcPts val="0"/>
              </a:spcBef>
              <a:spcAft>
                <a:spcPts val="0"/>
              </a:spcAft>
              <a:buClr>
                <a:srgbClr val="9AA3B5"/>
              </a:buClr>
              <a:buSzPts val="1800"/>
              <a:buNone/>
            </a:pPr>
            <a:r>
              <a:rPr b="0" i="1" lang="en-US" sz="1800">
                <a:solidFill>
                  <a:srgbClr val="9AA3B5"/>
                </a:solidFill>
                <a:latin typeface="Calibri"/>
                <a:ea typeface="Calibri"/>
                <a:cs typeface="Calibri"/>
                <a:sym typeface="Calibri"/>
              </a:rPr>
              <a:t>PLACEHOLDER — dynamic form, filter &amp; partial update, one combined demo built/walked through live in the browser.</a:t>
            </a:r>
            <a:endParaRPr/>
          </a:p>
        </p:txBody>
      </p:sp>
      <p:sp>
        <p:nvSpPr>
          <p:cNvPr id="316" name="Google Shape;316;p36"/>
          <p:cNvSpPr txBox="1"/>
          <p:nvPr/>
        </p:nvSpPr>
        <p:spPr>
          <a:xfrm>
            <a:off x="7589520" y="4297680"/>
            <a:ext cx="3931920" cy="2103120"/>
          </a:xfrm>
          <a:prstGeom prst="rect">
            <a:avLst/>
          </a:prstGeom>
          <a:noFill/>
          <a:ln>
            <a:noFill/>
          </a:ln>
        </p:spPr>
        <p:txBody>
          <a:bodyPr anchorCtr="0" anchor="ctr" bIns="0" lIns="0" spcFirstLastPara="1" rIns="0" wrap="square" tIns="0">
            <a:spAutoFit/>
          </a:bodyPr>
          <a:lstStyle/>
          <a:p>
            <a:pPr indent="0" lvl="0" marL="0" marR="0" rtl="0" algn="r">
              <a:spcBef>
                <a:spcPts val="0"/>
              </a:spcBef>
              <a:spcAft>
                <a:spcPts val="0"/>
              </a:spcAft>
              <a:buNone/>
            </a:pPr>
            <a:r>
              <a:rPr b="1" i="0" lang="en-US" sz="17000">
                <a:solidFill>
                  <a:srgbClr val="FBDAD3"/>
                </a:solidFill>
                <a:latin typeface="Courier New"/>
                <a:ea typeface="Courier New"/>
                <a:cs typeface="Courier New"/>
                <a:sym typeface="Courier New"/>
              </a:rPr>
              <a:t>05</a:t>
            </a:r>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1" name="Shape 321"/>
        <p:cNvGrpSpPr/>
        <p:nvPr/>
      </p:nvGrpSpPr>
      <p:grpSpPr>
        <a:xfrm>
          <a:off x="0" y="0"/>
          <a:ext cx="0" cy="0"/>
          <a:chOff x="0" y="0"/>
          <a:chExt cx="0" cy="0"/>
        </a:xfrm>
      </p:grpSpPr>
      <p:sp>
        <p:nvSpPr>
          <p:cNvPr id="322" name="Google Shape;322;p37"/>
          <p:cNvSpPr txBox="1"/>
          <p:nvPr/>
        </p:nvSpPr>
        <p:spPr>
          <a:xfrm>
            <a:off x="7589520" y="4297680"/>
            <a:ext cx="3931920" cy="2103120"/>
          </a:xfrm>
          <a:prstGeom prst="rect">
            <a:avLst/>
          </a:prstGeom>
          <a:noFill/>
          <a:ln>
            <a:noFill/>
          </a:ln>
        </p:spPr>
        <p:txBody>
          <a:bodyPr anchorCtr="0" anchor="ctr" bIns="0" lIns="0" spcFirstLastPara="1" rIns="0" wrap="square" tIns="0">
            <a:spAutoFit/>
          </a:bodyPr>
          <a:lstStyle/>
          <a:p>
            <a:pPr indent="0" lvl="0" marL="0" marR="0" rtl="0" algn="r">
              <a:spcBef>
                <a:spcPts val="0"/>
              </a:spcBef>
              <a:spcAft>
                <a:spcPts val="0"/>
              </a:spcAft>
              <a:buNone/>
            </a:pPr>
            <a:r>
              <a:rPr b="1" i="0" lang="en-US" sz="17000">
                <a:solidFill>
                  <a:srgbClr val="DDE3EF"/>
                </a:solidFill>
                <a:latin typeface="Courier New"/>
                <a:ea typeface="Courier New"/>
                <a:cs typeface="Courier New"/>
                <a:sym typeface="Courier New"/>
              </a:rPr>
              <a:t>06</a:t>
            </a:r>
            <a:endParaRPr/>
          </a:p>
        </p:txBody>
      </p:sp>
      <p:sp>
        <p:nvSpPr>
          <p:cNvPr id="323" name="Google Shape;323;p37"/>
          <p:cNvSpPr txBox="1"/>
          <p:nvPr>
            <p:ph type="title"/>
          </p:nvPr>
        </p:nvSpPr>
        <p:spPr>
          <a:xfrm>
            <a:off x="799925" y="1847575"/>
            <a:ext cx="10922700" cy="1086000"/>
          </a:xfrm>
          <a:prstGeom prst="rect">
            <a:avLst/>
          </a:prstGeom>
          <a:noFill/>
          <a:ln>
            <a:noFill/>
          </a:ln>
        </p:spPr>
        <p:txBody>
          <a:bodyPr anchorCtr="0" anchor="t" bIns="45700" lIns="91425" spcFirstLastPara="1" rIns="91425" wrap="square" tIns="45700">
            <a:normAutofit/>
          </a:bodyPr>
          <a:lstStyle/>
          <a:p>
            <a:pPr indent="0" lvl="0" marL="0" rtl="0" algn="l">
              <a:spcBef>
                <a:spcPts val="0"/>
              </a:spcBef>
              <a:spcAft>
                <a:spcPts val="0"/>
              </a:spcAft>
              <a:buClr>
                <a:srgbClr val="23325D"/>
              </a:buClr>
              <a:buSzPts val="3600"/>
              <a:buFont typeface="Calibri"/>
              <a:buNone/>
            </a:pPr>
            <a:r>
              <a:rPr lang="en-US" sz="3600"/>
              <a:t>Ajax API vs HTMX, Compared Honestly</a:t>
            </a:r>
            <a:endParaRPr/>
          </a:p>
          <a:p>
            <a:pPr indent="0" lvl="0" marL="0" rtl="0" algn="l">
              <a:lnSpc>
                <a:spcPct val="90000"/>
              </a:lnSpc>
              <a:spcBef>
                <a:spcPts val="0"/>
              </a:spcBef>
              <a:spcAft>
                <a:spcPts val="0"/>
              </a:spcAft>
              <a:buClr>
                <a:srgbClr val="23325D"/>
              </a:buClr>
              <a:buSzPts val="3600"/>
              <a:buFont typeface="Calibri"/>
              <a:buNone/>
            </a:pPr>
            <a:r>
              <a:t/>
            </a:r>
            <a:endParaRPr sz="3600"/>
          </a:p>
        </p:txBody>
      </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38"/>
          <p:cNvSpPr txBox="1"/>
          <p:nvPr/>
        </p:nvSpPr>
        <p:spPr>
          <a:xfrm>
            <a:off x="640080" y="320040"/>
            <a:ext cx="7315200" cy="2154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a:solidFill>
                  <a:srgbClr val="0D6DAC"/>
                </a:solidFill>
                <a:latin typeface="Calibri"/>
                <a:ea typeface="Calibri"/>
                <a:cs typeface="Calibri"/>
                <a:sym typeface="Calibri"/>
              </a:rPr>
              <a:t>DX &amp; PERFORMANCE</a:t>
            </a:r>
            <a:endParaRPr/>
          </a:p>
        </p:txBody>
      </p:sp>
      <p:sp>
        <p:nvSpPr>
          <p:cNvPr id="330" name="Google Shape;330;p38"/>
          <p:cNvSpPr txBox="1"/>
          <p:nvPr/>
        </p:nvSpPr>
        <p:spPr>
          <a:xfrm>
            <a:off x="640080" y="1463043"/>
            <a:ext cx="3657600" cy="2310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500">
                <a:solidFill>
                  <a:srgbClr val="5B6378"/>
                </a:solidFill>
                <a:latin typeface="Calibri"/>
                <a:ea typeface="Calibri"/>
                <a:cs typeface="Calibri"/>
                <a:sym typeface="Calibri"/>
              </a:rPr>
              <a:t>DX</a:t>
            </a:r>
            <a:endParaRPr b="1"/>
          </a:p>
        </p:txBody>
      </p:sp>
      <p:sp>
        <p:nvSpPr>
          <p:cNvPr id="331" name="Google Shape;331;p38"/>
          <p:cNvSpPr/>
          <p:nvPr/>
        </p:nvSpPr>
        <p:spPr>
          <a:xfrm>
            <a:off x="640080" y="1874522"/>
            <a:ext cx="5317200" cy="1371600"/>
          </a:xfrm>
          <a:prstGeom prst="roundRect">
            <a:avLst>
              <a:gd fmla="val 6000" name="adj"/>
            </a:avLst>
          </a:prstGeom>
          <a:solidFill>
            <a:srgbClr val="EAF6FC"/>
          </a:solidFill>
          <a:ln>
            <a:noFill/>
          </a:ln>
        </p:spPr>
        <p:txBody>
          <a:bodyPr anchorCtr="0" anchor="ctr" bIns="146300" lIns="201150" spcFirstLastPara="1" rIns="201150" wrap="square" tIns="146300">
            <a:noAutofit/>
          </a:bodyPr>
          <a:lstStyle/>
          <a:p>
            <a:pPr indent="0" lvl="0" marL="0" marR="0" rtl="0" algn="l">
              <a:spcBef>
                <a:spcPts val="0"/>
              </a:spcBef>
              <a:spcAft>
                <a:spcPts val="0"/>
              </a:spcAft>
              <a:buNone/>
            </a:pPr>
            <a:r>
              <a:rPr b="1" i="0" lang="en-US" sz="1300">
                <a:solidFill>
                  <a:srgbClr val="0D6DAC"/>
                </a:solidFill>
                <a:latin typeface="Courier New"/>
                <a:ea typeface="Courier New"/>
                <a:cs typeface="Courier New"/>
                <a:sym typeface="Courier New"/>
              </a:rPr>
              <a:t>AJAX API</a:t>
            </a:r>
            <a:endParaRPr/>
          </a:p>
          <a:p>
            <a:pPr indent="0" lvl="0" marL="0" marR="0" rtl="0" algn="l">
              <a:lnSpc>
                <a:spcPct val="115000"/>
              </a:lnSpc>
              <a:spcBef>
                <a:spcPts val="0"/>
              </a:spcBef>
              <a:spcAft>
                <a:spcPts val="0"/>
              </a:spcAft>
              <a:buNone/>
            </a:pPr>
            <a:r>
              <a:rPr b="0" i="0" lang="en-US" sz="1300">
                <a:solidFill>
                  <a:srgbClr val="5B6378"/>
                </a:solidFill>
                <a:latin typeface="Calibri"/>
                <a:ea typeface="Calibri"/>
                <a:cs typeface="Calibri"/>
                <a:sym typeface="Calibri"/>
              </a:rPr>
              <a:t>More ceremony — but native Form API integration (wizards, validation) comes free.</a:t>
            </a:r>
            <a:endParaRPr/>
          </a:p>
        </p:txBody>
      </p:sp>
      <p:sp>
        <p:nvSpPr>
          <p:cNvPr id="332" name="Google Shape;332;p38"/>
          <p:cNvSpPr/>
          <p:nvPr/>
        </p:nvSpPr>
        <p:spPr>
          <a:xfrm>
            <a:off x="6231636" y="1874522"/>
            <a:ext cx="5317200" cy="1371600"/>
          </a:xfrm>
          <a:prstGeom prst="roundRect">
            <a:avLst>
              <a:gd fmla="val 6000" name="adj"/>
            </a:avLst>
          </a:prstGeom>
          <a:solidFill>
            <a:srgbClr val="FBE4DF"/>
          </a:solidFill>
          <a:ln>
            <a:noFill/>
          </a:ln>
        </p:spPr>
        <p:txBody>
          <a:bodyPr anchorCtr="0" anchor="ctr" bIns="146300" lIns="201150" spcFirstLastPara="1" rIns="201150" wrap="square" tIns="146300">
            <a:noAutofit/>
          </a:bodyPr>
          <a:lstStyle/>
          <a:p>
            <a:pPr indent="0" lvl="0" marL="0" marR="0" rtl="0" algn="l">
              <a:spcBef>
                <a:spcPts val="0"/>
              </a:spcBef>
              <a:spcAft>
                <a:spcPts val="0"/>
              </a:spcAft>
              <a:buNone/>
            </a:pPr>
            <a:r>
              <a:rPr b="1" i="0" lang="en-US" sz="1300">
                <a:solidFill>
                  <a:srgbClr val="F26351"/>
                </a:solidFill>
                <a:latin typeface="Courier New"/>
                <a:ea typeface="Courier New"/>
                <a:cs typeface="Courier New"/>
                <a:sym typeface="Courier New"/>
              </a:rPr>
              <a:t>HTMX</a:t>
            </a:r>
            <a:endParaRPr/>
          </a:p>
          <a:p>
            <a:pPr indent="0" lvl="0" marL="0" marR="0" rtl="0" algn="l">
              <a:lnSpc>
                <a:spcPct val="115000"/>
              </a:lnSpc>
              <a:spcBef>
                <a:spcPts val="0"/>
              </a:spcBef>
              <a:spcAft>
                <a:spcPts val="0"/>
              </a:spcAft>
              <a:buNone/>
            </a:pPr>
            <a:r>
              <a:rPr b="0" i="0" lang="en-US" sz="1300">
                <a:solidFill>
                  <a:srgbClr val="5B6378"/>
                </a:solidFill>
                <a:latin typeface="Calibri"/>
                <a:ea typeface="Calibri"/>
                <a:cs typeface="Calibri"/>
                <a:sym typeface="Calibri"/>
              </a:rPr>
              <a:t>Far less ceremony — but state management for anything multi-step is on you.</a:t>
            </a:r>
            <a:endParaRPr/>
          </a:p>
        </p:txBody>
      </p:sp>
      <p:sp>
        <p:nvSpPr>
          <p:cNvPr id="333" name="Google Shape;333;p38"/>
          <p:cNvSpPr txBox="1"/>
          <p:nvPr/>
        </p:nvSpPr>
        <p:spPr>
          <a:xfrm>
            <a:off x="640080" y="3611882"/>
            <a:ext cx="3657600" cy="2310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500">
                <a:solidFill>
                  <a:srgbClr val="5B6378"/>
                </a:solidFill>
                <a:latin typeface="Calibri"/>
                <a:ea typeface="Calibri"/>
                <a:cs typeface="Calibri"/>
                <a:sym typeface="Calibri"/>
              </a:rPr>
              <a:t>PERFORMANCE</a:t>
            </a:r>
            <a:endParaRPr b="1"/>
          </a:p>
        </p:txBody>
      </p:sp>
      <p:sp>
        <p:nvSpPr>
          <p:cNvPr id="334" name="Google Shape;334;p38"/>
          <p:cNvSpPr/>
          <p:nvPr/>
        </p:nvSpPr>
        <p:spPr>
          <a:xfrm>
            <a:off x="640080" y="4023363"/>
            <a:ext cx="5317200" cy="1371600"/>
          </a:xfrm>
          <a:prstGeom prst="roundRect">
            <a:avLst>
              <a:gd fmla="val 6000" name="adj"/>
            </a:avLst>
          </a:prstGeom>
          <a:solidFill>
            <a:srgbClr val="EAF6FC"/>
          </a:solidFill>
          <a:ln>
            <a:noFill/>
          </a:ln>
        </p:spPr>
        <p:txBody>
          <a:bodyPr anchorCtr="0" anchor="ctr" bIns="146300" lIns="201150" spcFirstLastPara="1" rIns="201150" wrap="square" tIns="146300">
            <a:noAutofit/>
          </a:bodyPr>
          <a:lstStyle/>
          <a:p>
            <a:pPr indent="0" lvl="0" marL="0" marR="0" rtl="0" algn="l">
              <a:spcBef>
                <a:spcPts val="0"/>
              </a:spcBef>
              <a:spcAft>
                <a:spcPts val="0"/>
              </a:spcAft>
              <a:buNone/>
            </a:pPr>
            <a:r>
              <a:rPr b="1" i="0" lang="en-US" sz="1300">
                <a:solidFill>
                  <a:srgbClr val="0D6DAC"/>
                </a:solidFill>
                <a:latin typeface="Courier New"/>
                <a:ea typeface="Courier New"/>
                <a:cs typeface="Courier New"/>
                <a:sym typeface="Courier New"/>
              </a:rPr>
              <a:t>AJAX API</a:t>
            </a:r>
            <a:endParaRPr/>
          </a:p>
          <a:p>
            <a:pPr indent="0" lvl="0" marL="0" marR="0" rtl="0" algn="l">
              <a:lnSpc>
                <a:spcPct val="115000"/>
              </a:lnSpc>
              <a:spcBef>
                <a:spcPts val="0"/>
              </a:spcBef>
              <a:spcAft>
                <a:spcPts val="0"/>
              </a:spcAft>
              <a:buNone/>
            </a:pPr>
            <a:r>
              <a:rPr b="0" i="0" lang="en-US" sz="1300">
                <a:solidFill>
                  <a:srgbClr val="5B6378"/>
                </a:solidFill>
                <a:latin typeface="Calibri"/>
                <a:ea typeface="Calibri"/>
                <a:cs typeface="Calibri"/>
                <a:sym typeface="Calibri"/>
              </a:rPr>
              <a:t>JSON command stack + behavior reattachment on every response.</a:t>
            </a:r>
            <a:endParaRPr/>
          </a:p>
        </p:txBody>
      </p:sp>
      <p:sp>
        <p:nvSpPr>
          <p:cNvPr id="335" name="Google Shape;335;p38"/>
          <p:cNvSpPr/>
          <p:nvPr/>
        </p:nvSpPr>
        <p:spPr>
          <a:xfrm>
            <a:off x="6231636" y="4023363"/>
            <a:ext cx="5317200" cy="1371600"/>
          </a:xfrm>
          <a:prstGeom prst="roundRect">
            <a:avLst>
              <a:gd fmla="val 6000" name="adj"/>
            </a:avLst>
          </a:prstGeom>
          <a:solidFill>
            <a:srgbClr val="FBE4DF"/>
          </a:solidFill>
          <a:ln>
            <a:noFill/>
          </a:ln>
        </p:spPr>
        <p:txBody>
          <a:bodyPr anchorCtr="0" anchor="ctr" bIns="146300" lIns="201150" spcFirstLastPara="1" rIns="201150" wrap="square" tIns="146300">
            <a:noAutofit/>
          </a:bodyPr>
          <a:lstStyle/>
          <a:p>
            <a:pPr indent="0" lvl="0" marL="0" marR="0" rtl="0" algn="l">
              <a:spcBef>
                <a:spcPts val="0"/>
              </a:spcBef>
              <a:spcAft>
                <a:spcPts val="0"/>
              </a:spcAft>
              <a:buNone/>
            </a:pPr>
            <a:r>
              <a:rPr b="1" i="0" lang="en-US" sz="1300">
                <a:solidFill>
                  <a:srgbClr val="F26351"/>
                </a:solidFill>
                <a:latin typeface="Courier New"/>
                <a:ea typeface="Courier New"/>
                <a:cs typeface="Courier New"/>
                <a:sym typeface="Courier New"/>
              </a:rPr>
              <a:t>HTMX</a:t>
            </a:r>
            <a:endParaRPr/>
          </a:p>
          <a:p>
            <a:pPr indent="0" lvl="0" marL="0" marR="0" rtl="0" algn="l">
              <a:lnSpc>
                <a:spcPct val="115000"/>
              </a:lnSpc>
              <a:spcBef>
                <a:spcPts val="0"/>
              </a:spcBef>
              <a:spcAft>
                <a:spcPts val="0"/>
              </a:spcAft>
              <a:buNone/>
            </a:pPr>
            <a:r>
              <a:rPr b="0" i="0" lang="en-US" sz="1300">
                <a:solidFill>
                  <a:srgbClr val="5B6378"/>
                </a:solidFill>
                <a:latin typeface="Calibri"/>
                <a:ea typeface="Calibri"/>
                <a:cs typeface="Calibri"/>
                <a:sym typeface="Calibri"/>
              </a:rPr>
              <a:t>~14kb library; the response is the HTML fragment itself.</a:t>
            </a:r>
            <a:endParaRPr/>
          </a:p>
        </p:txBody>
      </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39"/>
          <p:cNvSpPr txBox="1"/>
          <p:nvPr/>
        </p:nvSpPr>
        <p:spPr>
          <a:xfrm>
            <a:off x="640080" y="320040"/>
            <a:ext cx="7315200" cy="2154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a:solidFill>
                  <a:srgbClr val="0D6DAC"/>
                </a:solidFill>
                <a:latin typeface="Calibri"/>
                <a:ea typeface="Calibri"/>
                <a:cs typeface="Calibri"/>
                <a:sym typeface="Calibri"/>
              </a:rPr>
              <a:t>DEBUGGING &amp; PROGRESSIVE ENHANCEMENT</a:t>
            </a:r>
            <a:endParaRPr/>
          </a:p>
        </p:txBody>
      </p:sp>
      <p:sp>
        <p:nvSpPr>
          <p:cNvPr id="342" name="Google Shape;342;p39"/>
          <p:cNvSpPr txBox="1"/>
          <p:nvPr/>
        </p:nvSpPr>
        <p:spPr>
          <a:xfrm>
            <a:off x="640080" y="1563280"/>
            <a:ext cx="3657600" cy="2310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500">
                <a:solidFill>
                  <a:srgbClr val="5B6378"/>
                </a:solidFill>
                <a:latin typeface="Calibri"/>
                <a:ea typeface="Calibri"/>
                <a:cs typeface="Calibri"/>
                <a:sym typeface="Calibri"/>
              </a:rPr>
              <a:t>DEBUGGING</a:t>
            </a:r>
            <a:endParaRPr b="1"/>
          </a:p>
        </p:txBody>
      </p:sp>
      <p:sp>
        <p:nvSpPr>
          <p:cNvPr id="343" name="Google Shape;343;p39"/>
          <p:cNvSpPr/>
          <p:nvPr/>
        </p:nvSpPr>
        <p:spPr>
          <a:xfrm>
            <a:off x="640080" y="1974760"/>
            <a:ext cx="5317200" cy="1371600"/>
          </a:xfrm>
          <a:prstGeom prst="roundRect">
            <a:avLst>
              <a:gd fmla="val 6000" name="adj"/>
            </a:avLst>
          </a:prstGeom>
          <a:solidFill>
            <a:srgbClr val="EAF6FC"/>
          </a:solidFill>
          <a:ln>
            <a:noFill/>
          </a:ln>
        </p:spPr>
        <p:txBody>
          <a:bodyPr anchorCtr="0" anchor="ctr" bIns="146300" lIns="201150" spcFirstLastPara="1" rIns="201150" wrap="square" tIns="146300">
            <a:noAutofit/>
          </a:bodyPr>
          <a:lstStyle/>
          <a:p>
            <a:pPr indent="0" lvl="0" marL="0" marR="0" rtl="0" algn="l">
              <a:spcBef>
                <a:spcPts val="0"/>
              </a:spcBef>
              <a:spcAft>
                <a:spcPts val="0"/>
              </a:spcAft>
              <a:buNone/>
            </a:pPr>
            <a:r>
              <a:rPr b="1" i="0" lang="en-US" sz="1300">
                <a:solidFill>
                  <a:srgbClr val="0D6DAC"/>
                </a:solidFill>
                <a:latin typeface="Courier New"/>
                <a:ea typeface="Courier New"/>
                <a:cs typeface="Courier New"/>
                <a:sym typeface="Courier New"/>
              </a:rPr>
              <a:t>AJAX API</a:t>
            </a:r>
            <a:endParaRPr/>
          </a:p>
          <a:p>
            <a:pPr indent="0" lvl="0" marL="0" marR="0" rtl="0" algn="l">
              <a:lnSpc>
                <a:spcPct val="115000"/>
              </a:lnSpc>
              <a:spcBef>
                <a:spcPts val="0"/>
              </a:spcBef>
              <a:spcAft>
                <a:spcPts val="0"/>
              </a:spcAft>
              <a:buNone/>
            </a:pPr>
            <a:r>
              <a:rPr b="0" i="0" lang="en-US" sz="1300">
                <a:solidFill>
                  <a:srgbClr val="5B6378"/>
                </a:solidFill>
                <a:latin typeface="Calibri"/>
                <a:ea typeface="Calibri"/>
                <a:cs typeface="Calibri"/>
                <a:sym typeface="Calibri"/>
              </a:rPr>
              <a:t>Network tab shows an opaque command stack. Wrapper-ID typos fail silently.</a:t>
            </a:r>
            <a:endParaRPr/>
          </a:p>
        </p:txBody>
      </p:sp>
      <p:sp>
        <p:nvSpPr>
          <p:cNvPr id="344" name="Google Shape;344;p39"/>
          <p:cNvSpPr/>
          <p:nvPr/>
        </p:nvSpPr>
        <p:spPr>
          <a:xfrm>
            <a:off x="6231636" y="1974760"/>
            <a:ext cx="5317200" cy="1371600"/>
          </a:xfrm>
          <a:prstGeom prst="roundRect">
            <a:avLst>
              <a:gd fmla="val 6000" name="adj"/>
            </a:avLst>
          </a:prstGeom>
          <a:solidFill>
            <a:srgbClr val="FBE4DF"/>
          </a:solidFill>
          <a:ln>
            <a:noFill/>
          </a:ln>
        </p:spPr>
        <p:txBody>
          <a:bodyPr anchorCtr="0" anchor="ctr" bIns="146300" lIns="201150" spcFirstLastPara="1" rIns="201150" wrap="square" tIns="146300">
            <a:noAutofit/>
          </a:bodyPr>
          <a:lstStyle/>
          <a:p>
            <a:pPr indent="0" lvl="0" marL="0" marR="0" rtl="0" algn="l">
              <a:spcBef>
                <a:spcPts val="0"/>
              </a:spcBef>
              <a:spcAft>
                <a:spcPts val="0"/>
              </a:spcAft>
              <a:buNone/>
            </a:pPr>
            <a:r>
              <a:rPr b="1" i="0" lang="en-US" sz="1300">
                <a:solidFill>
                  <a:srgbClr val="F26351"/>
                </a:solidFill>
                <a:latin typeface="Courier New"/>
                <a:ea typeface="Courier New"/>
                <a:cs typeface="Courier New"/>
                <a:sym typeface="Courier New"/>
              </a:rPr>
              <a:t>HTMX</a:t>
            </a:r>
            <a:endParaRPr/>
          </a:p>
          <a:p>
            <a:pPr indent="0" lvl="0" marL="0" marR="0" rtl="0" algn="l">
              <a:lnSpc>
                <a:spcPct val="115000"/>
              </a:lnSpc>
              <a:spcBef>
                <a:spcPts val="0"/>
              </a:spcBef>
              <a:spcAft>
                <a:spcPts val="0"/>
              </a:spcAft>
              <a:buNone/>
            </a:pPr>
            <a:r>
              <a:rPr b="0" i="0" lang="en-US" sz="1300">
                <a:solidFill>
                  <a:srgbClr val="5B6378"/>
                </a:solidFill>
                <a:latin typeface="Calibri"/>
                <a:ea typeface="Calibri"/>
                <a:cs typeface="Calibri"/>
                <a:sym typeface="Calibri"/>
              </a:rPr>
              <a:t>Network tab shows the literal HTML that got inserted. What you see is what you got.</a:t>
            </a:r>
            <a:endParaRPr/>
          </a:p>
        </p:txBody>
      </p:sp>
      <p:sp>
        <p:nvSpPr>
          <p:cNvPr id="345" name="Google Shape;345;p39"/>
          <p:cNvSpPr txBox="1"/>
          <p:nvPr/>
        </p:nvSpPr>
        <p:spPr>
          <a:xfrm>
            <a:off x="640080" y="3757839"/>
            <a:ext cx="5486400" cy="2310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500">
                <a:solidFill>
                  <a:srgbClr val="5B6378"/>
                </a:solidFill>
                <a:latin typeface="Calibri"/>
                <a:ea typeface="Calibri"/>
                <a:cs typeface="Calibri"/>
                <a:sym typeface="Calibri"/>
              </a:rPr>
              <a:t>PROGRESSIVE ENHANCEMENT</a:t>
            </a:r>
            <a:endParaRPr b="1"/>
          </a:p>
        </p:txBody>
      </p:sp>
      <p:sp>
        <p:nvSpPr>
          <p:cNvPr id="346" name="Google Shape;346;p39"/>
          <p:cNvSpPr txBox="1"/>
          <p:nvPr/>
        </p:nvSpPr>
        <p:spPr>
          <a:xfrm>
            <a:off x="640080" y="4123600"/>
            <a:ext cx="10908900" cy="5664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None/>
            </a:pPr>
            <a:r>
              <a:rPr b="0" i="0" lang="en-US" sz="1600">
                <a:solidFill>
                  <a:srgbClr val="5B6378"/>
                </a:solidFill>
                <a:latin typeface="Calibri"/>
                <a:ea typeface="Calibri"/>
                <a:cs typeface="Calibri"/>
                <a:sym typeface="Calibri"/>
              </a:rPr>
              <a:t>Both layer JS onto a real form/link element the same way. Honestly? Close to a wash — neither gets tested with JS off in most real projects.</a:t>
            </a:r>
            <a:endParaRP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1" name="Shape 351"/>
        <p:cNvGrpSpPr/>
        <p:nvPr/>
      </p:nvGrpSpPr>
      <p:grpSpPr>
        <a:xfrm>
          <a:off x="0" y="0"/>
          <a:ext cx="0" cy="0"/>
          <a:chOff x="0" y="0"/>
          <a:chExt cx="0" cy="0"/>
        </a:xfrm>
      </p:grpSpPr>
      <p:sp>
        <p:nvSpPr>
          <p:cNvPr id="352" name="Google Shape;352;p40"/>
          <p:cNvSpPr txBox="1"/>
          <p:nvPr>
            <p:ph type="title"/>
          </p:nvPr>
        </p:nvSpPr>
        <p:spPr>
          <a:xfrm>
            <a:off x="603650" y="726275"/>
            <a:ext cx="10750200" cy="738600"/>
          </a:xfrm>
          <a:prstGeom prst="rect">
            <a:avLst/>
          </a:prstGeom>
          <a:noFill/>
          <a:ln>
            <a:noFill/>
          </a:ln>
        </p:spPr>
        <p:txBody>
          <a:bodyPr anchorCtr="0" anchor="ctr" bIns="45700" lIns="91425" spcFirstLastPara="1" rIns="91425" wrap="square" tIns="45700">
            <a:normAutofit/>
          </a:bodyPr>
          <a:lstStyle/>
          <a:p>
            <a:pPr indent="0" lvl="0" marL="0" rtl="0" algn="ctr">
              <a:lnSpc>
                <a:spcPct val="90000"/>
              </a:lnSpc>
              <a:spcBef>
                <a:spcPts val="0"/>
              </a:spcBef>
              <a:spcAft>
                <a:spcPts val="0"/>
              </a:spcAft>
              <a:buClr>
                <a:srgbClr val="23325D"/>
              </a:buClr>
              <a:buSzPts val="3200"/>
              <a:buFont typeface="Calibri"/>
              <a:buNone/>
            </a:pPr>
            <a:r>
              <a:rPr lang="en-US" sz="3000">
                <a:solidFill>
                  <a:srgbClr val="23325D"/>
                </a:solidFill>
              </a:rPr>
              <a:t>The verdict, side by side</a:t>
            </a:r>
            <a:endParaRPr sz="4200"/>
          </a:p>
        </p:txBody>
      </p:sp>
      <p:graphicFrame>
        <p:nvGraphicFramePr>
          <p:cNvPr id="353" name="Google Shape;353;p40"/>
          <p:cNvGraphicFramePr/>
          <p:nvPr/>
        </p:nvGraphicFramePr>
        <p:xfrm>
          <a:off x="640080" y="1920240"/>
          <a:ext cx="3000000" cy="3000000"/>
        </p:xfrm>
        <a:graphic>
          <a:graphicData uri="http://schemas.openxmlformats.org/drawingml/2006/table">
            <a:tbl>
              <a:tblPr bandRow="1" firstRow="1">
                <a:noFill/>
                <a:tableStyleId>{82BA0FA9-774D-4D84-A5C6-C2667BA39461}</a:tableStyleId>
              </a:tblPr>
              <a:tblGrid>
                <a:gridCol w="2790625"/>
                <a:gridCol w="4059075"/>
                <a:gridCol w="4059075"/>
              </a:tblGrid>
              <a:tr h="502925">
                <a:tc>
                  <a:txBody>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a:txBody>
                  <a:tcPr marT="45725" marB="45725" marR="91450" marL="91450" anchor="ctr">
                    <a:solidFill>
                      <a:srgbClr val="23325D"/>
                    </a:solidFill>
                  </a:tcPr>
                </a:tc>
                <a:tc>
                  <a:txBody>
                    <a:bodyPr/>
                    <a:lstStyle/>
                    <a:p>
                      <a:pPr indent="0" lvl="0" marL="0" marR="0" rtl="0" algn="l">
                        <a:spcBef>
                          <a:spcPts val="0"/>
                        </a:spcBef>
                        <a:spcAft>
                          <a:spcPts val="0"/>
                        </a:spcAft>
                        <a:buNone/>
                      </a:pPr>
                      <a:r>
                        <a:rPr b="1" i="0" lang="en-US" sz="1400">
                          <a:solidFill>
                            <a:srgbClr val="FFFFFF"/>
                          </a:solidFill>
                          <a:latin typeface="Calibri"/>
                          <a:ea typeface="Calibri"/>
                          <a:cs typeface="Calibri"/>
                          <a:sym typeface="Calibri"/>
                        </a:rPr>
                        <a:t>Ajax API</a:t>
                      </a:r>
                      <a:endParaRPr/>
                    </a:p>
                  </a:txBody>
                  <a:tcPr marT="45725" marB="45725" marR="91450" marL="91450" anchor="ctr">
                    <a:solidFill>
                      <a:srgbClr val="23325D"/>
                    </a:solidFill>
                  </a:tcPr>
                </a:tc>
                <a:tc>
                  <a:txBody>
                    <a:bodyPr/>
                    <a:lstStyle/>
                    <a:p>
                      <a:pPr indent="0" lvl="0" marL="0" marR="0" rtl="0" algn="l">
                        <a:spcBef>
                          <a:spcPts val="0"/>
                        </a:spcBef>
                        <a:spcAft>
                          <a:spcPts val="0"/>
                        </a:spcAft>
                        <a:buNone/>
                      </a:pPr>
                      <a:r>
                        <a:rPr b="1" i="0" lang="en-US" sz="1400">
                          <a:solidFill>
                            <a:srgbClr val="FFFFFF"/>
                          </a:solidFill>
                          <a:latin typeface="Calibri"/>
                          <a:ea typeface="Calibri"/>
                          <a:cs typeface="Calibri"/>
                          <a:sym typeface="Calibri"/>
                        </a:rPr>
                        <a:t>HTMX</a:t>
                      </a:r>
                      <a:endParaRPr/>
                    </a:p>
                  </a:txBody>
                  <a:tcPr marT="45725" marB="45725" marR="91450" marL="91450" anchor="ctr">
                    <a:solidFill>
                      <a:srgbClr val="23325D"/>
                    </a:solidFill>
                  </a:tcPr>
                </a:tc>
              </a:tr>
              <a:tr h="502925">
                <a:tc>
                  <a:txBody>
                    <a:bodyPr/>
                    <a:lstStyle/>
                    <a:p>
                      <a:pPr indent="0" lvl="0" marL="0" marR="0" rtl="0" algn="l">
                        <a:spcBef>
                          <a:spcPts val="0"/>
                        </a:spcBef>
                        <a:spcAft>
                          <a:spcPts val="0"/>
                        </a:spcAft>
                        <a:buNone/>
                      </a:pPr>
                      <a:r>
                        <a:rPr b="1" i="0" lang="en-US" sz="1350">
                          <a:solidFill>
                            <a:srgbClr val="F26351"/>
                          </a:solidFill>
                          <a:latin typeface="Calibri"/>
                          <a:ea typeface="Calibri"/>
                          <a:cs typeface="Calibri"/>
                          <a:sym typeface="Calibri"/>
                        </a:rPr>
                        <a:t>DX</a:t>
                      </a:r>
                      <a:endParaRPr/>
                    </a:p>
                  </a:txBody>
                  <a:tcPr marT="45725" marB="45725" marR="91450" marL="91450" anchor="ctr">
                    <a:solidFill>
                      <a:srgbClr val="FFFFFF"/>
                    </a:solidFill>
                  </a:tcPr>
                </a:tc>
                <a:tc>
                  <a:txBody>
                    <a:bodyPr/>
                    <a:lstStyle/>
                    <a:p>
                      <a:pPr indent="0" lvl="0" marL="0" marR="0" rtl="0" algn="l">
                        <a:spcBef>
                          <a:spcPts val="0"/>
                        </a:spcBef>
                        <a:spcAft>
                          <a:spcPts val="0"/>
                        </a:spcAft>
                        <a:buNone/>
                      </a:pPr>
                      <a:r>
                        <a:rPr b="0" i="0" lang="en-US" sz="1350">
                          <a:solidFill>
                            <a:srgbClr val="5B6378"/>
                          </a:solidFill>
                          <a:latin typeface="Calibri"/>
                          <a:ea typeface="Calibri"/>
                          <a:cs typeface="Calibri"/>
                          <a:sym typeface="Calibri"/>
                        </a:rPr>
                        <a:t>More ceremony, native Form API integration</a:t>
                      </a:r>
                      <a:endParaRPr/>
                    </a:p>
                  </a:txBody>
                  <a:tcPr marT="45725" marB="45725" marR="91450" marL="91450" anchor="ctr">
                    <a:solidFill>
                      <a:srgbClr val="FFFFFF"/>
                    </a:solidFill>
                  </a:tcPr>
                </a:tc>
                <a:tc>
                  <a:txBody>
                    <a:bodyPr/>
                    <a:lstStyle/>
                    <a:p>
                      <a:pPr indent="0" lvl="0" marL="0" marR="0" rtl="0" algn="l">
                        <a:spcBef>
                          <a:spcPts val="0"/>
                        </a:spcBef>
                        <a:spcAft>
                          <a:spcPts val="0"/>
                        </a:spcAft>
                        <a:buNone/>
                      </a:pPr>
                      <a:r>
                        <a:rPr b="0" i="0" lang="en-US" sz="1350">
                          <a:solidFill>
                            <a:srgbClr val="5B6378"/>
                          </a:solidFill>
                          <a:latin typeface="Calibri"/>
                          <a:ea typeface="Calibri"/>
                          <a:cs typeface="Calibri"/>
                          <a:sym typeface="Calibri"/>
                        </a:rPr>
                        <a:t>Less ceremony, state management is on you</a:t>
                      </a:r>
                      <a:endParaRPr/>
                    </a:p>
                  </a:txBody>
                  <a:tcPr marT="45725" marB="45725" marR="91450" marL="91450" anchor="ctr">
                    <a:solidFill>
                      <a:srgbClr val="FFFFFF"/>
                    </a:solidFill>
                  </a:tcPr>
                </a:tc>
              </a:tr>
              <a:tr h="502925">
                <a:tc>
                  <a:txBody>
                    <a:bodyPr/>
                    <a:lstStyle/>
                    <a:p>
                      <a:pPr indent="0" lvl="0" marL="0" marR="0" rtl="0" algn="l">
                        <a:spcBef>
                          <a:spcPts val="0"/>
                        </a:spcBef>
                        <a:spcAft>
                          <a:spcPts val="0"/>
                        </a:spcAft>
                        <a:buNone/>
                      </a:pPr>
                      <a:r>
                        <a:rPr b="1" i="0" lang="en-US" sz="1350">
                          <a:solidFill>
                            <a:srgbClr val="F26351"/>
                          </a:solidFill>
                          <a:latin typeface="Calibri"/>
                          <a:ea typeface="Calibri"/>
                          <a:cs typeface="Calibri"/>
                          <a:sym typeface="Calibri"/>
                        </a:rPr>
                        <a:t>Performance</a:t>
                      </a:r>
                      <a:endParaRPr/>
                    </a:p>
                  </a:txBody>
                  <a:tcPr marT="45725" marB="45725" marR="91450" marL="91450" anchor="ctr">
                    <a:solidFill>
                      <a:srgbClr val="EAF6FC"/>
                    </a:solidFill>
                  </a:tcPr>
                </a:tc>
                <a:tc>
                  <a:txBody>
                    <a:bodyPr/>
                    <a:lstStyle/>
                    <a:p>
                      <a:pPr indent="0" lvl="0" marL="0" marR="0" rtl="0" algn="l">
                        <a:spcBef>
                          <a:spcPts val="0"/>
                        </a:spcBef>
                        <a:spcAft>
                          <a:spcPts val="0"/>
                        </a:spcAft>
                        <a:buNone/>
                      </a:pPr>
                      <a:r>
                        <a:rPr b="0" i="0" lang="en-US" sz="1350">
                          <a:solidFill>
                            <a:srgbClr val="5B6378"/>
                          </a:solidFill>
                          <a:latin typeface="Calibri"/>
                          <a:ea typeface="Calibri"/>
                          <a:cs typeface="Calibri"/>
                          <a:sym typeface="Calibri"/>
                        </a:rPr>
                        <a:t>Command-stack + behavior reattachment overhead</a:t>
                      </a:r>
                      <a:endParaRPr/>
                    </a:p>
                  </a:txBody>
                  <a:tcPr marT="45725" marB="45725" marR="91450" marL="91450" anchor="ctr">
                    <a:solidFill>
                      <a:srgbClr val="EAF6FC"/>
                    </a:solidFill>
                  </a:tcPr>
                </a:tc>
                <a:tc>
                  <a:txBody>
                    <a:bodyPr/>
                    <a:lstStyle/>
                    <a:p>
                      <a:pPr indent="0" lvl="0" marL="0" marR="0" rtl="0" algn="l">
                        <a:spcBef>
                          <a:spcPts val="0"/>
                        </a:spcBef>
                        <a:spcAft>
                          <a:spcPts val="0"/>
                        </a:spcAft>
                        <a:buNone/>
                      </a:pPr>
                      <a:r>
                        <a:rPr b="0" i="0" lang="en-US" sz="1350">
                          <a:solidFill>
                            <a:srgbClr val="5B6378"/>
                          </a:solidFill>
                          <a:latin typeface="Calibri"/>
                          <a:ea typeface="Calibri"/>
                          <a:cs typeface="Calibri"/>
                          <a:sym typeface="Calibri"/>
                        </a:rPr>
                        <a:t>Small library, HTML-fragment response</a:t>
                      </a:r>
                      <a:endParaRPr/>
                    </a:p>
                  </a:txBody>
                  <a:tcPr marT="45725" marB="45725" marR="91450" marL="91450" anchor="ctr">
                    <a:solidFill>
                      <a:srgbClr val="EAF6FC"/>
                    </a:solidFill>
                  </a:tcPr>
                </a:tc>
              </a:tr>
              <a:tr h="502925">
                <a:tc>
                  <a:txBody>
                    <a:bodyPr/>
                    <a:lstStyle/>
                    <a:p>
                      <a:pPr indent="0" lvl="0" marL="0" marR="0" rtl="0" algn="l">
                        <a:spcBef>
                          <a:spcPts val="0"/>
                        </a:spcBef>
                        <a:spcAft>
                          <a:spcPts val="0"/>
                        </a:spcAft>
                        <a:buNone/>
                      </a:pPr>
                      <a:r>
                        <a:rPr b="1" i="0" lang="en-US" sz="1350">
                          <a:solidFill>
                            <a:srgbClr val="F26351"/>
                          </a:solidFill>
                          <a:latin typeface="Calibri"/>
                          <a:ea typeface="Calibri"/>
                          <a:cs typeface="Calibri"/>
                          <a:sym typeface="Calibri"/>
                        </a:rPr>
                        <a:t>Debugging</a:t>
                      </a:r>
                      <a:endParaRPr/>
                    </a:p>
                  </a:txBody>
                  <a:tcPr marT="45725" marB="45725" marR="91450" marL="91450" anchor="ctr">
                    <a:solidFill>
                      <a:srgbClr val="FFFFFF"/>
                    </a:solidFill>
                  </a:tcPr>
                </a:tc>
                <a:tc>
                  <a:txBody>
                    <a:bodyPr/>
                    <a:lstStyle/>
                    <a:p>
                      <a:pPr indent="0" lvl="0" marL="0" marR="0" rtl="0" algn="l">
                        <a:spcBef>
                          <a:spcPts val="0"/>
                        </a:spcBef>
                        <a:spcAft>
                          <a:spcPts val="0"/>
                        </a:spcAft>
                        <a:buNone/>
                      </a:pPr>
                      <a:r>
                        <a:rPr b="0" i="0" lang="en-US" sz="1350">
                          <a:solidFill>
                            <a:srgbClr val="5B6378"/>
                          </a:solidFill>
                          <a:latin typeface="Calibri"/>
                          <a:ea typeface="Calibri"/>
                          <a:cs typeface="Calibri"/>
                          <a:sym typeface="Calibri"/>
                        </a:rPr>
                        <a:t>Opaque command stack, silent failures</a:t>
                      </a:r>
                      <a:endParaRPr/>
                    </a:p>
                  </a:txBody>
                  <a:tcPr marT="45725" marB="45725" marR="91450" marL="91450" anchor="ctr">
                    <a:solidFill>
                      <a:srgbClr val="FFFFFF"/>
                    </a:solidFill>
                  </a:tcPr>
                </a:tc>
                <a:tc>
                  <a:txBody>
                    <a:bodyPr/>
                    <a:lstStyle/>
                    <a:p>
                      <a:pPr indent="0" lvl="0" marL="0" marR="0" rtl="0" algn="l">
                        <a:spcBef>
                          <a:spcPts val="0"/>
                        </a:spcBef>
                        <a:spcAft>
                          <a:spcPts val="0"/>
                        </a:spcAft>
                        <a:buNone/>
                      </a:pPr>
                      <a:r>
                        <a:rPr b="0" i="0" lang="en-US" sz="1350">
                          <a:solidFill>
                            <a:srgbClr val="5B6378"/>
                          </a:solidFill>
                          <a:latin typeface="Calibri"/>
                          <a:ea typeface="Calibri"/>
                          <a:cs typeface="Calibri"/>
                          <a:sym typeface="Calibri"/>
                        </a:rPr>
                        <a:t>Transparent — see the actual HTML</a:t>
                      </a:r>
                      <a:endParaRPr/>
                    </a:p>
                  </a:txBody>
                  <a:tcPr marT="45725" marB="45725" marR="91450" marL="91450" anchor="ctr">
                    <a:solidFill>
                      <a:srgbClr val="FFFFFF"/>
                    </a:solidFill>
                  </a:tcPr>
                </a:tc>
              </a:tr>
              <a:tr h="502925">
                <a:tc>
                  <a:txBody>
                    <a:bodyPr/>
                    <a:lstStyle/>
                    <a:p>
                      <a:pPr indent="0" lvl="0" marL="0" marR="0" rtl="0" algn="l">
                        <a:spcBef>
                          <a:spcPts val="0"/>
                        </a:spcBef>
                        <a:spcAft>
                          <a:spcPts val="0"/>
                        </a:spcAft>
                        <a:buNone/>
                      </a:pPr>
                      <a:r>
                        <a:rPr b="0" i="1" lang="en-US" sz="1350">
                          <a:solidFill>
                            <a:srgbClr val="9AA3B5"/>
                          </a:solidFill>
                          <a:latin typeface="Calibri"/>
                          <a:ea typeface="Calibri"/>
                          <a:cs typeface="Calibri"/>
                          <a:sym typeface="Calibri"/>
                        </a:rPr>
                        <a:t>Progressive enhancement</a:t>
                      </a:r>
                      <a:endParaRPr/>
                    </a:p>
                  </a:txBody>
                  <a:tcPr marT="45725" marB="45725" marR="91450" marL="91450" anchor="ctr">
                    <a:solidFill>
                      <a:srgbClr val="EAF6FC"/>
                    </a:solidFill>
                  </a:tcPr>
                </a:tc>
                <a:tc gridSpan="2">
                  <a:txBody>
                    <a:bodyPr/>
                    <a:lstStyle/>
                    <a:p>
                      <a:pPr indent="0" lvl="0" marL="0" marR="0" rtl="0" algn="l">
                        <a:spcBef>
                          <a:spcPts val="0"/>
                        </a:spcBef>
                        <a:spcAft>
                          <a:spcPts val="0"/>
                        </a:spcAft>
                        <a:buNone/>
                      </a:pPr>
                      <a:r>
                        <a:rPr b="0" i="1" lang="en-US" sz="1350">
                          <a:solidFill>
                            <a:srgbClr val="9AA3B5"/>
                          </a:solidFill>
                          <a:latin typeface="Calibri"/>
                          <a:ea typeface="Calibri"/>
                          <a:cs typeface="Calibri"/>
                          <a:sym typeface="Calibri"/>
                        </a:rPr>
                        <a:t>Built on the same fallback pattern in both — rarely tested either way</a:t>
                      </a:r>
                      <a:endParaRPr/>
                    </a:p>
                  </a:txBody>
                  <a:tcPr marT="45725" marB="45725" marR="91450" marL="91450" anchor="ctr">
                    <a:solidFill>
                      <a:srgbClr val="EAF6FC"/>
                    </a:solidFill>
                  </a:tcPr>
                </a:tc>
                <a:tc hMerge="1"/>
              </a:tr>
            </a:tbl>
          </a:graphicData>
        </a:graphic>
      </p:graphicFrame>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8" name="Shape 358"/>
        <p:cNvGrpSpPr/>
        <p:nvPr/>
      </p:nvGrpSpPr>
      <p:grpSpPr>
        <a:xfrm>
          <a:off x="0" y="0"/>
          <a:ext cx="0" cy="0"/>
          <a:chOff x="0" y="0"/>
          <a:chExt cx="0" cy="0"/>
        </a:xfrm>
      </p:grpSpPr>
      <p:sp>
        <p:nvSpPr>
          <p:cNvPr id="359" name="Google Shape;359;p41"/>
          <p:cNvSpPr txBox="1"/>
          <p:nvPr>
            <p:ph type="title"/>
          </p:nvPr>
        </p:nvSpPr>
        <p:spPr>
          <a:xfrm>
            <a:off x="553720" y="2575665"/>
            <a:ext cx="10760700" cy="1231800"/>
          </a:xfrm>
          <a:prstGeom prst="rect">
            <a:avLst/>
          </a:prstGeom>
          <a:noFill/>
          <a:ln>
            <a:noFill/>
          </a:ln>
        </p:spPr>
        <p:txBody>
          <a:bodyPr anchorCtr="0" anchor="t" bIns="45700" lIns="91425" spcFirstLastPara="1" rIns="91425" wrap="square" tIns="45700">
            <a:normAutofit/>
          </a:bodyPr>
          <a:lstStyle/>
          <a:p>
            <a:pPr indent="0" lvl="0" marL="0" rtl="0" algn="l">
              <a:lnSpc>
                <a:spcPct val="90000"/>
              </a:lnSpc>
              <a:spcBef>
                <a:spcPts val="0"/>
              </a:spcBef>
              <a:spcAft>
                <a:spcPts val="0"/>
              </a:spcAft>
              <a:buClr>
                <a:srgbClr val="FFFFFF"/>
              </a:buClr>
              <a:buSzPts val="3200"/>
              <a:buFont typeface="Calibri"/>
              <a:buNone/>
            </a:pPr>
            <a:r>
              <a:rPr b="1" i="0" lang="en-US" sz="3200">
                <a:solidFill>
                  <a:srgbClr val="FFFFFF"/>
                </a:solidFill>
                <a:latin typeface="Calibri"/>
                <a:ea typeface="Calibri"/>
                <a:cs typeface="Calibri"/>
                <a:sym typeface="Calibri"/>
              </a:rPr>
              <a:t>Pick the tool for the job, not the trend.</a:t>
            </a:r>
            <a:endParaRPr/>
          </a:p>
        </p:txBody>
      </p:sp>
      <p:sp>
        <p:nvSpPr>
          <p:cNvPr id="360" name="Google Shape;360;p41"/>
          <p:cNvSpPr txBox="1"/>
          <p:nvPr>
            <p:ph idx="1" type="body"/>
          </p:nvPr>
        </p:nvSpPr>
        <p:spPr>
          <a:xfrm>
            <a:off x="553715" y="3271975"/>
            <a:ext cx="10760700" cy="1371600"/>
          </a:xfrm>
          <a:prstGeom prst="rect">
            <a:avLst/>
          </a:prstGeom>
          <a:noFill/>
          <a:ln>
            <a:noFill/>
          </a:ln>
        </p:spPr>
        <p:txBody>
          <a:bodyPr anchorCtr="0" anchor="t" bIns="45700" lIns="91425" spcFirstLastPara="1" rIns="91425" wrap="square" tIns="45700">
            <a:normAutofit/>
          </a:bodyPr>
          <a:lstStyle/>
          <a:p>
            <a:pPr indent="0" lvl="0" marL="0" rtl="0" algn="l">
              <a:lnSpc>
                <a:spcPct val="125000"/>
              </a:lnSpc>
              <a:spcBef>
                <a:spcPts val="0"/>
              </a:spcBef>
              <a:spcAft>
                <a:spcPts val="0"/>
              </a:spcAft>
              <a:buClr>
                <a:srgbClr val="FFC427"/>
              </a:buClr>
              <a:buSzPts val="1800"/>
              <a:buNone/>
            </a:pPr>
            <a:r>
              <a:rPr b="0" i="0" lang="en-US" sz="1800">
                <a:solidFill>
                  <a:srgbClr val="FFC427"/>
                </a:solidFill>
                <a:latin typeface="Calibri"/>
                <a:ea typeface="Calibri"/>
                <a:cs typeface="Calibri"/>
                <a:sym typeface="Calibri"/>
              </a:rPr>
              <a:t>HTMX: where round trips are simple and the UI is a fragment. </a:t>
            </a:r>
            <a:endParaRPr b="0" i="0" sz="1800">
              <a:solidFill>
                <a:srgbClr val="FFC427"/>
              </a:solidFill>
              <a:latin typeface="Calibri"/>
              <a:ea typeface="Calibri"/>
              <a:cs typeface="Calibri"/>
              <a:sym typeface="Calibri"/>
            </a:endParaRPr>
          </a:p>
          <a:p>
            <a:pPr indent="0" lvl="0" marL="0" rtl="0" algn="l">
              <a:lnSpc>
                <a:spcPct val="125000"/>
              </a:lnSpc>
              <a:spcBef>
                <a:spcPts val="0"/>
              </a:spcBef>
              <a:spcAft>
                <a:spcPts val="0"/>
              </a:spcAft>
              <a:buClr>
                <a:srgbClr val="FFC427"/>
              </a:buClr>
              <a:buSzPts val="1800"/>
              <a:buNone/>
            </a:pPr>
            <a:r>
              <a:rPr b="0" i="0" lang="en-US" sz="1800">
                <a:solidFill>
                  <a:srgbClr val="FFC427"/>
                </a:solidFill>
                <a:latin typeface="Calibri"/>
                <a:ea typeface="Calibri"/>
                <a:cs typeface="Calibri"/>
                <a:sym typeface="Calibri"/>
              </a:rPr>
              <a:t>Ajax API</a:t>
            </a:r>
            <a:r>
              <a:rPr lang="en-US" sz="1800">
                <a:solidFill>
                  <a:srgbClr val="FFC427"/>
                </a:solidFill>
              </a:rPr>
              <a:t>: </a:t>
            </a:r>
            <a:r>
              <a:rPr b="0" i="0" lang="en-US" sz="1800">
                <a:solidFill>
                  <a:srgbClr val="FFC427"/>
                </a:solidFill>
                <a:latin typeface="Calibri"/>
                <a:ea typeface="Calibri"/>
                <a:cs typeface="Calibri"/>
                <a:sym typeface="Calibri"/>
              </a:rPr>
              <a:t>where you need genuine multi-step state. This isn't a replace-everything story.</a:t>
            </a:r>
            <a:endParaRPr/>
          </a:p>
        </p:txBody>
      </p:sp>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5" name="Shape 365"/>
        <p:cNvGrpSpPr/>
        <p:nvPr/>
      </p:nvGrpSpPr>
      <p:grpSpPr>
        <a:xfrm>
          <a:off x="0" y="0"/>
          <a:ext cx="0" cy="0"/>
          <a:chOff x="0" y="0"/>
          <a:chExt cx="0" cy="0"/>
        </a:xfrm>
      </p:grpSpPr>
      <p:sp>
        <p:nvSpPr>
          <p:cNvPr id="366" name="Google Shape;366;p42"/>
          <p:cNvSpPr txBox="1"/>
          <p:nvPr>
            <p:ph idx="1" type="body"/>
          </p:nvPr>
        </p:nvSpPr>
        <p:spPr>
          <a:xfrm>
            <a:off x="887095" y="2679065"/>
            <a:ext cx="10835640" cy="1499870"/>
          </a:xfrm>
          <a:prstGeom prst="rect">
            <a:avLst/>
          </a:prstGeom>
          <a:noFill/>
          <a:ln>
            <a:noFill/>
          </a:ln>
        </p:spPr>
        <p:txBody>
          <a:bodyPr anchorCtr="0" anchor="t" bIns="45700" lIns="91425" spcFirstLastPara="1" rIns="91425" wrap="square" tIns="45700">
            <a:normAutofit/>
          </a:bodyPr>
          <a:lstStyle/>
          <a:p>
            <a:pPr indent="0" lvl="0" marL="0" rtl="0" algn="l">
              <a:lnSpc>
                <a:spcPct val="130000"/>
              </a:lnSpc>
              <a:spcBef>
                <a:spcPts val="0"/>
              </a:spcBef>
              <a:spcAft>
                <a:spcPts val="0"/>
              </a:spcAft>
              <a:buClr>
                <a:srgbClr val="9AA3B5"/>
              </a:buClr>
              <a:buSzPts val="1800"/>
              <a:buNone/>
            </a:pPr>
            <a:r>
              <a:rPr b="0" i="1" lang="en-US" sz="1800">
                <a:solidFill>
                  <a:srgbClr val="9AA3B5"/>
                </a:solidFill>
                <a:latin typeface="Calibri"/>
                <a:ea typeface="Calibri"/>
                <a:cs typeface="Calibri"/>
                <a:sym typeface="Calibri"/>
              </a:rPr>
              <a:t>PLACEHOLDER — how to introduce HTMX into an existing Drupal project without a rewrite.</a:t>
            </a:r>
            <a:endParaRPr/>
          </a:p>
        </p:txBody>
      </p:sp>
      <p:sp>
        <p:nvSpPr>
          <p:cNvPr id="367" name="Google Shape;367;p42"/>
          <p:cNvSpPr txBox="1"/>
          <p:nvPr/>
        </p:nvSpPr>
        <p:spPr>
          <a:xfrm>
            <a:off x="7589520" y="4297680"/>
            <a:ext cx="3931920" cy="2103120"/>
          </a:xfrm>
          <a:prstGeom prst="rect">
            <a:avLst/>
          </a:prstGeom>
          <a:noFill/>
          <a:ln>
            <a:noFill/>
          </a:ln>
        </p:spPr>
        <p:txBody>
          <a:bodyPr anchorCtr="0" anchor="ctr" bIns="0" lIns="0" spcFirstLastPara="1" rIns="0" wrap="square" tIns="0">
            <a:spAutoFit/>
          </a:bodyPr>
          <a:lstStyle/>
          <a:p>
            <a:pPr indent="0" lvl="0" marL="0" marR="0" rtl="0" algn="r">
              <a:spcBef>
                <a:spcPts val="0"/>
              </a:spcBef>
              <a:spcAft>
                <a:spcPts val="0"/>
              </a:spcAft>
              <a:buNone/>
            </a:pPr>
            <a:r>
              <a:rPr b="1" i="0" lang="en-US" sz="17000">
                <a:solidFill>
                  <a:srgbClr val="FBDAD3"/>
                </a:solidFill>
                <a:latin typeface="Courier New"/>
                <a:ea typeface="Courier New"/>
                <a:cs typeface="Courier New"/>
                <a:sym typeface="Courier New"/>
              </a:rPr>
              <a:t>07</a:t>
            </a:r>
            <a:endParaRPr/>
          </a:p>
        </p:txBody>
      </p:sp>
      <p:sp>
        <p:nvSpPr>
          <p:cNvPr id="368" name="Google Shape;368;p42"/>
          <p:cNvSpPr txBox="1"/>
          <p:nvPr>
            <p:ph type="title"/>
          </p:nvPr>
        </p:nvSpPr>
        <p:spPr>
          <a:xfrm>
            <a:off x="799925" y="1847575"/>
            <a:ext cx="10922700" cy="1086000"/>
          </a:xfrm>
          <a:prstGeom prst="rect">
            <a:avLst/>
          </a:prstGeom>
          <a:noFill/>
          <a:ln>
            <a:noFill/>
          </a:ln>
        </p:spPr>
        <p:txBody>
          <a:bodyPr anchorCtr="0" anchor="t" bIns="45700" lIns="91425" spcFirstLastPara="1" rIns="91425" wrap="square" tIns="45700">
            <a:normAutofit/>
          </a:bodyPr>
          <a:lstStyle/>
          <a:p>
            <a:pPr indent="0" lvl="0" marL="0" rtl="0" algn="l">
              <a:spcBef>
                <a:spcPts val="0"/>
              </a:spcBef>
              <a:spcAft>
                <a:spcPts val="0"/>
              </a:spcAft>
              <a:buClr>
                <a:srgbClr val="23325D"/>
              </a:buClr>
              <a:buSzPts val="3600"/>
              <a:buFont typeface="Calibri"/>
              <a:buNone/>
            </a:pPr>
            <a:r>
              <a:rPr lang="en-US" sz="3600"/>
              <a:t>Incremental Adoption Strategy</a:t>
            </a:r>
            <a:endParaRPr sz="3600"/>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