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slides/slide48.xml" ContentType="application/vnd.openxmlformats-officedocument.presentationml.slide+xml"/>
  <Override PartName="/ppt/slides/slide49.xml" ContentType="application/vnd.openxmlformats-officedocument.presentationml.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s/slide50.xml" ContentType="application/vnd.openxmlformats-officedocument.presentationml.slide+xml"/>
  <Override PartName="/ppt/slides/slide51.xml" ContentType="application/vnd.openxmlformats-officedocument.presentationml.slide+xml"/>
  <Override PartName="/ppt/notesSlides/notesSlide50.xml" ContentType="application/vnd.openxmlformats-officedocument.presentationml.notesSlide+xml"/>
  <Override PartName="/ppt/notesSlides/notesSlide5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5" r:id="rId15"/>
    <p:sldId id="266" r:id="rId16"/>
    <p:sldId id="268" r:id="rId18"/>
    <p:sldId id="269" r:id="rId19"/>
    <p:sldId id="270" r:id="rId20"/>
    <p:sldId id="271" r:id="rId21"/>
    <p:sldId id="303" r:id="rId53"/>
    <p:sldId id="272" r:id="rId22"/>
    <p:sldId id="273" r:id="rId23"/>
    <p:sldId id="274" r:id="rId24"/>
    <p:sldId id="275" r:id="rId25"/>
    <p:sldId id="278" r:id="rId28"/>
    <p:sldId id="280" r:id="rId30"/>
    <p:sldId id="281" r:id="rId31"/>
    <p:sldId id="302" r:id="rId52"/>
    <p:sldId id="282" r:id="rId32"/>
    <p:sldId id="284" r:id="rId34"/>
    <p:sldId id="285" r:id="rId35"/>
    <p:sldId id="288" r:id="rId38"/>
    <p:sldId id="289" r:id="rId39"/>
    <p:sldId id="290" r:id="rId40"/>
    <p:sldId id="305" r:id="rId55"/>
    <p:sldId id="306" r:id="rId56"/>
    <p:sldId id="296" r:id="rId46"/>
    <p:sldId id="297" r:id="rId47"/>
    <p:sldId id="299" r:id="rId49"/>
    <p:sldId id="304" r:id="rId54"/>
    <p:sldId id="301" r:id="rId5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BA0FA9-774D-4D84-A5C6-C2667BA39461}">
  <a:tblStyle styleId="{82BA0FA9-774D-4D84-A5C6-C2667BA3946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5" Type="http://schemas.openxmlformats.org/officeDocument/2006/relationships/slide" Target="slides/slide10.xml"/><Relationship Id="rId16" Type="http://schemas.openxmlformats.org/officeDocument/2006/relationships/slide" Target="slides/slide11.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8" Type="http://schemas.openxmlformats.org/officeDocument/2006/relationships/slide" Target="slides/slide23.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8.xml"/><Relationship Id="rId34" Type="http://schemas.openxmlformats.org/officeDocument/2006/relationships/slide" Target="slides/slide30.xml"/><Relationship Id="rId35" Type="http://schemas.openxmlformats.org/officeDocument/2006/relationships/slide" Target="slides/slide31.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6" Type="http://schemas.openxmlformats.org/officeDocument/2006/relationships/slide" Target="slides/slide42.xml"/><Relationship Id="rId47" Type="http://schemas.openxmlformats.org/officeDocument/2006/relationships/slide" Target="slides/slide43.xml"/><Relationship Id="rId49" Type="http://schemas.openxmlformats.org/officeDocument/2006/relationships/slide" Target="slides/slide45.xml"/><Relationship Id="rId51" Type="http://schemas.openxmlformats.org/officeDocument/2006/relationships/slide" Target="slides/slide47.xml"/><Relationship Id="rId52" Type="http://schemas.openxmlformats.org/officeDocument/2006/relationships/slide" Target="slides/slide27.xml"/>  <Relationship Id="rId53" Type="http://schemas.openxmlformats.org/officeDocument/2006/relationships/slide" Target="slides/slide48.xml"/>
  <Relationship Id="rId54" Type="http://schemas.openxmlformats.org/officeDocument/2006/relationships/slide" Target="slides/slide49.xml"/>
  <Relationship Id="rId55" Type="http://schemas.openxmlformats.org/officeDocument/2006/relationships/slide" Target="slides/slide50.xml"/>
  <Relationship Id="rId56" Type="http://schemas.openxmlformats.org/officeDocument/2006/relationships/slide" Target="slides/slide5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cold - screen already up for the live filter demo. No spoken line yet.</a:t>
            </a:r>
            <a:endParaRPr/>
          </a:p>
        </p:txBody>
      </p:sp>
      <p:sp>
        <p:nvSpPr>
          <p:cNvPr id="49" name="Google Shape;49;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Silent 15-20s clip: a filter on a Drupal listing page updates instantly as you type. No visible reload, no JS file open anywhere. Let it play, then pause on the result.</a:t>
            </a:r>
            <a:endParaRPr/>
          </a:p>
        </p:txBody>
      </p:sp>
      <p:sp>
        <p:nvSpPr>
          <p:cNvPr id="56" name="Google Shape;5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a live filter. No JavaScript file. No Ajax command class. Just HTML.”</a:t>
            </a:r>
            <a:endParaRPr/>
          </a:p>
        </p:txBody>
      </p:sp>
      <p:sp>
        <p:nvSpPr>
          <p:cNvPr id="74" name="Google Shape;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Ruturaj: Hi, I'm Ruturaj - Full Stack Engineer at QED42. Vighnesh: And I'm Vighnesh - Full Stack Drupal Engineer at QED42.</a:t>
            </a:r>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Land the quote with room to breathe.</a:t>
            </a:r>
            <a:endParaRPr/>
          </a:p>
        </p:txBody>
      </p:sp>
      <p:sp>
        <p:nvSpPr>
          <p:cNvPr id="89" name="Google Shape;8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Over the next 35 minutes: why the Ajax API gets painful at scale, HTMX's core idea, and how that idea maps directly onto Drupal's render, routing and caching system. Then we watch it work live. After that, an honest comparison, how to bring this into a project you already have, and where HTMX stands in Drupal core today, plus how you can help.</a:t>
            </a:r>
          </a:p>
        </p:txBody>
      </p:sp>
      <p:sp>
        <p:nvSpPr>
          <p:cNvPr id="95" name="Google Shape;95;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start with where we are today - the Ajax API.</a:t>
            </a:r>
            <a:endParaRPr/>
          </a:p>
        </p:txBody>
      </p:sp>
      <p:sp>
        <p:nvSpPr>
          <p:cNvPr id="118" name="Google Shape;11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Drupal's Ajax API isn't new - it's been part of core in its current form since Drupal 7, unified under a single framework. In Drupal 8 through 11, it was rebuilt on top of Symfony's HttpKernel - AjaxResponse extends Symfony's JsonResponse, and interactions are expressed as a stack of Command objects. It's mature, well-documented, and used everywhere in core - exposed filters, autocomplete, modal dialogs, inline entity forms. This isn't a story about a broken system. It's a story about a system that was the right answer for 2011, and is starting to show its age.</a:t>
            </a:r>
          </a:p>
        </p:txBody>
      </p:sp>
      <p:sp>
        <p:nvSpPr>
          <p:cNvPr id="125" name="Google Shape;125;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Walk through the diagram: user triggers the #ajax event, browser sends an XHR to the callback, server builds an AjaxResponse with commands, drupal.ajax runs each command, the DOM updates and behaviors re-attach.</a:t>
            </a:r>
          </a:p>
        </p:txBody>
      </p:sp>
      <p:sp>
        <p:nvSpPr>
          <p:cNvPr id="150" name="Google Shape;150;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files, two languages, and a wrapper ID string that has to match exactly in both places, or nothing happens - silently.</a:t>
            </a:r>
            <a:endParaRPr/>
          </a:p>
        </p:txBody>
      </p:sp>
      <p:sp>
        <p:nvSpPr>
          <p:cNvPr id="158" name="Google Shape;15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pain points: JS coupling, complexity, maintenance overhead, discoverability.</a:t>
            </a:r>
            <a:endParaRPr/>
          </a:p>
        </p:txBody>
      </p:sp>
      <p:sp>
        <p:nvSpPr>
          <p:cNvPr id="175" name="Google Shape;175;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 once spent 40 minutes in devtools debugging an Ajax response that updated one region but silently failed on another. The bug wasn't in the PHP, and it wasn't in the JS logic - it was a mismatched wrapper ID, one string, defined in a template three directories away from the PHP that built the response. Nothing threw an error. It just... didn't work. Same wrapper ID you just saw in the code - that one string is the whole bug.</a:t>
            </a:r>
          </a:p>
        </p:txBody>
      </p:sp>
      <p:sp>
        <p:nvSpPr>
          <p:cNvPr id="185" name="Google Shape;185;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 what if, instead of a callback, a command class and a wrapper ID to keep in sync for every interaction, the element itself could just describe what it needs - when this changes, fetch this URL, and drop the result here? No command classes, no wrapper-ID matching, no second file to go find. What would that even look like? (pause, slide transition - next section opens with the reveal: That's not a hypothetical. It's called HTMX...)</a:t>
            </a:r>
          </a:p>
        </p:txBody>
      </p:sp>
      <p:sp>
        <p:nvSpPr>
          <p:cNvPr id="193" name="Google Shape;193;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not a hypothetical. It's called HTMX - and it's built on an idea that's actually older than Ajax: hypermedia.</a:t>
            </a:r>
            <a:endParaRPr/>
          </a:p>
        </p:txBody>
      </p:sp>
      <p:sp>
        <p:nvSpPr>
          <p:cNvPr id="202" name="Google Shape;202;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already know hypermedia. Every &lt;a href&gt; and every &lt;form&gt; you've ever written is a hypermedia control - an element that tells the browser what to fetch and where to put the result. HTMX just extends that vocabulary: any element, any event, any HTTP verb, any part of the page as the target.</a:t>
            </a:r>
            <a:endParaRPr/>
          </a:p>
        </p:txBody>
      </p:sp>
      <p:sp>
        <p:nvSpPr>
          <p:cNvPr id="209" name="Google Shape;20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element. Four attributes. The behavior lives right there in the tag - no PHP file to go find, no wrapper ID to keep in sync across two files. The four core attributes: verb (hx-get/post/put/delete), trigger (any DOM event), target (any element), swap (innerHTML, outerHTML, beforeend, afterbegin, and more).</a:t>
            </a:r>
            <a:endParaRPr/>
          </a:p>
        </p:txBody>
      </p:sp>
      <p:sp>
        <p:nvSpPr>
          <p:cNvPr id="217" name="Google Shape;217;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that to the version you saw ten minutes ago: same three participants - user, browser, server - but four steps instead of seven.</a:t>
            </a:r>
            <a:endParaRPr/>
          </a:p>
        </p:txBody>
      </p:sp>
      <p:sp>
        <p:nvSpPr>
          <p:cNvPr id="226" name="Google Shape;22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There's no separate JSON API here, no client-side templating layer reconstructing HTML from data. The server decides what HTML comes back - same as it always has for the initial page load. HTMX isn't a new architecture. It's closing the gap between 'first page load' and 'everything after,' so both work the same way. That's what 'hypermedia-driven' means - the response is the next state of the UI, already rendered. So HTMX gives Drupal back a vocabulary it never actually lost - hypermedia. Next: how that maps onto Drupal's own architecture.</a:t>
            </a:r>
            <a:endParaRPr/>
          </a:p>
        </p:txBody>
      </p:sp>
      <p:sp>
        <p:nvSpPr>
          <p:cNvPr id="235" name="Google Shape;23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HTMX doesn't need anything special from Drupal. It needs three things Drupal already has, and has had for over a decade: routes, render arrays, and cache metadata. Let's map them one at a time.</a:t>
            </a:r>
            <a:endParaRPr/>
          </a:p>
        </p:txBody>
      </p:sp>
      <p:sp>
        <p:nvSpPr>
          <p:cNvPr id="260" name="Google Shape;26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An hx-get URL isn't a special Ajax callback - it's a normal Drupal route with one flag. _htmx_route: TRUE tells Drupal to return just the main content and its assets. Without it, you'd get the whole themed page back. No #ajax property, no form-building context required.</a:t>
            </a:r>
          </a:p>
        </p:txBody>
      </p:sp>
      <p:sp>
        <p:nvSpPr>
          <p:cNvPr id="275" name="Google Shape;275;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controller returns a render array - the same thing every Drupal controller has always returned. Drupal renders it to HTML. HTMX drops that HTML wherever hx-target points. No AjaxResponse, no Commands - the render pipeline was already built to produce exactly this.</a:t>
            </a:r>
            <a:endParaRPr/>
          </a:p>
        </p:txBody>
      </p:sp>
      <p:sp>
        <p:nvSpPr>
          <p:cNvPr id="284" name="Google Shape;2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part that doesn't exist for the Ajax API without extra work: because this is a plain render array, it gets Drupal's caching for free. Cache tags bubble up automatically, cache contexts vary the response correctly. An AjaxResponse built from Commands doesn't sit in that pipeline the same way - you're mostly on your own for caching an Ajax callback response. So: a URL is a route, the HTML is a render array, and caching is #cache tags and contexts - three things Drupal already gives every page. Let's see it work.</a:t>
            </a:r>
            <a:endParaRPr/>
          </a:p>
        </p:txBody>
      </p:sp>
      <p:sp>
        <p:nvSpPr>
          <p:cNvPr id="294" name="Google Shape;294;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[Budget: 8 min - keep it to one combined flow.] [Live demo - build/walk through here] One combined demo covering the dynamic form, filter, and partial update in a single flow, per the session-flow design note.</a:t>
            </a:r>
            <a:endParaRPr/>
          </a:p>
        </p:txBody>
      </p:sp>
      <p:sp>
        <p:nvSpPr>
          <p:cNvPr id="312" name="Google Shape;31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HTMX doesn't win everywhere. Let's put the two side by side across five axes, honestly.</a:t>
            </a:r>
            <a:endParaRPr/>
          </a:p>
        </p:txBody>
      </p:sp>
      <p:sp>
        <p:nvSpPr>
          <p:cNvPr id="320" name="Google Shape;32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DX: the Ajax API is more ceremony, but it's the most proven path for complex multi-step forms and wizards. HTMX is far less ceremony, and since 11.3 Form API can rebuild forms from HTMX requests - but complex multi-step flows are less proven. Performance: an Ajax response is a JSON command stack that core/drupal.ajax runs command by command. HTMX is a ~16kb library and the response is the HTML itself. Drupal.org reports up to 71% less JavaScript loaded for browser-server interactions with native HTMX in 11.3. Debugging: in the Ajax API, the Network tab shows an opaque command stack, and a wrapper-ID typo fails silently. With HTMX, the Network tab shows the literal HTML that got inserted. Caching: an AjaxResponse sits outside the render cache, so you're mostly on your own - HTMX responses are plain render arrays, so cache tags and contexts bubble up automatically, as we saw in the mapping section. Learning curve: the Ajax API is a Drupal-only API; HTMX is standard htmx, documented at htmx.org, so what you learn transfers to any backend. Five axes, side by side. It isn't a clean sweep - the Ajax API still has the edge on complex multi-step forms.</a:t>
            </a:r>
            <a:endParaRPr/>
          </a:p>
        </p:txBody>
      </p:sp>
      <p:sp>
        <p:nvSpPr>
          <p:cNvPr id="350" name="Google Shape;350;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Pick HTMX where round trips are simple and the UI is a fragment. Keep the Ajax API where it already works, and for complex multi-step flows until HTMX patterns there mature. This isn't a replace-everything story. It's a which-tool-for-which-job story. Next: how to actually bring HTMX into a project you already have, without a rewrite.</a:t>
            </a:r>
          </a:p>
        </p:txBody>
      </p:sp>
      <p:sp>
        <p:nvSpPr>
          <p:cNvPr id="357" name="Google Shape;357;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Let's talk about incremental adoption: how to bring HTMX into a project you already have, without a rewrite.</a:t>
            </a:r>
          </a:p>
        </p:txBody>
      </p:sp>
      <p:sp>
        <p:nvSpPr>
          <p:cNvPr id="364" name="Google Shape;36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 where are we today?</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isn't a someday story. HTMX came into core as a dependency in 11.2 and became fully featured in 11.3, as part of an active community initiative, Replace AJAX API with HTMX. Both APIs are running side by side right now, on purpose, while contrib gets time to convert. And the payoff is measurable: drupal.org reports up to 71% less JavaScript loaded for browser-server interactions.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Start at the initiative page on drupal.org: Replace AJAX API with HTMX. From there, the plan issue and its child issues are where core work happens. The contrib module has its own issue queue, and the #htmx channel on Drupal Slack is where the lead collaborators talk almost daily, with coordination meetings every other Thursday, left open for 24 hours so every time zone can join. Entry points: triage issues, convert a #ajax/Command usage to HTMX and report back, write docs/examples, build real-world case studies like this talk. And this isn't waiting on permission - if you're on 11.3, it's already on your site. Go convert one #ajax callback and see how it feels.</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everyone for coming, then open the floor for questions. Backup answers for likely questions are in docs/8-qa-backup.md.</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And on the markup side, since 11.3 you don't have to hand-write hx attributes. Core's Htmx class builds every htmx attribute from PHP - the same four from the cheat sheet - and applies them to a render element. applyTo() also attaches core/drupal.htmx, which loads any CSS and JS the response needs and re-attaches Drupal.behaviors after every swap.</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(Let the section number land.) So what is hypermedia, and why does it matter for Drupal? Let's unpack it.</a:t>
            </a:r>
          </a:p>
        </p:txBody>
      </p:sp>
      <p:sp>
        <p:nvSpPr>
          <p:cNvPr id="364" name="Google Shape;36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Four things to take home. The problem: the Ajax API makes you keep a callback, a command stack and a wrapper ID in sync, and when they drift it fails silently. The idea: HTMX puts the behavior right in the markup, and the server just returns HTML. The fit: HTMX only needs routes, render arrays and cache metadata - Drupal has had all three for over a decade, and since 11.3 core ships an Htmx class to glue them together. The path: build new interactive features with HTMX, leave working Ajax code alone, and go convert one callback to see how it feels. That's it from us.</a:t>
            </a:r>
          </a:p>
        </p:txBody>
      </p:sp>
      <p:sp>
        <p:nvSpPr>
          <p:cNvPr id="364" name="Google Shape;36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Let's make adoption concrete. You don't need a migration plan - you need one small spot and an afternoon. Three steps. One, check: on Drupal 11.3 and up, HTMX is already in core. Nothing to install, no library, no build step. Two, pick one spot: something small and self-contained, like a filter, a dependent dropdown or a load-more button. Three, convert it: swap that one #ajax callback for HTMX, and leave everything else alone. HTMX and #ajax run side by side on the same page, so you can stop after any step and nothing breaks. It's like renovating a house while you live in it: one room at a time.</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step three, using the filter we've followed all talk. On the left, today's Ajax API version: an #ajax array with a callback and a wrapper ID, plus a callback method that builds an AjaxResponse with a ReplaceCommand. On the right, the HTMX version: the Htmx class says get this route, on change, and put the result in #results. Behind it, a normal route with _htmx_route, and a controller that returns a render array. That's the whole migration for one interaction. No command class, no wrapper ID to keep in sync, and because it's a render array, the response is cacheable. Everything on the right, you already saw in the mapping section. And once that works, the rule of thumb: new interactive features, HTMX by default. Existing Ajax code that works, leave it alone. Complex multi-step forms and wizards, keep them on the Ajax API for now. It's a second tool in the same box, not a rewrite.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838200" y="1696085"/>
            <a:ext cx="10833100" cy="140843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325D"/>
              </a:buClr>
              <a:buSzPts val="6000"/>
              <a:buFont typeface="Calibri"/>
              <a:buNone/>
              <a:defRPr b="1" sz="6000">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no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3"/>
          <p:cNvSpPr txBox="1"/>
          <p:nvPr/>
        </p:nvSpPr>
        <p:spPr>
          <a:xfrm>
            <a:off x="328295" y="3268345"/>
            <a:ext cx="11351260" cy="368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838200" y="1825625"/>
            <a:ext cx="10515600" cy="38496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_ 4">
  <p:cSld name="Content _ 4">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5"/>
          <p:cNvSpPr txBox="1"/>
          <p:nvPr>
            <p:ph type="title"/>
          </p:nvPr>
        </p:nvSpPr>
        <p:spPr>
          <a:xfrm>
            <a:off x="553720" y="2269490"/>
            <a:ext cx="10760710" cy="12319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b="1"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593090" y="3501390"/>
            <a:ext cx="10760710" cy="61404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FFC428"/>
              </a:buClr>
              <a:buSzPts val="3200"/>
              <a:buNone/>
              <a:defRPr sz="3200">
                <a:solidFill>
                  <a:srgbClr val="FFC428"/>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6"/>
          <p:cNvSpPr txBox="1"/>
          <p:nvPr>
            <p:ph type="title"/>
          </p:nvPr>
        </p:nvSpPr>
        <p:spPr>
          <a:xfrm>
            <a:off x="887095" y="1533525"/>
            <a:ext cx="10835640" cy="108585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sz="4400">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887095" y="2679065"/>
            <a:ext cx="10835640" cy="14998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7"/>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1414145" y="1825625"/>
            <a:ext cx="9747250" cy="39846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Calibri"/>
                <a:ea typeface="Calibri"/>
                <a:cs typeface="Calibri"/>
                <a:sym typeface="Calibri"/>
              </a:defRPr>
            </a:lvl1pPr>
            <a:lvl2pPr indent="0" lvl="1" marL="0" marR="0" rtl="0" algn="r">
              <a:spcBef>
                <a:spcPts val="0"/>
              </a:spcBef>
              <a:buNone/>
              <a:defRPr b="0" i="0" sz="1200" u="none" cap="none" strike="noStrike">
                <a:solidFill>
                  <a:srgbClr val="757575"/>
                </a:solidFill>
                <a:latin typeface="Calibri"/>
                <a:ea typeface="Calibri"/>
                <a:cs typeface="Calibri"/>
                <a:sym typeface="Calibri"/>
              </a:defRPr>
            </a:lvl2pPr>
            <a:lvl3pPr indent="0" lvl="2" marL="0" marR="0" rtl="0" algn="r">
              <a:spcBef>
                <a:spcPts val="0"/>
              </a:spcBef>
              <a:buNone/>
              <a:defRPr b="0" i="0" sz="1200" u="none" cap="none" strike="noStrike">
                <a:solidFill>
                  <a:srgbClr val="757575"/>
                </a:solidFill>
                <a:latin typeface="Calibri"/>
                <a:ea typeface="Calibri"/>
                <a:cs typeface="Calibri"/>
                <a:sym typeface="Calibri"/>
              </a:defRPr>
            </a:lvl3pPr>
            <a:lvl4pPr indent="0" lvl="3" marL="0" marR="0" rtl="0" algn="r">
              <a:spcBef>
                <a:spcPts val="0"/>
              </a:spcBef>
              <a:buNone/>
              <a:defRPr b="0" i="0" sz="1200" u="none" cap="none" strike="noStrike">
                <a:solidFill>
                  <a:srgbClr val="757575"/>
                </a:solidFill>
                <a:latin typeface="Calibri"/>
                <a:ea typeface="Calibri"/>
                <a:cs typeface="Calibri"/>
                <a:sym typeface="Calibri"/>
              </a:defRPr>
            </a:lvl4pPr>
            <a:lvl5pPr indent="0" lvl="4" marL="0" marR="0" rtl="0" algn="r">
              <a:spcBef>
                <a:spcPts val="0"/>
              </a:spcBef>
              <a:buNone/>
              <a:defRPr b="0" i="0" sz="1200" u="none" cap="none" strike="noStrike">
                <a:solidFill>
                  <a:srgbClr val="757575"/>
                </a:solidFill>
                <a:latin typeface="Calibri"/>
                <a:ea typeface="Calibri"/>
                <a:cs typeface="Calibri"/>
                <a:sym typeface="Calibri"/>
              </a:defRPr>
            </a:lvl5pPr>
            <a:lvl6pPr indent="0" lvl="5" marL="0" marR="0" rtl="0" algn="r">
              <a:spcBef>
                <a:spcPts val="0"/>
              </a:spcBef>
              <a:buNone/>
              <a:defRPr b="0" i="0" sz="1200" u="none" cap="none" strike="noStrike">
                <a:solidFill>
                  <a:srgbClr val="757575"/>
                </a:solidFill>
                <a:latin typeface="Calibri"/>
                <a:ea typeface="Calibri"/>
                <a:cs typeface="Calibri"/>
                <a:sym typeface="Calibri"/>
              </a:defRPr>
            </a:lvl6pPr>
            <a:lvl7pPr indent="0" lvl="6" marL="0" marR="0" rtl="0" algn="r">
              <a:spcBef>
                <a:spcPts val="0"/>
              </a:spcBef>
              <a:buNone/>
              <a:defRPr b="0" i="0" sz="1200" u="none" cap="none" strike="noStrike">
                <a:solidFill>
                  <a:srgbClr val="757575"/>
                </a:solidFill>
                <a:latin typeface="Calibri"/>
                <a:ea typeface="Calibri"/>
                <a:cs typeface="Calibri"/>
                <a:sym typeface="Calibri"/>
              </a:defRPr>
            </a:lvl7pPr>
            <a:lvl8pPr indent="0" lvl="7" marL="0" marR="0" rtl="0" algn="r">
              <a:spcBef>
                <a:spcPts val="0"/>
              </a:spcBef>
              <a:buNone/>
              <a:defRPr b="0" i="0" sz="1200" u="none" cap="none" strike="noStrike">
                <a:solidFill>
                  <a:srgbClr val="757575"/>
                </a:solidFill>
                <a:latin typeface="Calibri"/>
                <a:ea typeface="Calibri"/>
                <a:cs typeface="Calibri"/>
                <a:sym typeface="Calibri"/>
              </a:defRPr>
            </a:lvl8pPr>
            <a:lvl9pPr indent="0" lvl="8" marL="0" marR="0" rtl="0" algn="r">
              <a:spcBef>
                <a:spcPts val="0"/>
              </a:spcBef>
              <a:buNone/>
              <a:defRPr b="0" i="0" sz="1200" u="none" cap="none" strike="noStrike">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drupal.org/community-initiatives/replace-ajax-api-with-htmx"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drupal.org/community-initiatives/replace-ajax-api-with-htmx" TargetMode="External"/><Relationship Id="rId4" Type="http://schemas.openxmlformats.org/officeDocument/2006/relationships/hyperlink" Target="https://www.drupal.org/project/drupal/issues/3404409" TargetMode="External"/><Relationship Id="rId5" Type="http://schemas.openxmlformats.org/officeDocument/2006/relationships/hyperlink" Target="https://www.drupal.org/project/htmx/issue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9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99"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8"/>
          <p:cNvSpPr txBox="1"/>
          <p:nvPr/>
        </p:nvSpPr>
        <p:spPr>
          <a:xfrm>
            <a:off x="640080" y="4846320"/>
            <a:ext cx="5486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B6378"/>
                </a:solidFill>
                <a:latin typeface="Calibri"/>
                <a:ea typeface="Calibri"/>
                <a:cs typeface="Calibri"/>
                <a:sym typeface="Calibri"/>
              </a:rPr>
              <a:t>Ruturaj Chaubey – </a:t>
            </a:r>
            <a:r>
              <a:rPr i="1" lang="en-US" sz="1200">
                <a:solidFill>
                  <a:srgbClr val="9AA3B5"/>
                </a:solidFill>
                <a:latin typeface="Calibri"/>
                <a:ea typeface="Calibri"/>
                <a:cs typeface="Calibri"/>
                <a:sym typeface="Calibri"/>
              </a:rPr>
              <a:t>Full Stack Engineer</a:t>
            </a:r>
            <a:r>
              <a:rPr b="0" i="1" lang="en-US" sz="1200" u="none" cap="none" strike="noStrike">
                <a:solidFill>
                  <a:srgbClr val="9AA3B5"/>
                </a:solidFill>
                <a:latin typeface="Calibri"/>
                <a:ea typeface="Calibri"/>
                <a:cs typeface="Calibri"/>
                <a:sym typeface="Calibri"/>
              </a:rPr>
              <a:t> </a:t>
            </a:r>
            <a:r>
              <a:rPr i="1" lang="en-US" sz="1200">
                <a:solidFill>
                  <a:srgbClr val="9AA3B5"/>
                </a:solidFill>
                <a:latin typeface="Calibri"/>
                <a:ea typeface="Calibri"/>
                <a:cs typeface="Calibri"/>
                <a:sym typeface="Calibri"/>
              </a:rPr>
              <a:t>@ QED42</a:t>
            </a:r>
            <a:endParaRPr i="1" sz="1200">
              <a:solidFill>
                <a:srgbClr val="9AA3B5"/>
              </a:solidFill>
              <a:latin typeface="Calibri"/>
              <a:ea typeface="Calibri"/>
              <a:cs typeface="Calibri"/>
              <a:sym typeface="Calibri"/>
            </a:endParaRPr>
          </a:p>
          <a:p>
            <a:pPr indent="0" lvl="0" marL="0" rtl="0" algn="l">
              <a:spcBef>
                <a:spcPts val="0"/>
              </a:spcBef>
              <a:spcAft>
                <a:spcPts val="0"/>
              </a:spcAft>
              <a:buNone/>
            </a:pPr>
            <a:r>
              <a:rPr lang="en-US" sz="1200">
                <a:solidFill>
                  <a:srgbClr val="5B6378"/>
                </a:solidFill>
                <a:latin typeface="Calibri"/>
                <a:ea typeface="Calibri"/>
                <a:cs typeface="Calibri"/>
                <a:sym typeface="Calibri"/>
              </a:rPr>
              <a:t>Vighnesh</a:t>
            </a:r>
            <a:r>
              <a:rPr lang="en-US" sz="1200">
                <a:solidFill>
                  <a:srgbClr val="5B6378"/>
                </a:solidFill>
                <a:latin typeface="Calibri"/>
                <a:ea typeface="Calibri"/>
                <a:cs typeface="Calibri"/>
                <a:sym typeface="Calibri"/>
              </a:rPr>
              <a:t> Sadagopal – </a:t>
            </a:r>
            <a:r>
              <a:rPr i="1" lang="en-US" sz="1200">
                <a:solidFill>
                  <a:srgbClr val="9AA3B5"/>
                </a:solidFill>
                <a:latin typeface="Calibri"/>
                <a:ea typeface="Calibri"/>
                <a:cs typeface="Calibri"/>
                <a:sym typeface="Calibri"/>
              </a:rPr>
              <a:t>Full Stack Drupal Engineer @ QED42</a:t>
            </a:r>
            <a:endParaRPr i="1" sz="1200">
              <a:solidFill>
                <a:srgbClr val="9AA3B5"/>
              </a:solidFill>
              <a:latin typeface="Calibri"/>
              <a:ea typeface="Calibri"/>
              <a:cs typeface="Calibri"/>
              <a:sym typeface="Calibri"/>
            </a:endParaRPr>
          </a:p>
        </p:txBody>
      </p:sp>
      <p:sp>
        <p:nvSpPr>
          <p:cNvPr id="52" name="Google Shape;52;p8"/>
          <p:cNvSpPr txBox="1"/>
          <p:nvPr>
            <p:ph type="ctrTitle"/>
          </p:nvPr>
        </p:nvSpPr>
        <p:spPr>
          <a:xfrm>
            <a:off x="640075" y="1009650"/>
            <a:ext cx="8677800" cy="1339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3325D"/>
              </a:buClr>
              <a:buSzPct val="100000"/>
              <a:buFont typeface="Calibri"/>
              <a:buNone/>
            </a:pPr>
            <a:r>
              <a:rPr lang="en-US" sz="5400">
                <a:solidFill>
                  <a:srgbClr val="23325D"/>
                </a:solidFill>
              </a:rPr>
              <a:t>From Ajax API to HTMX: Evol</a:t>
            </a:r>
            <a:r>
              <a:rPr lang="en-US" sz="5400"/>
              <a:t>ving Drupal Interactions</a:t>
            </a:r>
            <a:r>
              <a:rPr lang="en-US" sz="5400">
                <a:solidFill>
                  <a:srgbClr val="23325D"/>
                </a:solidFil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9"/>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59" name="Google Shape;59;p9"/>
          <p:cNvSpPr txBox="1"/>
          <p:nvPr/>
        </p:nvSpPr>
        <p:spPr>
          <a:xfrm>
            <a:off x="640080" y="457200"/>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LIVE</a:t>
            </a:r>
            <a:endParaRPr/>
          </a:p>
        </p:txBody>
      </p:sp>
      <p:sp>
        <p:nvSpPr>
          <p:cNvPr id="60" name="Google Shape;60;p9"/>
          <p:cNvSpPr/>
          <p:nvPr/>
        </p:nvSpPr>
        <p:spPr>
          <a:xfrm>
            <a:off x="2804160" y="1828800"/>
            <a:ext cx="6583680" cy="3657600"/>
          </a:xfrm>
          <a:prstGeom prst="roundRect">
            <a:avLst>
              <a:gd fmla="val 5000" name="adj"/>
            </a:avLst>
          </a:prstGeom>
          <a:solidFill>
            <a:srgbClr val="0C0E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 name="Google Shape;61;p9"/>
          <p:cNvSpPr/>
          <p:nvPr/>
        </p:nvSpPr>
        <p:spPr>
          <a:xfrm>
            <a:off x="2804160" y="1828800"/>
            <a:ext cx="6583680" cy="457200"/>
          </a:xfrm>
          <a:prstGeom prst="rect">
            <a:avLst/>
          </a:prstGeom>
          <a:solidFill>
            <a:srgbClr val="1A1E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 name="Google Shape;62;p9"/>
          <p:cNvSpPr/>
          <p:nvPr/>
        </p:nvSpPr>
        <p:spPr>
          <a:xfrm>
            <a:off x="29870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 name="Google Shape;63;p9"/>
          <p:cNvSpPr/>
          <p:nvPr/>
        </p:nvSpPr>
        <p:spPr>
          <a:xfrm>
            <a:off x="32156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 name="Google Shape;64;p9"/>
          <p:cNvSpPr/>
          <p:nvPr/>
        </p:nvSpPr>
        <p:spPr>
          <a:xfrm>
            <a:off x="34442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 name="Google Shape;65;p9"/>
          <p:cNvSpPr/>
          <p:nvPr/>
        </p:nvSpPr>
        <p:spPr>
          <a:xfrm>
            <a:off x="3718560" y="1920240"/>
            <a:ext cx="5394960" cy="274320"/>
          </a:xfrm>
          <a:prstGeom prst="rect">
            <a:avLst/>
          </a:prstGeom>
          <a:solidFill>
            <a:srgbClr val="12141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9AA3B5"/>
                </a:solidFill>
                <a:latin typeface="Courier New"/>
                <a:ea typeface="Courier New"/>
                <a:cs typeface="Courier New"/>
                <a:sym typeface="Courier New"/>
              </a:rPr>
              <a:t>yoursite.example/articles</a:t>
            </a:r>
            <a:endParaRPr/>
          </a:p>
        </p:txBody>
      </p:sp>
      <p:sp>
        <p:nvSpPr>
          <p:cNvPr id="66" name="Google Shape;66;p9"/>
          <p:cNvSpPr/>
          <p:nvPr/>
        </p:nvSpPr>
        <p:spPr>
          <a:xfrm>
            <a:off x="3078480" y="2560320"/>
            <a:ext cx="2011680" cy="365760"/>
          </a:xfrm>
          <a:prstGeom prst="roundRect">
            <a:avLst>
              <a:gd fmla="val 20000" name="adj"/>
            </a:avLst>
          </a:prstGeom>
          <a:solidFill>
            <a:srgbClr val="FFFFFF"/>
          </a:solidFill>
          <a:ln cap="flat" cmpd="sng" w="12700">
            <a:solidFill>
              <a:srgbClr val="CCCC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23325D"/>
                </a:solidFill>
                <a:latin typeface="Calibri"/>
                <a:ea typeface="Calibri"/>
                <a:cs typeface="Calibri"/>
                <a:sym typeface="Calibri"/>
              </a:rPr>
              <a:t>Filter by: Recipes ▾</a:t>
            </a:r>
            <a:endParaRPr/>
          </a:p>
        </p:txBody>
      </p:sp>
      <p:sp>
        <p:nvSpPr>
          <p:cNvPr id="67" name="Google Shape;67;p9"/>
          <p:cNvSpPr/>
          <p:nvPr/>
        </p:nvSpPr>
        <p:spPr>
          <a:xfrm>
            <a:off x="3078480" y="3200400"/>
            <a:ext cx="512064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 name="Google Shape;68;p9"/>
          <p:cNvSpPr/>
          <p:nvPr/>
        </p:nvSpPr>
        <p:spPr>
          <a:xfrm>
            <a:off x="3078480" y="3566160"/>
            <a:ext cx="420624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 name="Google Shape;69;p9"/>
          <p:cNvSpPr/>
          <p:nvPr/>
        </p:nvSpPr>
        <p:spPr>
          <a:xfrm>
            <a:off x="3078480" y="3931920"/>
            <a:ext cx="292608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 name="Google Shape;70;p9"/>
          <p:cNvSpPr txBox="1"/>
          <p:nvPr/>
        </p:nvSpPr>
        <p:spPr>
          <a:xfrm>
            <a:off x="2804160" y="5623560"/>
            <a:ext cx="658368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9AA3B5"/>
                </a:solidFill>
                <a:latin typeface="Calibri"/>
                <a:ea typeface="Calibri"/>
                <a:cs typeface="Calibri"/>
                <a:sym typeface="Calibri"/>
              </a:rPr>
              <a:t>mockup — live demo plays here in the browser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0"/>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77" name="Google Shape;77;p10"/>
          <p:cNvSpPr txBox="1"/>
          <p:nvPr/>
        </p:nvSpPr>
        <p:spPr>
          <a:xfrm>
            <a:off x="822960" y="2011680"/>
            <a:ext cx="10515600" cy="310896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23325D"/>
                </a:solidFill>
                <a:latin typeface="Calibri"/>
                <a:ea typeface="Calibri"/>
                <a:cs typeface="Calibri"/>
                <a:sym typeface="Calibri"/>
              </a:rPr>
              <a:t>That's a live filter.</a:t>
            </a:r>
            <a:endParaRPr/>
          </a:p>
          <a:p>
            <a:pPr indent="0" lvl="0" marL="0" marR="0" rtl="0" algn="l">
              <a:spcBef>
                <a:spcPts val="600"/>
              </a:spcBef>
              <a:spcAft>
                <a:spcPts val="0"/>
              </a:spcAft>
              <a:buNone/>
            </a:pPr>
            <a:r>
              <a:rPr b="0" i="0" lang="en-US" sz="4000" u="none" cap="none" strike="noStrike">
                <a:solidFill>
                  <a:srgbClr val="9AA3B5"/>
                </a:solidFill>
                <a:latin typeface="Calibri"/>
                <a:ea typeface="Calibri"/>
                <a:cs typeface="Calibri"/>
                <a:sym typeface="Calibri"/>
              </a:rPr>
              <a:t>No JavaScript file.</a:t>
            </a:r>
            <a:endParaRPr/>
          </a:p>
          <a:p>
            <a:pPr indent="0" lvl="0" marL="0" marR="0" rtl="0" algn="l">
              <a:spcBef>
                <a:spcPts val="600"/>
              </a:spcBef>
              <a:spcAft>
                <a:spcPts val="0"/>
              </a:spcAft>
              <a:buNone/>
            </a:pPr>
            <a:r>
              <a:rPr b="0" i="0" lang="en-US" sz="4000" u="none" cap="none" strike="noStrike">
                <a:solidFill>
                  <a:srgbClr val="9AA3B5"/>
                </a:solidFill>
                <a:latin typeface="Calibri"/>
                <a:ea typeface="Calibri"/>
                <a:cs typeface="Calibri"/>
                <a:sym typeface="Calibri"/>
              </a:rPr>
              <a:t>No Ajax command class.</a:t>
            </a:r>
            <a:endParaRPr/>
          </a:p>
          <a:p>
            <a:pPr indent="0" lvl="0" marL="0" marR="0" rtl="0" algn="l">
              <a:spcBef>
                <a:spcPts val="600"/>
              </a:spcBef>
              <a:spcAft>
                <a:spcPts val="0"/>
              </a:spcAft>
              <a:buNone/>
            </a:pPr>
            <a:r>
              <a:rPr b="1" i="0" lang="en-US" sz="4000" u="none" cap="none" strike="noStrike">
                <a:solidFill>
                  <a:srgbClr val="23325D"/>
                </a:solidFill>
                <a:latin typeface="Calibri"/>
                <a:ea typeface="Calibri"/>
                <a:cs typeface="Calibri"/>
                <a:sym typeface="Calibri"/>
              </a:rPr>
              <a:t>Just HTML.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4000"/>
              <a:buFont typeface="Calibri"/>
              <a:buNone/>
            </a:pPr>
            <a:r>
              <a:rPr lang="en-US" sz="4000">
                <a:solidFill>
                  <a:srgbClr val="23325D"/>
                </a:solidFill>
              </a:rPr>
              <a:t>Who's talking</a:t>
            </a:r>
            <a:endParaRPr/>
          </a:p>
        </p:txBody>
      </p:sp>
      <p:sp>
        <p:nvSpPr>
          <p:cNvPr id="85" name="Avatar RC"/>
          <p:cNvSpPr/>
          <p:nvPr/>
        </p:nvSpPr>
        <p:spPr>
          <a:xfrm>
            <a:off x="838200" y="2286000"/>
            <a:ext cx="1463040" cy="1463040"/>
          </a:xfrm>
          <a:prstGeom prst="ellipse">
            <a:avLst/>
          </a:prstGeom>
          <a:solidFill>
            <a:srgbClr val="202C5E"/>
          </a:solidFill>
          <a:ln>
            <a:noFill/>
          </a:ln>
        </p:spPr>
        <p:txBody>
          <a:bodyPr anchor="ctr" wrap="square">
            <a:noAutofit/>
          </a:bodyPr>
          <a:lstStyle/>
          <a:p>
            <a:pPr algn="ctr">
              <a:buNone/>
            </a:pPr>
            <a:r>
              <a:rPr b="1" lang="en-US" sz="3200">
                <a:solidFill>
                  <a:srgbClr val="FFFFFF"/>
                </a:solidFill>
                <a:latin typeface="Calibri"/>
                <a:ea typeface="Calibri"/>
                <a:cs typeface="Calibri"/>
                <a:sym typeface="Calibri"/>
              </a:rPr>
              <a:t>RC</a:t>
            </a:r>
          </a:p>
        </p:txBody>
      </p:sp>
      <p:sp>
        <p:nvSpPr>
          <p:cNvPr id="86" name="Speaker Ruturaj Chaubey"/>
          <p:cNvSpPr txBox="1"/>
          <p:nvPr/>
        </p:nvSpPr>
        <p:spPr>
          <a:xfrm>
            <a:off x="2529840" y="2286000"/>
            <a:ext cx="3566160" cy="1463040"/>
          </a:xfrm>
          <a:prstGeom prst="rect">
            <a:avLst/>
          </a:prstGeom>
          <a:noFill/>
        </p:spPr>
        <p:txBody>
          <a:bodyPr anchor="ctr" wrap="square" lIns="0" rIns="0" tIns="0" bIns="0">
            <a:normAutofit/>
          </a:bodyPr>
          <a:lstStyle/>
          <a:p>
            <a:pPr algn="l">
              <a:buNone/>
            </a:pPr>
            <a:r>
              <a:rPr b="1" lang="en-US" sz="2800">
                <a:solidFill>
                  <a:srgbClr val="23325D"/>
                </a:solidFill>
                <a:latin typeface="Calibri"/>
                <a:ea typeface="Calibri"/>
                <a:cs typeface="Calibri"/>
                <a:sym typeface="Calibri"/>
              </a:rPr>
              <a:t>Ruturaj Chaubey</a:t>
            </a:r>
          </a:p>
          <a:p>
            <a:pPr algn="l">
              <a:spcBef>
                <a:spcPts val="600"/>
              </a:spcBef>
              <a:buNone/>
            </a:pPr>
            <a:r>
              <a:rPr lang="en-US" sz="1800">
                <a:solidFill>
                  <a:srgbClr val="5B6378"/>
                </a:solidFill>
                <a:latin typeface="Calibri"/>
                <a:ea typeface="Calibri"/>
                <a:cs typeface="Calibri"/>
                <a:sym typeface="Calibri"/>
              </a:rPr>
              <a:t>Full Stack Engineer @ QED42</a:t>
            </a:r>
          </a:p>
        </p:txBody>
      </p:sp>
      <p:sp>
        <p:nvSpPr>
          <p:cNvPr id="87" name="Avatar VS"/>
          <p:cNvSpPr/>
          <p:nvPr/>
        </p:nvSpPr>
        <p:spPr>
          <a:xfrm>
            <a:off x="6309360" y="2286000"/>
            <a:ext cx="1463040" cy="1463040"/>
          </a:xfrm>
          <a:prstGeom prst="ellipse">
            <a:avLst/>
          </a:prstGeom>
          <a:solidFill>
            <a:srgbClr val="202C5E"/>
          </a:solidFill>
          <a:ln>
            <a:noFill/>
          </a:ln>
        </p:spPr>
        <p:txBody>
          <a:bodyPr anchor="ctr" wrap="square">
            <a:noAutofit/>
          </a:bodyPr>
          <a:lstStyle/>
          <a:p>
            <a:pPr algn="ctr">
              <a:buNone/>
            </a:pPr>
            <a:r>
              <a:rPr b="1" lang="en-US" sz="3200">
                <a:solidFill>
                  <a:srgbClr val="FFFFFF"/>
                </a:solidFill>
                <a:latin typeface="Calibri"/>
                <a:ea typeface="Calibri"/>
                <a:cs typeface="Calibri"/>
                <a:sym typeface="Calibri"/>
              </a:rPr>
              <a:t>VS</a:t>
            </a:r>
          </a:p>
        </p:txBody>
      </p:sp>
      <p:sp>
        <p:nvSpPr>
          <p:cNvPr id="88" name="Speaker Vighnesh Sadagopal"/>
          <p:cNvSpPr txBox="1"/>
          <p:nvPr/>
        </p:nvSpPr>
        <p:spPr>
          <a:xfrm>
            <a:off x="8001000" y="2286000"/>
            <a:ext cx="3566160" cy="1463040"/>
          </a:xfrm>
          <a:prstGeom prst="rect">
            <a:avLst/>
          </a:prstGeom>
          <a:noFill/>
        </p:spPr>
        <p:txBody>
          <a:bodyPr anchor="ctr" wrap="square" lIns="0" rIns="0" tIns="0" bIns="0">
            <a:normAutofit/>
          </a:bodyPr>
          <a:lstStyle/>
          <a:p>
            <a:pPr algn="l">
              <a:buNone/>
            </a:pPr>
            <a:r>
              <a:rPr b="1" lang="en-US" sz="2800">
                <a:solidFill>
                  <a:srgbClr val="23325D"/>
                </a:solidFill>
                <a:latin typeface="Calibri"/>
                <a:ea typeface="Calibri"/>
                <a:cs typeface="Calibri"/>
                <a:sym typeface="Calibri"/>
              </a:rPr>
              <a:t>Vighnesh Sadagopal</a:t>
            </a:r>
          </a:p>
          <a:p>
            <a:pPr algn="l">
              <a:spcBef>
                <a:spcPts val="600"/>
              </a:spcBef>
              <a:buNone/>
            </a:pPr>
            <a:r>
              <a:rPr lang="en-US" sz="1800">
                <a:solidFill>
                  <a:srgbClr val="5B6378"/>
                </a:solidFill>
                <a:latin typeface="Calibri"/>
                <a:ea typeface="Calibri"/>
                <a:cs typeface="Calibri"/>
                <a:sym typeface="Calibri"/>
              </a:rPr>
              <a:t>Full Stack Drupal Engineer @ QED42</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2"/>
          <p:cNvSpPr txBox="1"/>
          <p:nvPr>
            <p:ph type="title"/>
          </p:nvPr>
        </p:nvSpPr>
        <p:spPr>
          <a:xfrm>
            <a:off x="553720" y="2813090"/>
            <a:ext cx="10760700" cy="12318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FFFFFF"/>
              </a:buClr>
              <a:buSzPct val="100000"/>
              <a:buFont typeface="Calibri"/>
              <a:buNone/>
            </a:pPr>
            <a:r>
              <a:rPr b="1" i="0" lang="en-US" sz="3400">
                <a:solidFill>
                  <a:srgbClr val="FFFFFF"/>
                </a:solidFill>
                <a:latin typeface="Calibri"/>
                <a:ea typeface="Calibri"/>
                <a:cs typeface="Calibri"/>
                <a:sym typeface="Calibri"/>
              </a:rPr>
              <a:t>“The future of Drupal UX </a:t>
            </a:r>
            <a:r>
              <a:rPr b="1" i="0" lang="en-US" sz="3400">
                <a:solidFill>
                  <a:srgbClr val="FFFFFF"/>
                </a:solidFill>
                <a:latin typeface="Calibri"/>
                <a:ea typeface="Calibri"/>
                <a:cs typeface="Calibri"/>
                <a:sym typeface="Calibri"/>
              </a:rPr>
              <a:t>isn</a:t>
            </a:r>
            <a:r>
              <a:rPr b="1" i="0" lang="en-US" sz="3400">
                <a:solidFill>
                  <a:srgbClr val="FFFFFF"/>
                </a:solidFill>
                <a:latin typeface="Calibri"/>
                <a:ea typeface="Calibri"/>
                <a:cs typeface="Calibri"/>
                <a:sym typeface="Calibri"/>
              </a:rPr>
              <a:t>'t more</a:t>
            </a:r>
            <a:r>
              <a:rPr b="1" i="0" lang="en-US" sz="3400">
                <a:solidFill>
                  <a:srgbClr val="FFFFFF"/>
                </a:solidFill>
                <a:latin typeface="Calibri"/>
                <a:ea typeface="Calibri"/>
                <a:cs typeface="Calibri"/>
                <a:sym typeface="Calibri"/>
              </a:rPr>
              <a:t> </a:t>
            </a:r>
            <a:r>
              <a:rPr b="1" i="0" lang="en-US" sz="3400">
                <a:solidFill>
                  <a:srgbClr val="FFFFFF"/>
                </a:solidFill>
                <a:latin typeface="Calibri"/>
                <a:ea typeface="Calibri"/>
                <a:cs typeface="Calibri"/>
                <a:sym typeface="Calibri"/>
              </a:rPr>
              <a:t>JS.</a:t>
            </a:r>
            <a:endParaRPr/>
          </a:p>
          <a:p>
            <a:pPr indent="0" lvl="0" marL="0" rtl="0" algn="ctr">
              <a:lnSpc>
                <a:spcPct val="90000"/>
              </a:lnSpc>
              <a:spcBef>
                <a:spcPts val="0"/>
              </a:spcBef>
              <a:spcAft>
                <a:spcPts val="0"/>
              </a:spcAft>
              <a:buClr>
                <a:schemeClr val="lt1"/>
              </a:buClr>
              <a:buSzPct val="100000"/>
              <a:buFont typeface="Calibri"/>
              <a:buNone/>
            </a:pPr>
            <a:r>
              <a:rPr b="1" lang="en-US" sz="6000">
                <a:solidFill>
                  <a:schemeClr val="lt1"/>
                </a:solidFill>
              </a:rPr>
              <a:t>It's smarter HTML</a:t>
            </a:r>
            <a:r>
              <a:rPr lang="en-US"/>
              <a:t>,</a:t>
            </a:r>
            <a:r>
              <a:rPr b="1" lang="en-US" sz="6000">
                <a:solidFill>
                  <a:schemeClr val="lt1"/>
                </a:solidFill>
              </a:rPr>
              <a:t> with HTMX.”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3"/>
          <p:cNvSpPr txBox="1"/>
          <p:nvPr>
            <p:ph type="title"/>
          </p:nvPr>
        </p:nvSpPr>
        <p:spPr>
          <a:xfrm>
            <a:off x="604075" y="365050"/>
            <a:ext cx="10713600" cy="753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Where we're headed</a:t>
            </a:r>
            <a:endParaRPr/>
          </a:p>
        </p:txBody>
      </p:sp>
      <p:sp>
        <p:nvSpPr>
          <p:cNvPr id="98" name="Google Shape;98;p13"/>
          <p:cNvSpPr/>
          <p:nvPr/>
        </p:nvSpPr>
        <p:spPr>
          <a:xfrm>
            <a:off x="603504" y="132588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02</a:t>
            </a:r>
            <a:endParaRPr/>
          </a:p>
        </p:txBody>
      </p:sp>
      <p:sp>
        <p:nvSpPr>
          <p:cNvPr id="99" name="Google Shape;99;p13"/>
          <p:cNvSpPr txBox="1"/>
          <p:nvPr/>
        </p:nvSpPr>
        <p:spPr>
          <a:xfrm>
            <a:off x="1325880" y="1444752"/>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Why the Ajax API gets painful at scale</a:t>
            </a:r>
            <a:endParaRPr/>
          </a:p>
        </p:txBody>
      </p:sp>
      <p:cxnSp>
        <p:nvCxnSpPr>
          <p:cNvPr id="100" name="Google Shape;100;p13"/>
          <p:cNvCxnSpPr/>
          <p:nvPr/>
        </p:nvCxnSpPr>
        <p:spPr>
          <a:xfrm>
            <a:off x="640080" y="1892807"/>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1" name="Google Shape;101;p13"/>
          <p:cNvSpPr txBox="1"/>
          <p:nvPr/>
        </p:nvSpPr>
        <p:spPr>
          <a:xfrm>
            <a:off x="1325880" y="208483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HTMX's core idea</a:t>
            </a:r>
            <a:endParaRPr/>
          </a:p>
        </p:txBody>
      </p:sp>
      <p:cxnSp>
        <p:nvCxnSpPr>
          <p:cNvPr id="102" name="Google Shape;102;p13"/>
          <p:cNvCxnSpPr/>
          <p:nvPr/>
        </p:nvCxnSpPr>
        <p:spPr>
          <a:xfrm>
            <a:off x="640080" y="253288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3" name="Google Shape;103;p13"/>
          <p:cNvSpPr txBox="1"/>
          <p:nvPr/>
        </p:nvSpPr>
        <p:spPr>
          <a:xfrm>
            <a:off x="1325880" y="272491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Mapping that idea onto Drupal's render, routing &amp; caching</a:t>
            </a:r>
            <a:endParaRPr/>
          </a:p>
        </p:txBody>
      </p:sp>
      <p:cxnSp>
        <p:nvCxnSpPr>
          <p:cNvPr id="104" name="Google Shape;104;p13"/>
          <p:cNvCxnSpPr/>
          <p:nvPr/>
        </p:nvCxnSpPr>
        <p:spPr>
          <a:xfrm>
            <a:off x="640080" y="317296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5" name="Google Shape;105;p13"/>
          <p:cNvSpPr txBox="1"/>
          <p:nvPr/>
        </p:nvSpPr>
        <p:spPr>
          <a:xfrm>
            <a:off x="1325880" y="336499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Live: a form, a filter, a partial update — barely any JS</a:t>
            </a:r>
            <a:endParaRPr/>
          </a:p>
        </p:txBody>
      </p:sp>
      <p:cxnSp>
        <p:nvCxnSpPr>
          <p:cNvPr id="106" name="Google Shape;106;p13"/>
          <p:cNvCxnSpPr/>
          <p:nvPr/>
        </p:nvCxnSpPr>
        <p:spPr>
          <a:xfrm>
            <a:off x="640080" y="381304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7" name="Google Shape;107;p13"/>
          <p:cNvSpPr txBox="1"/>
          <p:nvPr/>
        </p:nvSpPr>
        <p:spPr>
          <a:xfrm>
            <a:off x="1325880" y="4005072"/>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Ajax API vs HTMX, compared honestly</a:t>
            </a:r>
            <a:endParaRPr/>
          </a:p>
        </p:txBody>
      </p:sp>
      <p:cxnSp>
        <p:nvCxnSpPr>
          <p:cNvPr id="108" name="Google Shape;108;p13"/>
          <p:cNvCxnSpPr/>
          <p:nvPr/>
        </p:nvCxnSpPr>
        <p:spPr>
          <a:xfrm>
            <a:off x="640080" y="445312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9" name="Google Shape;109;p13"/>
          <p:cNvSpPr txBox="1"/>
          <p:nvPr/>
        </p:nvSpPr>
        <p:spPr>
          <a:xfrm>
            <a:off x="1325880" y="4645152"/>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Bringing it into a project you already have</a:t>
            </a:r>
            <a:endParaRPr/>
          </a:p>
        </p:txBody>
      </p:sp>
      <p:sp>
        <p:nvSpPr>
          <p:cNvPr id="110" name="Google Shape;110;p13"/>
          <p:cNvSpPr/>
          <p:nvPr/>
        </p:nvSpPr>
        <p:spPr>
          <a:xfrm>
            <a:off x="603504" y="196596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3</a:t>
            </a:r>
            <a:endParaRPr/>
          </a:p>
        </p:txBody>
      </p:sp>
      <p:sp>
        <p:nvSpPr>
          <p:cNvPr id="111" name="Google Shape;111;p13"/>
          <p:cNvSpPr/>
          <p:nvPr/>
        </p:nvSpPr>
        <p:spPr>
          <a:xfrm>
            <a:off x="603504" y="2606039"/>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4</a:t>
            </a:r>
            <a:endParaRPr/>
          </a:p>
        </p:txBody>
      </p:sp>
      <p:sp>
        <p:nvSpPr>
          <p:cNvPr id="112" name="Google Shape;112;p13"/>
          <p:cNvSpPr/>
          <p:nvPr/>
        </p:nvSpPr>
        <p:spPr>
          <a:xfrm>
            <a:off x="603504" y="324612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5</a:t>
            </a:r>
            <a:endParaRPr/>
          </a:p>
        </p:txBody>
      </p:sp>
      <p:sp>
        <p:nvSpPr>
          <p:cNvPr id="113" name="Google Shape;113;p13"/>
          <p:cNvSpPr/>
          <p:nvPr/>
        </p:nvSpPr>
        <p:spPr>
          <a:xfrm>
            <a:off x="603504" y="388620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6</a:t>
            </a:r>
            <a:endParaRPr/>
          </a:p>
        </p:txBody>
      </p:sp>
      <p:sp>
        <p:nvSpPr>
          <p:cNvPr id="114" name="Google Shape;114;p13"/>
          <p:cNvSpPr/>
          <p:nvPr/>
        </p:nvSpPr>
        <p:spPr>
          <a:xfrm>
            <a:off x="603504" y="452628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7</a:t>
            </a:r>
            <a:endParaRPr/>
          </a:p>
        </p:txBody>
      </p:sp>
      <p:sp>
        <p:nvSpPr>
          <p:cNvPr id="3001" name="Shape 3001"/>
          <p:cNvSpPr/>
          <p:nvPr/>
        </p:nvSpPr>
        <p:spPr>
          <a:xfrm>
            <a:off x="603504" y="5166359"/>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8</a:t>
            </a:r>
            <a:endParaRPr/>
          </a:p>
        </p:txBody>
      </p:sp>
      <p:sp>
        <p:nvSpPr>
          <p:cNvPr id="3002" name="Shape 3002"/>
          <p:cNvSpPr txBox="1"/>
          <p:nvPr/>
        </p:nvSpPr>
        <p:spPr>
          <a:xfrm>
            <a:off x="1325880" y="528523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Where HTMX stands in Drupal core today, and how to contribute</a:t>
            </a:r>
            <a:endParaRPr/>
          </a:p>
        </p:txBody>
      </p:sp>
      <p:cxnSp>
        <p:nvCxnSpPr>
          <p:cNvPr id="3003" name="Shape 3003"/>
          <p:cNvCxnSpPr/>
          <p:nvPr/>
        </p:nvCxnSpPr>
        <p:spPr>
          <a:xfrm>
            <a:off x="640080" y="5093208"/>
            <a:ext cx="10515600" cy="0"/>
          </a:xfrm>
          <a:prstGeom prst="straightConnector1">
            <a:avLst/>
          </a:prstGeom>
          <a:noFill/>
          <a:ln cap="flat" cmpd="sng" w="9525">
            <a:solidFill>
              <a:srgbClr val="E3E6EC"/>
            </a:solidFill>
            <a:prstDash val="solid"/>
            <a:miter lim="8000"/>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4"/>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3325D"/>
              </a:buClr>
              <a:buSzPts val="3600"/>
              <a:buFont typeface="Calibri"/>
              <a:buNone/>
            </a:pPr>
            <a:r>
              <a:rPr lang="en-US" sz="3600">
                <a:solidFill>
                  <a:srgbClr val="23325D"/>
                </a:solidFill>
              </a:rPr>
              <a:t>Ajax API: Evolution &amp; Pain Points</a:t>
            </a:r>
            <a:endParaRPr/>
          </a:p>
        </p:txBody>
      </p:sp>
      <p:sp>
        <p:nvSpPr>
          <p:cNvPr id="121" name="Google Shape;121;p14"/>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u="none" cap="none" strike="noStrike">
                <a:solidFill>
                  <a:srgbClr val="DDE3EF"/>
                </a:solidFill>
                <a:latin typeface="Courier New"/>
                <a:ea typeface="Courier New"/>
                <a:cs typeface="Courier New"/>
                <a:sym typeface="Courier New"/>
              </a:rPr>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530175" y="600650"/>
            <a:ext cx="105156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000"/>
              <a:buFont typeface="Calibri"/>
              <a:buNone/>
            </a:pPr>
            <a:r>
              <a:rPr lang="en-US" sz="3000">
                <a:solidFill>
                  <a:srgbClr val="23325D"/>
                </a:solidFill>
              </a:rPr>
              <a:t>Ajax API: Evolution &amp; Pain Points</a:t>
            </a:r>
            <a:endParaRPr/>
          </a:p>
        </p:txBody>
      </p:sp>
      <p:sp>
        <p:nvSpPr>
          <p:cNvPr id="128" name="Google Shape;128;p15"/>
          <p:cNvSpPr txBox="1"/>
          <p:nvPr/>
        </p:nvSpPr>
        <p:spPr>
          <a:xfrm>
            <a:off x="640080" y="327891"/>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A BRIEF HISTORY</a:t>
            </a:r>
            <a:endParaRPr/>
          </a:p>
        </p:txBody>
      </p:sp>
      <p:sp>
        <p:nvSpPr>
          <p:cNvPr id="129" name="Google Shape;129;p15"/>
          <p:cNvSpPr txBox="1"/>
          <p:nvPr/>
        </p:nvSpPr>
        <p:spPr>
          <a:xfrm>
            <a:off x="640080" y="1783080"/>
            <a:ext cx="20116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D6DAC"/>
                </a:solidFill>
                <a:latin typeface="Courier New"/>
                <a:ea typeface="Courier New"/>
                <a:cs typeface="Courier New"/>
                <a:sym typeface="Courier New"/>
              </a:rPr>
              <a:t>DRUPAL 7</a:t>
            </a:r>
            <a:endParaRPr/>
          </a:p>
        </p:txBody>
      </p:sp>
      <p:sp>
        <p:nvSpPr>
          <p:cNvPr id="130" name="Google Shape;130;p15"/>
          <p:cNvSpPr txBox="1"/>
          <p:nvPr/>
        </p:nvSpPr>
        <p:spPr>
          <a:xfrm>
            <a:off x="640080" y="2103120"/>
            <a:ext cx="10908900" cy="541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600" u="none" cap="none" strike="noStrike">
                <a:solidFill>
                  <a:srgbClr val="23325D"/>
                </a:solidFill>
                <a:latin typeface="Calibri"/>
                <a:ea typeface="Calibri"/>
                <a:cs typeface="Calibri"/>
                <a:sym typeface="Calibri"/>
              </a:rPr>
              <a:t>Ajax API unified into a single core framework</a:t>
            </a:r>
            <a:endParaRPr b="0" i="0" sz="1600" u="none" cap="none" strike="noStrike">
              <a:solidFill>
                <a:srgbClr val="23325D"/>
              </a:solidFill>
              <a:latin typeface="Calibri"/>
              <a:ea typeface="Calibri"/>
              <a:cs typeface="Calibri"/>
              <a:sym typeface="Calibri"/>
            </a:endParaRPr>
          </a:p>
          <a:p>
            <a:pPr indent="0" lvl="0" marL="0" marR="0" rtl="0" algn="l">
              <a:lnSpc>
                <a:spcPct val="120000"/>
              </a:lnSpc>
              <a:spcBef>
                <a:spcPts val="0"/>
              </a:spcBef>
              <a:spcAft>
                <a:spcPts val="0"/>
              </a:spcAft>
              <a:buNone/>
            </a:pPr>
            <a:r>
              <a:t/>
            </a:r>
            <a:endParaRPr sz="1600">
              <a:solidFill>
                <a:srgbClr val="23325D"/>
              </a:solidFill>
              <a:latin typeface="Calibri"/>
              <a:ea typeface="Calibri"/>
              <a:cs typeface="Calibri"/>
              <a:sym typeface="Calibri"/>
            </a:endParaRPr>
          </a:p>
        </p:txBody>
      </p:sp>
      <p:sp>
        <p:nvSpPr>
          <p:cNvPr id="131" name="Google Shape;131;p15"/>
          <p:cNvSpPr txBox="1"/>
          <p:nvPr/>
        </p:nvSpPr>
        <p:spPr>
          <a:xfrm>
            <a:off x="640075" y="2892375"/>
            <a:ext cx="2011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D6DAC"/>
                </a:solidFill>
                <a:latin typeface="Courier New"/>
                <a:ea typeface="Courier New"/>
                <a:cs typeface="Courier New"/>
                <a:sym typeface="Courier New"/>
              </a:rPr>
              <a:t>DRUPAL 8 → 11</a:t>
            </a:r>
            <a:endParaRPr/>
          </a:p>
        </p:txBody>
      </p:sp>
      <p:sp>
        <p:nvSpPr>
          <p:cNvPr id="132" name="Google Shape;132;p15"/>
          <p:cNvSpPr txBox="1"/>
          <p:nvPr/>
        </p:nvSpPr>
        <p:spPr>
          <a:xfrm>
            <a:off x="640075" y="3212421"/>
            <a:ext cx="10908900" cy="24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600" u="none" cap="none" strike="noStrike">
                <a:solidFill>
                  <a:srgbClr val="23325D"/>
                </a:solidFill>
                <a:latin typeface="Calibri"/>
                <a:ea typeface="Calibri"/>
                <a:cs typeface="Calibri"/>
                <a:sym typeface="Calibri"/>
              </a:rPr>
              <a:t>Rebuilt on Symfony's HttpKernel</a:t>
            </a:r>
            <a:r>
              <a:rPr lang="en-US" sz="1600">
                <a:solidFill>
                  <a:srgbClr val="23325D"/>
                </a:solidFill>
                <a:latin typeface="Calibri"/>
                <a:ea typeface="Calibri"/>
                <a:cs typeface="Calibri"/>
                <a:sym typeface="Calibri"/>
              </a:rPr>
              <a:t>, </a:t>
            </a:r>
            <a:r>
              <a:rPr b="0" i="0" lang="en-US" sz="1600" u="none" cap="none" strike="noStrike">
                <a:solidFill>
                  <a:srgbClr val="23325D"/>
                </a:solidFill>
                <a:latin typeface="Calibri"/>
                <a:ea typeface="Calibri"/>
                <a:cs typeface="Calibri"/>
                <a:sym typeface="Calibri"/>
              </a:rPr>
              <a:t>AjaxResponse extends JsonResponse; interactions become a stack of Commands</a:t>
            </a:r>
            <a:endParaRPr/>
          </a:p>
        </p:txBody>
      </p:sp>
      <p:sp>
        <p:nvSpPr>
          <p:cNvPr id="133" name="Google Shape;133;p15"/>
          <p:cNvSpPr txBox="1"/>
          <p:nvPr/>
        </p:nvSpPr>
        <p:spPr>
          <a:xfrm>
            <a:off x="640080" y="3554072"/>
            <a:ext cx="10908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23325D"/>
                </a:solidFill>
                <a:latin typeface="Calibri"/>
                <a:ea typeface="Calibri"/>
                <a:cs typeface="Calibri"/>
                <a:sym typeface="Calibri"/>
              </a:rPr>
              <a:t>Mature. Well-documented. Everywhere in core</a:t>
            </a:r>
            <a:r>
              <a:rPr lang="en-US" sz="1600">
                <a:solidFill>
                  <a:srgbClr val="23325D"/>
                </a:solidFill>
                <a:latin typeface="Calibri"/>
                <a:ea typeface="Calibri"/>
                <a:cs typeface="Calibri"/>
                <a:sym typeface="Calibri"/>
              </a:rPr>
              <a:t>:</a:t>
            </a:r>
            <a:r>
              <a:rPr b="0" i="0" lang="en-US" sz="1600" u="none" cap="none" strike="noStrike">
                <a:solidFill>
                  <a:srgbClr val="23325D"/>
                </a:solidFill>
                <a:latin typeface="Calibri"/>
                <a:ea typeface="Calibri"/>
                <a:cs typeface="Calibri"/>
                <a:sym typeface="Calibri"/>
              </a:rPr>
              <a:t> exposed filters, autocomplete, modals, inline entity forms.</a:t>
            </a:r>
            <a:endParaRPr>
              <a:solidFill>
                <a:srgbClr val="23325D"/>
              </a:solidFill>
            </a:endParaRPr>
          </a:p>
        </p:txBody>
      </p:sp>
      <p:sp>
        <p:nvSpPr>
          <p:cNvPr id="134" name="Google Shape;134;p15"/>
          <p:cNvSpPr txBox="1"/>
          <p:nvPr/>
        </p:nvSpPr>
        <p:spPr>
          <a:xfrm>
            <a:off x="640080" y="3974215"/>
            <a:ext cx="10908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500" u="none" cap="none" strike="noStrike">
                <a:solidFill>
                  <a:srgbClr val="9AA3B5"/>
                </a:solidFill>
                <a:latin typeface="Calibri"/>
                <a:ea typeface="Calibri"/>
                <a:cs typeface="Calibri"/>
                <a:sym typeface="Calibri"/>
              </a:rPr>
              <a:t>The right answer for 2011.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Ajax API request/response cycle</a:t>
            </a:r>
            <a:endParaRPr/>
          </a:p>
        </p:txBody>
      </p:sp>
      <p:sp>
        <p:nvSpPr>
          <p:cNvPr id="153" name="Google Shape;153;p17"/>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THE REQUEST/RESPONSE CYCLE</a:t>
            </a:r>
            <a:endParaRPr/>
          </a:p>
        </p:txBody>
      </p:sp>
      <p:pic>
        <p:nvPicPr>
          <p:cNvPr descr="ajax_sequence.png" id="154" name="Google Shape;154;p17"/>
          <p:cNvPicPr preferRelativeResize="0"/>
          <p:nvPr/>
        </p:nvPicPr>
        <p:blipFill rotWithShape="1">
          <a:blip r:embed="rId3">
            <a:alphaModFix/>
          </a:blip>
          <a:srcRect b="0" l="0" r="0" t="0"/>
          <a:stretch/>
        </p:blipFill>
        <p:spPr>
          <a:xfrm>
            <a:off x="2735988" y="1691000"/>
            <a:ext cx="7296601" cy="4836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type="title"/>
          </p:nvPr>
        </p:nvSpPr>
        <p:spPr>
          <a:xfrm>
            <a:off x="517275" y="640075"/>
            <a:ext cx="10765800" cy="78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The #ajax property</a:t>
            </a:r>
            <a:endParaRPr/>
          </a:p>
        </p:txBody>
      </p:sp>
      <p:sp>
        <p:nvSpPr>
          <p:cNvPr id="161" name="Google Shape;161;p18"/>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IN CODE</a:t>
            </a:r>
            <a:endParaRPr/>
          </a:p>
        </p:txBody>
      </p:sp>
      <p:sp>
        <p:nvSpPr>
          <p:cNvPr id="162" name="Google Shape;162;p18"/>
          <p:cNvSpPr/>
          <p:nvPr/>
        </p:nvSpPr>
        <p:spPr>
          <a:xfrm>
            <a:off x="640075" y="1378625"/>
            <a:ext cx="10954500" cy="38124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$form['filter'] =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'#type' =&gt; 'select',</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'#ajax' =&gt;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'callback' =&gt; '::updateResults',</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'wrapper' =&gt; 'results-wrapper',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'event' =&gt; 'change',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public function updateResults(...) {</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$response = new AjaxResponse();</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$response-&gt;addCommand(new ReplaceCommand(</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'#results-wrapper', $form['results']));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return $response;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p:txBody>
      </p:sp>
      <p:sp>
        <p:nvSpPr>
          <p:cNvPr id="163" name="Google Shape;163;p18"/>
          <p:cNvSpPr txBox="1"/>
          <p:nvPr/>
        </p:nvSpPr>
        <p:spPr>
          <a:xfrm>
            <a:off x="640080" y="5328285"/>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Two files. Two languages. One wrapper ID that has to match exactly or nothing happens. Silently.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540850" y="365125"/>
            <a:ext cx="108132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Four pain points</a:t>
            </a:r>
            <a:endParaRPr/>
          </a:p>
        </p:txBody>
      </p:sp>
      <p:sp>
        <p:nvSpPr>
          <p:cNvPr id="178" name="Google Shape;178;p20"/>
          <p:cNvSpPr/>
          <p:nvPr/>
        </p:nvSpPr>
        <p:spPr>
          <a:xfrm>
            <a:off x="640080" y="178308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JS COUPLING</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Custom interactions need a PHP command plus a matching JS command handler.</a:t>
            </a:r>
            <a:endParaRPr/>
          </a:p>
        </p:txBody>
      </p:sp>
      <p:sp>
        <p:nvSpPr>
          <p:cNvPr id="179" name="Google Shape;179;p20"/>
          <p:cNvSpPr/>
          <p:nvPr/>
        </p:nvSpPr>
        <p:spPr>
          <a:xfrm>
            <a:off x="6231636" y="178308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COMPLEXITY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An imperative command stack, not a description of the result.</a:t>
            </a:r>
            <a:endParaRPr/>
          </a:p>
        </p:txBody>
      </p:sp>
      <p:sp>
        <p:nvSpPr>
          <p:cNvPr id="180" name="Google Shape;180;p20"/>
          <p:cNvSpPr/>
          <p:nvPr/>
        </p:nvSpPr>
        <p:spPr>
          <a:xfrm>
            <a:off x="640080" y="347472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MAINTENANCE OVERHEAD</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One typo, no error, silent failure.</a:t>
            </a:r>
            <a:endParaRPr/>
          </a:p>
        </p:txBody>
      </p:sp>
      <p:sp>
        <p:nvSpPr>
          <p:cNvPr id="181" name="Google Shape;181;p20"/>
          <p:cNvSpPr/>
          <p:nvPr/>
        </p:nvSpPr>
        <p:spPr>
          <a:xfrm>
            <a:off x="6231636" y="347472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DISCOVERABILITY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The markup never says it's interactive.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188" name="Google Shape;188;p21"/>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A TRUE STORY</a:t>
            </a:r>
            <a:endParaRPr/>
          </a:p>
        </p:txBody>
      </p:sp>
      <p:sp>
        <p:nvSpPr>
          <p:cNvPr id="189" name="Google Shape;189;p21"/>
          <p:cNvSpPr txBox="1"/>
          <p:nvPr/>
        </p:nvSpPr>
        <p:spPr>
          <a:xfrm>
            <a:off x="914400" y="2745590"/>
            <a:ext cx="10332600" cy="13668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400">
                <a:solidFill>
                  <a:srgbClr val="23325D"/>
                </a:solidFill>
                <a:latin typeface="Calibri"/>
                <a:ea typeface="Calibri"/>
                <a:cs typeface="Calibri"/>
                <a:sym typeface="Calibri"/>
              </a:rPr>
              <a:t>“40 minutes in devtools. The bug wasn't PHP. It wasn't JS logic. It was one mismatched wrapper ID</a:t>
            </a:r>
            <a:r>
              <a:rPr i="1" lang="en-US" sz="2400">
                <a:solidFill>
                  <a:srgbClr val="23325D"/>
                </a:solidFill>
                <a:latin typeface="Calibri"/>
                <a:ea typeface="Calibri"/>
                <a:cs typeface="Calibri"/>
                <a:sym typeface="Calibri"/>
              </a:rPr>
              <a:t>,</a:t>
            </a:r>
            <a:r>
              <a:rPr b="0" i="1" lang="en-US" sz="2400">
                <a:solidFill>
                  <a:srgbClr val="23325D"/>
                </a:solidFill>
                <a:latin typeface="Calibri"/>
                <a:ea typeface="Calibri"/>
                <a:cs typeface="Calibri"/>
                <a:sym typeface="Calibri"/>
              </a:rPr>
              <a:t> three directories away. Nothing threw an error. It just didn't work.”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553725" y="2904920"/>
            <a:ext cx="10760700" cy="577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…the element itself could just describe what it needs?</a:t>
            </a:r>
            <a:endParaRPr/>
          </a:p>
        </p:txBody>
      </p:sp>
      <p:sp>
        <p:nvSpPr>
          <p:cNvPr id="196" name="Google Shape;196;p22"/>
          <p:cNvSpPr txBox="1"/>
          <p:nvPr>
            <p:ph idx="1" type="body"/>
          </p:nvPr>
        </p:nvSpPr>
        <p:spPr>
          <a:xfrm>
            <a:off x="593100" y="3482125"/>
            <a:ext cx="10760700" cy="406800"/>
          </a:xfrm>
          <a:prstGeom prst="rect">
            <a:avLst/>
          </a:prstGeom>
          <a:noFill/>
          <a:ln>
            <a:noFill/>
          </a:ln>
        </p:spPr>
        <p:txBody>
          <a:bodyPr anchorCtr="0" anchor="t" bIns="45700" lIns="91425" spcFirstLastPara="1" rIns="91425" wrap="square" tIns="45700">
            <a:normAutofit/>
          </a:bodyPr>
          <a:lstStyle/>
          <a:p>
            <a:pPr indent="0" lvl="0" marL="0" rtl="0" algn="ctr">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command classes. No wrapper-ID matching. No second file to go find.</a:t>
            </a:r>
            <a:endParaRPr/>
          </a:p>
        </p:txBody>
      </p:sp>
      <p:sp>
        <p:nvSpPr>
          <p:cNvPr id="197" name="Google Shape;197;p22"/>
          <p:cNvSpPr txBox="1"/>
          <p:nvPr/>
        </p:nvSpPr>
        <p:spPr>
          <a:xfrm>
            <a:off x="6468100" y="6355080"/>
            <a:ext cx="48462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FC427"/>
                </a:solidFill>
                <a:latin typeface="Calibri"/>
                <a:ea typeface="Calibri"/>
                <a:cs typeface="Calibri"/>
                <a:sym typeface="Calibri"/>
              </a:rPr>
              <a:t>→ next: HTMX</a:t>
            </a:r>
            <a:endParaRPr/>
          </a:p>
        </p:txBody>
      </p:sp>
      <p:sp>
        <p:nvSpPr>
          <p:cNvPr id="198" name="Google Shape;198;p22"/>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SO WHAT IF…</a:t>
            </a:r>
            <a:endParaRPr>
              <a:solidFill>
                <a:srgbClr val="FFC42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322580" y="2689490"/>
            <a:ext cx="11376600" cy="94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05" name="Google Shape;205;p23"/>
          <p:cNvSpPr txBox="1"/>
          <p:nvPr/>
        </p:nvSpPr>
        <p:spPr>
          <a:xfrm>
            <a:off x="822960" y="2428505"/>
            <a:ext cx="10515600" cy="200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4000">
                <a:solidFill>
                  <a:srgbClr val="9AA3B5"/>
                </a:solidFill>
                <a:latin typeface="Calibri"/>
                <a:ea typeface="Calibri"/>
                <a:cs typeface="Calibri"/>
                <a:sym typeface="Calibri"/>
              </a:rPr>
              <a:t>That's not a hypothetical.</a:t>
            </a:r>
            <a:endParaRPr/>
          </a:p>
          <a:p>
            <a:pPr indent="0" lvl="0" marL="0" marR="0" rtl="0" algn="l">
              <a:spcBef>
                <a:spcPts val="600"/>
              </a:spcBef>
              <a:spcAft>
                <a:spcPts val="0"/>
              </a:spcAft>
              <a:buNone/>
            </a:pPr>
            <a:r>
              <a:rPr b="1" i="0" lang="en-US" sz="4000">
                <a:solidFill>
                  <a:srgbClr val="23325D"/>
                </a:solidFill>
                <a:latin typeface="Calibri"/>
                <a:ea typeface="Calibri"/>
                <a:cs typeface="Calibri"/>
                <a:sym typeface="Calibri"/>
              </a:rPr>
              <a:t>It's called HTMX.</a:t>
            </a:r>
            <a:endParaRPr/>
          </a:p>
          <a:p>
            <a:pPr indent="0" lvl="0" marL="0" marR="0" rtl="0" algn="l">
              <a:spcBef>
                <a:spcPts val="600"/>
              </a:spcBef>
              <a:spcAft>
                <a:spcPts val="0"/>
              </a:spcAft>
              <a:buNone/>
            </a:pPr>
            <a:r>
              <a:rPr b="1" i="0" lang="en-US" sz="4000">
                <a:solidFill>
                  <a:srgbClr val="23325D"/>
                </a:solidFill>
                <a:latin typeface="Calibri"/>
                <a:ea typeface="Calibri"/>
                <a:cs typeface="Calibri"/>
                <a:sym typeface="Calibri"/>
              </a:rPr>
              <a:t>Built on an idea older than Ajax: hypermedia.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12" name="Google Shape;212;p24"/>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THE IDEA</a:t>
            </a:r>
            <a:endParaRPr/>
          </a:p>
        </p:txBody>
      </p:sp>
      <p:sp>
        <p:nvSpPr>
          <p:cNvPr id="213" name="Google Shape;213;p24"/>
          <p:cNvSpPr txBox="1"/>
          <p:nvPr/>
        </p:nvSpPr>
        <p:spPr>
          <a:xfrm>
            <a:off x="914400" y="2573990"/>
            <a:ext cx="10332600" cy="17100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200">
                <a:solidFill>
                  <a:srgbClr val="23325D"/>
                </a:solidFill>
                <a:latin typeface="Calibri"/>
                <a:ea typeface="Calibri"/>
                <a:cs typeface="Calibri"/>
                <a:sym typeface="Calibri"/>
              </a:rPr>
              <a:t>You already know hypermedia. Every &lt;a href&gt; and every &lt;form&gt; you've ever written is a hypermedia control</a:t>
            </a:r>
            <a:r>
              <a:rPr i="1" lang="en-US" sz="2200">
                <a:solidFill>
                  <a:srgbClr val="23325D"/>
                </a:solidFill>
                <a:latin typeface="Calibri"/>
                <a:ea typeface="Calibri"/>
                <a:cs typeface="Calibri"/>
                <a:sym typeface="Calibri"/>
              </a:rPr>
              <a:t>,</a:t>
            </a:r>
            <a:r>
              <a:rPr b="0" i="1" lang="en-US" sz="2200">
                <a:solidFill>
                  <a:srgbClr val="23325D"/>
                </a:solidFill>
                <a:latin typeface="Calibri"/>
                <a:ea typeface="Calibri"/>
                <a:cs typeface="Calibri"/>
                <a:sym typeface="Calibri"/>
              </a:rPr>
              <a:t> an element that tells the browser what to fetch and where to put the result. HTMX just extends that vocabulary: any element, any event, any HTTP verb, any part of the page as the target.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564400" y="365125"/>
            <a:ext cx="10789200" cy="958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One element. Four attributes.</a:t>
            </a:r>
            <a:endParaRPr/>
          </a:p>
        </p:txBody>
      </p:sp>
      <p:sp>
        <p:nvSpPr>
          <p:cNvPr id="220" name="Google Shape;220;p25"/>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IN CODE</a:t>
            </a:r>
            <a:endParaRPr/>
          </a:p>
        </p:txBody>
      </p:sp>
      <p:sp>
        <p:nvSpPr>
          <p:cNvPr id="221" name="Google Shape;221;p25"/>
          <p:cNvSpPr/>
          <p:nvPr/>
        </p:nvSpPr>
        <p:spPr>
          <a:xfrm>
            <a:off x="640080" y="1987165"/>
            <a:ext cx="10908900" cy="25311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&lt;select </a:t>
            </a:r>
            <a:r>
              <a:rPr b="1" i="0" lang="en-US" sz="1250">
                <a:solidFill>
                  <a:srgbClr val="F26351"/>
                </a:solidFill>
                <a:latin typeface="Courier New"/>
                <a:ea typeface="Courier New"/>
                <a:cs typeface="Courier New"/>
                <a:sym typeface="Courier New"/>
              </a:rPr>
              <a:t>hx-get</a:t>
            </a:r>
            <a:r>
              <a:rPr b="0" i="0" lang="en-US" sz="1250">
                <a:solidFill>
                  <a:srgbClr val="D8E4F5"/>
                </a:solidFill>
                <a:latin typeface="Courier New"/>
                <a:ea typeface="Courier New"/>
                <a:cs typeface="Courier New"/>
                <a:sym typeface="Courier New"/>
              </a:rPr>
              <a:t>="/filter-results"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hx-trigger</a:t>
            </a:r>
            <a:r>
              <a:rPr b="0" i="0" lang="en-US" sz="1250">
                <a:solidFill>
                  <a:srgbClr val="D8E4F5"/>
                </a:solidFill>
                <a:latin typeface="Courier New"/>
                <a:ea typeface="Courier New"/>
                <a:cs typeface="Courier New"/>
                <a:sym typeface="Courier New"/>
              </a:rPr>
              <a:t>="change"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hx-target</a:t>
            </a:r>
            <a:r>
              <a:rPr b="0" i="0" lang="en-US" sz="1250">
                <a:solidFill>
                  <a:srgbClr val="D8E4F5"/>
                </a:solidFill>
                <a:latin typeface="Courier New"/>
                <a:ea typeface="Courier New"/>
                <a:cs typeface="Courier New"/>
                <a:sym typeface="Courier New"/>
              </a:rPr>
              <a:t>="#results"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hx-swap</a:t>
            </a:r>
            <a:r>
              <a:rPr b="0" i="0" lang="en-US" sz="1250">
                <a:solidFill>
                  <a:srgbClr val="D8E4F5"/>
                </a:solidFill>
                <a:latin typeface="Courier New"/>
                <a:ea typeface="Courier New"/>
                <a:cs typeface="Courier New"/>
                <a:sym typeface="Courier New"/>
              </a:rPr>
              <a:t>="innerHTML"&gt;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&lt;/select&gt;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&lt;div id="results"&gt;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&lt;!-- server returns just this fragment --&gt;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&lt;/div&gt;</a:t>
            </a:r>
            <a:endParaRPr/>
          </a:p>
        </p:txBody>
      </p:sp>
      <p:sp>
        <p:nvSpPr>
          <p:cNvPr id="222" name="Google Shape;222;p25"/>
          <p:cNvSpPr txBox="1"/>
          <p:nvPr/>
        </p:nvSpPr>
        <p:spPr>
          <a:xfrm>
            <a:off x="640080" y="4655434"/>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One element. Four attributes. The behavior lives right there in the tag — no PHP file to go find, no wrapper ID to keep in sync across two files.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1341600" y="365125"/>
            <a:ext cx="10012200" cy="132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HTMX request/response cycle</a:t>
            </a:r>
            <a:endParaRPr/>
          </a:p>
        </p:txBody>
      </p:sp>
      <p:sp>
        <p:nvSpPr>
          <p:cNvPr id="229" name="Google Shape;229;p26"/>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THE REQUEST/RESPONSE CYCLE</a:t>
            </a:r>
            <a:endParaRPr/>
          </a:p>
        </p:txBody>
      </p:sp>
      <p:pic>
        <p:nvPicPr>
          <p:cNvPr descr="htmx_sequence.png" id="230" name="Google Shape;230;p26"/>
          <p:cNvPicPr preferRelativeResize="0"/>
          <p:nvPr/>
        </p:nvPicPr>
        <p:blipFill rotWithShape="1">
          <a:blip r:embed="rId3">
            <a:alphaModFix/>
          </a:blip>
          <a:srcRect b="0" l="0" r="0" t="0"/>
          <a:stretch/>
        </p:blipFill>
        <p:spPr>
          <a:xfrm>
            <a:off x="1421996" y="1885689"/>
            <a:ext cx="9747252" cy="3864497"/>
          </a:xfrm>
          <a:prstGeom prst="rect">
            <a:avLst/>
          </a:prstGeom>
          <a:noFill/>
          <a:ln>
            <a:noFill/>
          </a:ln>
        </p:spPr>
      </p:pic>
      <p:sp>
        <p:nvSpPr>
          <p:cNvPr id="231" name="Google Shape;231;p26"/>
          <p:cNvSpPr txBox="1"/>
          <p:nvPr/>
        </p:nvSpPr>
        <p:spPr>
          <a:xfrm>
            <a:off x="640080" y="6263640"/>
            <a:ext cx="109089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00">
                <a:solidFill>
                  <a:srgbClr val="5B6378"/>
                </a:solidFill>
                <a:latin typeface="Calibri"/>
                <a:ea typeface="Calibri"/>
                <a:cs typeface="Calibri"/>
                <a:sym typeface="Calibri"/>
              </a:rPr>
              <a:t>Same three participants</a:t>
            </a:r>
            <a:r>
              <a:rPr lang="en-US" sz="1300">
                <a:solidFill>
                  <a:srgbClr val="5B6378"/>
                </a:solidFill>
                <a:latin typeface="Calibri"/>
                <a:ea typeface="Calibri"/>
                <a:cs typeface="Calibri"/>
                <a:sym typeface="Calibri"/>
              </a:rPr>
              <a:t>:</a:t>
            </a:r>
            <a:r>
              <a:rPr b="0" i="0" lang="en-US" sz="1300">
                <a:solidFill>
                  <a:srgbClr val="5B6378"/>
                </a:solidFill>
                <a:latin typeface="Calibri"/>
                <a:ea typeface="Calibri"/>
                <a:cs typeface="Calibri"/>
                <a:sym typeface="Calibri"/>
              </a:rPr>
              <a:t> user, browser, server. Seven steps in the Ajax version. Four here.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type="title"/>
          </p:nvPr>
        </p:nvSpPr>
        <p:spPr>
          <a:xfrm>
            <a:off x="553725" y="2250974"/>
            <a:ext cx="10760700" cy="736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The response </a:t>
            </a:r>
            <a:r>
              <a:rPr b="1" i="1" lang="en-US" sz="3200">
                <a:solidFill>
                  <a:srgbClr val="FFFFFF"/>
                </a:solidFill>
                <a:latin typeface="Calibri"/>
                <a:ea typeface="Calibri"/>
                <a:cs typeface="Calibri"/>
                <a:sym typeface="Calibri"/>
              </a:rPr>
              <a:t>is</a:t>
            </a:r>
            <a:r>
              <a:rPr b="1" i="0" lang="en-US" sz="3200">
                <a:solidFill>
                  <a:srgbClr val="FFFFFF"/>
                </a:solidFill>
                <a:latin typeface="Calibri"/>
                <a:ea typeface="Calibri"/>
                <a:cs typeface="Calibri"/>
                <a:sym typeface="Calibri"/>
              </a:rPr>
              <a:t> the next state of the UI — already rendered.</a:t>
            </a:r>
            <a:endParaRPr/>
          </a:p>
        </p:txBody>
      </p:sp>
      <p:sp>
        <p:nvSpPr>
          <p:cNvPr id="238" name="Google Shape;238;p27"/>
          <p:cNvSpPr txBox="1"/>
          <p:nvPr>
            <p:ph idx="1" type="body"/>
          </p:nvPr>
        </p:nvSpPr>
        <p:spPr>
          <a:xfrm>
            <a:off x="593100" y="3042225"/>
            <a:ext cx="10760700" cy="15648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separate JSON API.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client-side templating layer.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HTMX just closes the gap between the first page load and everything after, so both work the same way.</a:t>
            </a:r>
            <a:endParaRPr/>
          </a:p>
        </p:txBody>
      </p:sp>
      <p:sp>
        <p:nvSpPr>
          <p:cNvPr id="239" name="Google Shape;239;p27"/>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THE BIGGER IDEA</a:t>
            </a:r>
            <a:endParaRPr>
              <a:solidFill>
                <a:srgbClr val="FFC427"/>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04</a:t>
            </a:r>
            <a:endParaRPr/>
          </a:p>
        </p:txBody>
      </p:sp>
      <p:sp>
        <p:nvSpPr>
          <p:cNvPr id="263" name="Google Shape;263;p30"/>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Mapping HTMX onto Drupal's Architecture</a:t>
            </a:r>
            <a:endParaRPr/>
          </a:p>
          <a:p>
            <a:pPr indent="0" lvl="0" marL="0" rtl="0" algn="l">
              <a:lnSpc>
                <a:spcPct val="90000"/>
              </a:lnSpc>
              <a:spcBef>
                <a:spcPts val="0"/>
              </a:spcBef>
              <a:spcAft>
                <a:spcPts val="0"/>
              </a:spcAft>
              <a:buClr>
                <a:srgbClr val="23325D"/>
              </a:buClr>
              <a:buSzPts val="3600"/>
              <a:buFont typeface="Calibri"/>
              <a:buNone/>
            </a:pPr>
            <a:r>
              <a:t/>
            </a:r>
            <a:endParaRPr sz="3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A normal Drupal route</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ROUTING</a:t>
            </a:r>
            <a:endParaRPr/>
          </a:p>
        </p:txBody>
      </p:sp>
      <p:sp>
        <p:nvSpPr>
          <p:cNvPr id="279" name="Google Shape;279;p32"/>
          <p:cNvSpPr/>
          <p:nvPr/>
        </p:nvSpPr>
        <p:spPr>
          <a:xfrm>
            <a:off x="640080" y="1463040"/>
            <a:ext cx="10908900" cy="224028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my_module.filter_results: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path: </a:t>
            </a:r>
            <a:r>
              <a:rPr b="1" i="0" lang="en-US" sz="1250">
                <a:solidFill>
                  <a:srgbClr val="F26351"/>
                </a:solidFill>
                <a:latin typeface="Courier New"/>
                <a:ea typeface="Courier New"/>
                <a:cs typeface="Courier New"/>
                <a:sym typeface="Courier New"/>
              </a:rPr>
              <a:t>'/filter-results'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defaults: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_controller: '\Drupal\my_module\Controller\FilterController::results'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requirements: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_access: 'TRUE'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options: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_htmx_route: TRUE</a:t>
            </a:r>
            <a:endParaRPr/>
          </a:p>
        </p:txBody>
      </p:sp>
      <p:sp>
        <p:nvSpPr>
          <p:cNvPr id="280" name="Google Shape;280;p32"/>
          <p:cNvSpPr txBox="1"/>
          <p:nvPr/>
        </p:nvSpPr>
        <p:spPr>
          <a:xfrm>
            <a:off x="640080" y="3886200"/>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hx-get="/filter-results" isn't a special Ajax callback. It's a normal Drupal route with one flag: _htmx_route returns just the main content and its assets, not the whole themed page.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RENDER ARRAYS</a:t>
            </a:r>
            <a:endParaRPr/>
          </a:p>
        </p:txBody>
      </p:sp>
      <p:sp>
        <p:nvSpPr>
          <p:cNvPr id="287" name="Google Shape;287;p33"/>
          <p:cNvSpPr/>
          <p:nvPr/>
        </p:nvSpPr>
        <p:spPr>
          <a:xfrm>
            <a:off x="640080" y="1723703"/>
            <a:ext cx="10908900" cy="27249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public function results(Request $request)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$filter = $request-&gt;query-&gt;get('filter');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return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'#theme' =&gt; 'item_list',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'#items' =&gt; $this-&gt;getFilteredItems($filter),</a:t>
            </a:r>
            <a:endParaRPr/>
          </a:p>
          <a:p>
            <a:pPr indent="0" lvl="0" marL="0" marR="0" rtl="0" algn="l">
              <a:lnSpc>
                <a:spcPct val="122000"/>
              </a:lnSpc>
              <a:spcBef>
                <a:spcPts val="0"/>
              </a:spcBef>
              <a:spcAft>
                <a:spcPts val="0"/>
              </a:spcAft>
              <a:buNone/>
            </a:pPr>
            <a:r>
              <a:rPr b="1" i="0" lang="en-US" sz="1250">
                <a:solidFill>
                  <a:srgbClr val="F26351"/>
                </a:solidFill>
                <a:latin typeface="Courier New"/>
                <a:ea typeface="Courier New"/>
                <a:cs typeface="Courier New"/>
                <a:sym typeface="Courier New"/>
              </a:rPr>
              <a:t>    '#cache' =&gt;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'tags' =&gt; ['node_list'],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'contexts' =&gt; ['url.query_args:filter'],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p:txBody>
      </p:sp>
      <p:sp>
        <p:nvSpPr>
          <p:cNvPr id="288" name="Google Shape;288;p33"/>
          <p:cNvSpPr txBox="1"/>
          <p:nvPr/>
        </p:nvSpPr>
        <p:spPr>
          <a:xfrm>
            <a:off x="640080" y="4585648"/>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The same render array every Drupal controller already returns. No AjaxResponse. No Commands. The render pipeline already builds exactly this.</a:t>
            </a:r>
            <a:endParaRPr/>
          </a:p>
        </p:txBody>
      </p:sp>
      <p:sp>
        <p:nvSpPr>
          <p:cNvPr id="289" name="Google Shape;289;p33"/>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400"/>
              <a:buFont typeface="Calibri"/>
              <a:buNone/>
            </a:pPr>
            <a:r>
              <a:rPr lang="en-US" sz="3400"/>
              <a:t>The same render array Drupal always returns</a:t>
            </a:r>
            <a:endParaRPr sz="3400"/>
          </a:p>
        </p:txBody>
      </p:sp>
      <p:sp>
        <p:nvSpPr>
          <p:cNvPr id="290" name="Google Shape;290;p33"/>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CORE'S HTMX CLASS</a:t>
            </a:r>
            <a:endParaRPr/>
          </a:p>
        </p:txBody>
      </p:sp>
      <p:sp>
        <p:nvSpPr>
          <p:cNvPr id="287" name="Google Shape;287;p33"/>
          <p:cNvSpPr/>
          <p:nvPr/>
        </p:nvSpPr>
        <p:spPr>
          <a:xfrm>
            <a:off x="640080" y="1723703"/>
            <a:ext cx="10908900" cy="27249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use Drupal\Core\Htmx\Htmx;</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(new Htmx())</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-&gt;get(Url::fromRoute('my_module.filter_results'))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-&gt;trigger('change')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-&gt;target('#results')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-&gt;swap('innerHTML')</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-&gt;applyTo($form['filter']);</a:t>
            </a:r>
            <a:endParaRPr/>
          </a:p>
        </p:txBody>
      </p:sp>
      <p:sp>
        <p:nvSpPr>
          <p:cNvPr id="288" name="Google Shape;288;p33"/>
          <p:cNvSpPr txBox="1"/>
          <p:nvPr/>
        </p:nvSpPr>
        <p:spPr>
          <a:xfrm>
            <a:off x="640080" y="4585648"/>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The same four hx-* attributes, built in PHP. applyTo() attaches core/drupal.htmx, which loads the response's assets and re-attaches Drupal.behaviors after every swap.</a:t>
            </a:r>
            <a:endParaRPr/>
          </a:p>
        </p:txBody>
      </p:sp>
      <p:sp>
        <p:nvSpPr>
          <p:cNvPr id="289" name="Google Shape;289;p33"/>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400"/>
              <a:buFont typeface="Calibri"/>
              <a:buNone/>
            </a:pPr>
            <a:r>
              <a:rPr lang="en-US" sz="3400"/>
              <a:t>Core does the glue</a:t>
            </a:r>
            <a:endParaRPr sz="3400"/>
          </a:p>
        </p:txBody>
      </p:sp>
      <p:sp>
        <p:nvSpPr>
          <p:cNvPr id="290" name="Google Shape;290;p33"/>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WHERE THIS PAYS OFF</a:t>
            </a:r>
            <a:endParaRPr/>
          </a:p>
        </p:txBody>
      </p:sp>
      <p:sp>
        <p:nvSpPr>
          <p:cNvPr id="297" name="Google Shape;297;p34"/>
          <p:cNvSpPr/>
          <p:nvPr/>
        </p:nvSpPr>
        <p:spPr>
          <a:xfrm>
            <a:off x="640080" y="2516217"/>
            <a:ext cx="5317200" cy="141720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AJAX API</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An AjaxResponse built from Commands doesn't sit in the cache pipeline. You're mostly on your own.</a:t>
            </a:r>
            <a:endParaRPr/>
          </a:p>
        </p:txBody>
      </p:sp>
      <p:sp>
        <p:nvSpPr>
          <p:cNvPr id="298" name="Google Shape;298;p34"/>
          <p:cNvSpPr/>
          <p:nvPr/>
        </p:nvSpPr>
        <p:spPr>
          <a:xfrm>
            <a:off x="6231636" y="2516217"/>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HTMX</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 plain render array — cache tags bubble up, contexts vary the response automatically. Caching for free.</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887095" y="1533525"/>
            <a:ext cx="10835640" cy="10858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3325D"/>
              </a:buClr>
              <a:buSzPts val="3600"/>
              <a:buFont typeface="Calibri"/>
              <a:buNone/>
            </a:pPr>
            <a:r>
              <a:rPr lang="en-US" sz="3600">
                <a:solidFill>
                  <a:srgbClr val="23325D"/>
                </a:solidFill>
              </a:rPr>
              <a:t>Live Demo</a:t>
            </a:r>
            <a:endParaRPr/>
          </a:p>
        </p:txBody>
      </p:sp>
      <p:sp>
        <p:nvSpPr>
          <p:cNvPr id="315" name="Google Shape;315;p36"/>
          <p:cNvSpPr txBox="1"/>
          <p:nvPr>
            <p:ph idx="1" type="body"/>
          </p:nvPr>
        </p:nvSpPr>
        <p:spPr>
          <a:xfrm>
            <a:off x="887095" y="2679065"/>
            <a:ext cx="10835640" cy="1499870"/>
          </a:xfrm>
          <a:prstGeom prst="rect">
            <a:avLst/>
          </a:prstGeom>
          <a:noFill/>
          <a:ln>
            <a:noFill/>
          </a:ln>
        </p:spPr>
        <p:txBody>
          <a:bodyPr anchorCtr="0" anchor="t" bIns="45700" lIns="91425" spcFirstLastPara="1" rIns="91425" wrap="square" tIns="45700">
            <a:normAutofit/>
          </a:bodyPr>
          <a:lstStyle/>
          <a:p>
            <a:pPr indent="0" lvl="0" marL="0" rtl="0" algn="l">
              <a:lnSpc>
                <a:spcPct val="130000"/>
              </a:lnSpc>
              <a:spcBef>
                <a:spcPts val="0"/>
              </a:spcBef>
              <a:spcAft>
                <a:spcPts val="0"/>
              </a:spcAft>
              <a:buClr>
                <a:srgbClr val="9AA3B5"/>
              </a:buClr>
              <a:buSzPts val="1800"/>
              <a:buNone/>
            </a:pPr>
            <a:r>
              <a:rPr b="0" i="1" lang="en-US" sz="1800">
                <a:solidFill>
                  <a:srgbClr val="9AA3B5"/>
                </a:solidFill>
                <a:latin typeface="Calibri"/>
                <a:ea typeface="Calibri"/>
                <a:cs typeface="Calibri"/>
                <a:sym typeface="Calibri"/>
              </a:rPr>
              <a:t>PLACEHOLDER — dynamic form, filter &amp; partial update, one combined demo built/walked through live in the browser.</a:t>
            </a:r>
            <a:endParaRPr/>
          </a:p>
        </p:txBody>
      </p:sp>
      <p:sp>
        <p:nvSpPr>
          <p:cNvPr id="316" name="Google Shape;316;p36"/>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DDE3EF"/>
                </a:solidFill>
                <a:latin typeface="Courier New"/>
                <a:ea typeface="Courier New"/>
                <a:cs typeface="Courier New"/>
                <a:sym typeface="Courier New"/>
              </a:rPr>
              <a:t>06</a:t>
            </a:r>
            <a:endParaRPr/>
          </a:p>
        </p:txBody>
      </p:sp>
      <p:sp>
        <p:nvSpPr>
          <p:cNvPr id="323" name="Google Shape;323;p37"/>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Ajax API vs HTMX, Compared Honestly</a:t>
            </a:r>
            <a:endParaRPr/>
          </a:p>
          <a:p>
            <a:pPr indent="0" lvl="0" marL="0" rtl="0" algn="l">
              <a:lnSpc>
                <a:spcPct val="90000"/>
              </a:lnSpc>
              <a:spcBef>
                <a:spcPts val="0"/>
              </a:spcBef>
              <a:spcAft>
                <a:spcPts val="0"/>
              </a:spcAft>
              <a:buClr>
                <a:srgbClr val="23325D"/>
              </a:buClr>
              <a:buSzPts val="3600"/>
              <a:buFont typeface="Calibri"/>
              <a:buNone/>
            </a:pPr>
            <a:r>
              <a:t/>
            </a:r>
            <a:endParaRPr sz="36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txBox="1"/>
          <p:nvPr>
            <p:ph type="title"/>
          </p:nvPr>
        </p:nvSpPr>
        <p:spPr>
          <a:xfrm>
            <a:off x="603650" y="726275"/>
            <a:ext cx="10750200" cy="738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3325D"/>
              </a:buClr>
              <a:buSzPts val="3200"/>
              <a:buFont typeface="Calibri"/>
              <a:buNone/>
            </a:pPr>
            <a:r>
              <a:rPr lang="en-US" sz="3000">
                <a:solidFill>
                  <a:srgbClr val="23325D"/>
                </a:solidFill>
              </a:rPr>
              <a:t>The verdict, side by side</a:t>
            </a:r>
            <a:endParaRPr sz="4200"/>
          </a:p>
        </p:txBody>
      </p:sp>
      <p:graphicFrame>
        <p:nvGraphicFramePr>
          <p:cNvPr id="353" name="Google Shape;353;p40"/>
          <p:cNvGraphicFramePr/>
          <p:nvPr/>
        </p:nvGraphicFramePr>
        <p:xfrm>
          <a:off x="640080" y="1920240"/>
          <a:ext cx="3000000" cy="3000000"/>
        </p:xfrm>
        <a:graphic>
          <a:graphicData uri="http://schemas.openxmlformats.org/drawingml/2006/table">
            <a:tbl>
              <a:tblPr bandRow="1" firstRow="1">
                <a:noFill/>
                <a:tableStyleId>{82BA0FA9-774D-4D84-A5C6-C2667BA39461}</a:tableStyleId>
              </a:tblPr>
              <a:tblGrid>
                <a:gridCol w="2790625"/>
                <a:gridCol w="4059075"/>
                <a:gridCol w="4059075"/>
              </a:tblGrid>
              <a:tr h="502925">
                <a:tc>
                  <a:txBody>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Ajax API</a:t>
                      </a:r>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HTMX</a:t>
                      </a:r>
                      <a:endParaRPr/>
                    </a:p>
                  </a:txBody>
                  <a:tcPr marT="45725" marB="45725" marR="91450" marL="91450" anchor="ctr">
                    <a:solidFill>
                      <a:srgbClr val="23325D"/>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DX</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More ceremony, most proven for complex multi-step forms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Less ceremony, multi-step patterns still maturing</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Performance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JSON command stack, executed client-side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Small library, HTML response, up to 71% less JS</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Debugging</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Opaque command stack, silent failures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Transparent — see the actual HTML</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Caching</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AjaxResponse sits outside the render cache — mostly on your own</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Plain render array — cache tags &amp; contexts bubble automatically</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Learning curve</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Drupal-only API</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Standard htmx — htmx.org docs, a skill that transfers beyond Drupal</a:t>
                      </a:r>
                      <a:endParaRPr/>
                    </a:p>
                  </a:txBody>
                  <a:tcPr marT="45725" marB="45725" marR="91450" marL="91450"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txBox="1"/>
          <p:nvPr>
            <p:ph type="title"/>
          </p:nvPr>
        </p:nvSpPr>
        <p:spPr>
          <a:xfrm>
            <a:off x="553720" y="2575665"/>
            <a:ext cx="10760700" cy="123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Pick the tool for the job, not the trend.</a:t>
            </a:r>
            <a:endParaRPr/>
          </a:p>
        </p:txBody>
      </p:sp>
      <p:sp>
        <p:nvSpPr>
          <p:cNvPr id="360" name="Google Shape;360;p41"/>
          <p:cNvSpPr txBox="1"/>
          <p:nvPr>
            <p:ph idx="1" type="body"/>
          </p:nvPr>
        </p:nvSpPr>
        <p:spPr>
          <a:xfrm>
            <a:off x="553715" y="3271975"/>
            <a:ext cx="10760700" cy="13716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HTMX: where round trips are simple and the UI is a fragment.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Ajax API</a:t>
            </a:r>
            <a:r>
              <a:rPr lang="en-US" sz="1800">
                <a:solidFill>
                  <a:srgbClr val="FFC427"/>
                </a:solidFill>
              </a:rPr>
              <a:t>: </a:t>
            </a:r>
            <a:r>
              <a:rPr b="0" i="0" lang="en-US" sz="1800">
                <a:solidFill>
                  <a:srgbClr val="FFC427"/>
                </a:solidFill>
                <a:latin typeface="Calibri"/>
                <a:ea typeface="Calibri"/>
                <a:cs typeface="Calibri"/>
                <a:sym typeface="Calibri"/>
              </a:rPr>
              <a:t>where it already works, and for complex multi-step flows, for now. This isn't a replace-everything story.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07</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Incremental Adoption Strategy</a:t>
            </a:r>
            <a:endParaRPr sz="3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08</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Current Status + How to Contribute</a:t>
            </a:r>
            <a:endParaRPr sz="3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WHERE THINGS STAND TODAY</a:t>
            </a:r>
            <a:endParaRPr/>
          </a:p>
        </p:txBody>
      </p:sp>
      <p:sp>
        <p:nvSpPr>
          <p:cNvPr id="297" name="Google Shape;297;p34"/>
          <p:cNvSpPr/>
          <p:nvPr/>
        </p:nvSpPr>
        <p:spPr>
          <a:xfrm>
            <a:off x="640080" y="2697480"/>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CORE INITIATIVE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hlinkClick r:id="rId3"/>
              </a:rPr>
              <a:t>"Replace AJAX API with HTMX"</a:t>
            </a:r>
            <a:r>
              <a:rPr b="0" i="0" lang="en-US" sz="1350">
                <a:solidFill>
                  <a:srgbClr val="5B6378"/>
                </a:solidFill>
                <a:latin typeface="Calibri"/>
                <a:ea typeface="Calibri"/>
                <a:cs typeface="Calibri"/>
                <a:sym typeface="Calibri"/>
              </a:rPr>
              <a:t> - an official community initiative, still active. Both APIs run side by side until contrib has time to convert.</a:t>
            </a:r>
            <a:endParaRPr/>
          </a:p>
        </p:txBody>
      </p:sp>
      <p:sp>
        <p:nvSpPr>
          <p:cNvPr id="298" name="Google Shape;298;p34"/>
          <p:cNvSpPr/>
          <p:nvPr/>
        </p:nvSpPr>
        <p:spPr>
          <a:xfrm>
            <a:off x="6231636" y="2697480"/>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CONTRIB MODULE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drupal/htmx adds extra tooling on top of core - 1,156 sites already using it.</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02" name="Shape 2002"/>
          <p:cNvSpPr txBox="1"/>
          <p:nvPr/>
        </p:nvSpPr>
        <p:spPr>
          <a:xfrm>
            <a:off x="640080" y="1143000"/>
            <a:ext cx="10241280" cy="8229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a:solidFill>
                  <a:srgbClr val="23325D"/>
                </a:solidFill>
                <a:latin typeface="Calibri"/>
                <a:ea typeface="Calibri"/>
                <a:cs typeface="Calibri"/>
                <a:sym typeface="Calibri"/>
              </a:rPr>
              <a:t>This isn't a someday story - HTMX arrived in core in 11.2 and became fully featured in 11.3, as part of an active initiative to replace the Ajax system.</a:t>
            </a:r>
            <a:endParaRPr/>
          </a:p>
        </p:txBody>
      </p:sp>
      <p:sp>
        <p:nvSpPr>
          <p:cNvPr id="4000" name="Shape 4000"/>
          <p:cNvSpPr txBox="1"/>
          <p:nvPr/>
        </p:nvSpPr>
        <p:spPr>
          <a:xfrm>
            <a:off x="640080" y="4434840"/>
            <a:ext cx="10241280"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000">
                <a:solidFill>
                  <a:srgbClr val="23325D"/>
                </a:solidFill>
                <a:latin typeface="Calibri"/>
                <a:ea typeface="Calibri"/>
                <a:cs typeface="Calibri"/>
                <a:sym typeface="Calibri"/>
              </a:rPr>
              <a:t>Up to 71% less JavaScript</a:t>
            </a:r>
            <a:r>
              <a:rPr b="0" i="0" lang="en-US" sz="2000">
                <a:solidFill>
                  <a:srgbClr val="23325D"/>
                </a:solidFill>
                <a:latin typeface="Calibri"/>
                <a:ea typeface="Calibri"/>
                <a:cs typeface="Calibri"/>
                <a:sym typeface="Calibri"/>
              </a:rPr>
              <a:t> loaded for browser-server interactions with native HTMX, per drupal.org.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548700" y="365125"/>
            <a:ext cx="1080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How to contribute</a:t>
            </a:r>
            <a:endParaRPr/>
          </a:p>
        </p:txBody>
      </p:sp>
      <p:sp>
        <p:nvSpPr>
          <p:cNvPr id="246" name="Google Shape;246;p28"/>
          <p:cNvSpPr/>
          <p:nvPr/>
        </p:nvSpPr>
        <p:spPr>
          <a:xfrm>
            <a:off x="640080"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CORE INITIATIVE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hlinkClick r:id="rId3"/>
              </a:rPr>
              <a:t>drupal.org/community-initiatives/replace-ajax-api-with-htmx</a:t>
            </a:r>
            <a:r>
              <a:rPr b="0" i="0" lang="en-US" sz="1350">
                <a:solidFill>
                  <a:srgbClr val="5B6378"/>
                </a:solidFill>
                <a:latin typeface="Calibri"/>
                <a:ea typeface="Calibri"/>
                <a:cs typeface="Calibri"/>
                <a:sym typeface="Calibri"/>
              </a:rPr>
              <a:t> - plus the plan issue </a:t>
            </a:r>
            <a:r>
              <a:rPr b="0" i="0" lang="en-US" sz="1350">
                <a:solidFill>
                  <a:srgbClr val="5B6378"/>
                </a:solidFill>
                <a:latin typeface="Calibri"/>
                <a:ea typeface="Calibri"/>
                <a:cs typeface="Calibri"/>
                <a:sym typeface="Calibri"/>
                <a:hlinkClick r:id="rId4"/>
              </a:rPr>
              <a:t>#3404409</a:t>
            </a:r>
            <a:r>
              <a:rPr b="0" i="0" lang="en-US" sz="1350">
                <a:solidFill>
                  <a:srgbClr val="5B6378"/>
                </a:solidFill>
                <a:latin typeface="Calibri"/>
                <a:ea typeface="Calibri"/>
                <a:cs typeface="Calibri"/>
                <a:sym typeface="Calibri"/>
              </a:rPr>
              <a:t> and its child issues.</a:t>
            </a:r>
            <a:endParaRPr/>
          </a:p>
        </p:txBody>
      </p:sp>
      <p:sp>
        <p:nvSpPr>
          <p:cNvPr id="247" name="Google Shape;247;p28"/>
          <p:cNvSpPr/>
          <p:nvPr/>
        </p:nvSpPr>
        <p:spPr>
          <a:xfrm>
            <a:off x="6231636"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CONTRIB MODULE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hlinkClick r:id="rId5"/>
              </a:rPr>
              <a:t>drupal.org/project/htmx</a:t>
            </a:r>
            <a:r>
              <a:rPr b="0" i="0" lang="en-US" sz="1350">
                <a:solidFill>
                  <a:srgbClr val="5B6378"/>
                </a:solidFill>
                <a:latin typeface="Calibri"/>
                <a:ea typeface="Calibri"/>
                <a:cs typeface="Calibri"/>
                <a:sym typeface="Calibri"/>
              </a:rPr>
              <a:t> issue queue.</a:t>
            </a:r>
            <a:endParaRPr/>
          </a:p>
        </p:txBody>
      </p:sp>
      <p:sp>
        <p:nvSpPr>
          <p:cNvPr id="248" name="Google Shape;248;p28"/>
          <p:cNvSpPr/>
          <p:nvPr/>
        </p:nvSpPr>
        <p:spPr>
          <a:xfrm>
            <a:off x="640080"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COMMUNITY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#htmx on Drupal Slack. Coordination meetings every other Thursday, open for 24 hours.</a:t>
            </a:r>
            <a:endParaRPr/>
          </a:p>
        </p:txBody>
      </p:sp>
      <p:sp>
        <p:nvSpPr>
          <p:cNvPr id="249" name="Google Shape;249;p28"/>
          <p:cNvSpPr/>
          <p:nvPr/>
        </p:nvSpPr>
        <p:spPr>
          <a:xfrm>
            <a:off x="6231636"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ENTRY POINTS</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Triage issues, convert one #ajax callback, write docs, build a case study.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8"/>
          <p:cNvSpPr txBox="1"/>
          <p:nvPr/>
        </p:nvSpPr>
        <p:spPr>
          <a:xfrm>
            <a:off x="640080" y="4846320"/>
            <a:ext cx="5486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B6378"/>
                </a:solidFill>
                <a:latin typeface="Calibri"/>
                <a:ea typeface="Calibri"/>
                <a:cs typeface="Calibri"/>
                <a:sym typeface="Calibri"/>
              </a:rPr>
              <a:t>Ruturaj Chaubey – </a:t>
            </a:r>
            <a:r>
              <a:rPr i="1" lang="en-US" sz="1200">
                <a:solidFill>
                  <a:srgbClr val="9AA3B5"/>
                </a:solidFill>
                <a:latin typeface="Calibri"/>
                <a:ea typeface="Calibri"/>
                <a:cs typeface="Calibri"/>
                <a:sym typeface="Calibri"/>
              </a:rPr>
              <a:t>Full Stack Engineer</a:t>
            </a:r>
            <a:r>
              <a:rPr b="0" i="1" lang="en-US" sz="1200" u="none" cap="none" strike="noStrike">
                <a:solidFill>
                  <a:srgbClr val="9AA3B5"/>
                </a:solidFill>
                <a:latin typeface="Calibri"/>
                <a:ea typeface="Calibri"/>
                <a:cs typeface="Calibri"/>
                <a:sym typeface="Calibri"/>
              </a:rPr>
              <a:t> </a:t>
            </a:r>
            <a:r>
              <a:rPr i="1" lang="en-US" sz="1200">
                <a:solidFill>
                  <a:srgbClr val="9AA3B5"/>
                </a:solidFill>
                <a:latin typeface="Calibri"/>
                <a:ea typeface="Calibri"/>
                <a:cs typeface="Calibri"/>
                <a:sym typeface="Calibri"/>
              </a:rPr>
              <a:t>@ QED42</a:t>
            </a:r>
            <a:endParaRPr i="1" sz="1200">
              <a:solidFill>
                <a:srgbClr val="9AA3B5"/>
              </a:solidFill>
              <a:latin typeface="Calibri"/>
              <a:ea typeface="Calibri"/>
              <a:cs typeface="Calibri"/>
              <a:sym typeface="Calibri"/>
            </a:endParaRPr>
          </a:p>
          <a:p>
            <a:pPr indent="0" lvl="0" marL="0" rtl="0" algn="l">
              <a:spcBef>
                <a:spcPts val="0"/>
              </a:spcBef>
              <a:spcAft>
                <a:spcPts val="0"/>
              </a:spcAft>
              <a:buNone/>
            </a:pPr>
            <a:r>
              <a:rPr lang="en-US" sz="1200">
                <a:solidFill>
                  <a:srgbClr val="5B6378"/>
                </a:solidFill>
                <a:latin typeface="Calibri"/>
                <a:ea typeface="Calibri"/>
                <a:cs typeface="Calibri"/>
                <a:sym typeface="Calibri"/>
              </a:rPr>
              <a:t>Vighnesh</a:t>
            </a:r>
            <a:r>
              <a:rPr lang="en-US" sz="1200">
                <a:solidFill>
                  <a:srgbClr val="5B6378"/>
                </a:solidFill>
                <a:latin typeface="Calibri"/>
                <a:ea typeface="Calibri"/>
                <a:cs typeface="Calibri"/>
                <a:sym typeface="Calibri"/>
              </a:rPr>
              <a:t> Sadagopal – </a:t>
            </a:r>
            <a:r>
              <a:rPr i="1" lang="en-US" sz="1200">
                <a:solidFill>
                  <a:srgbClr val="9AA3B5"/>
                </a:solidFill>
                <a:latin typeface="Calibri"/>
                <a:ea typeface="Calibri"/>
                <a:cs typeface="Calibri"/>
                <a:sym typeface="Calibri"/>
              </a:rPr>
              <a:t>Full Stack Drupal Engineer @ QED42</a:t>
            </a:r>
            <a:endParaRPr i="1" sz="1200">
              <a:solidFill>
                <a:srgbClr val="9AA3B5"/>
              </a:solidFill>
              <a:latin typeface="Calibri"/>
              <a:ea typeface="Calibri"/>
              <a:cs typeface="Calibri"/>
              <a:sym typeface="Calibri"/>
            </a:endParaRPr>
          </a:p>
        </p:txBody>
      </p:sp>
      <p:sp>
        <p:nvSpPr>
          <p:cNvPr id="52" name="Google Shape;52;p8"/>
          <p:cNvSpPr txBox="1"/>
          <p:nvPr>
            <p:ph type="ctrTitle"/>
          </p:nvPr>
        </p:nvSpPr>
        <p:spPr>
          <a:xfrm>
            <a:off x="640075" y="1009650"/>
            <a:ext cx="8677800" cy="1339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3325D"/>
              </a:buClr>
              <a:buSzPct val="100000"/>
              <a:buFont typeface="Calibri"/>
              <a:buNone/>
            </a:pPr>
            <a:r>
              <a:rPr lang="en-US" sz="5400">
                <a:solidFill>
                  <a:srgbClr val="23325D"/>
                </a:solidFill>
              </a:rPr>
              <a:t>Thank you!</a:t>
            </a:r>
            <a:endParaRPr/>
          </a:p>
          <a:p>
            <a:pPr indent="0" lvl="0" marL="0" rtl="0" algn="l">
              <a:lnSpc>
                <a:spcPct val="90000"/>
              </a:lnSpc>
              <a:spcBef>
                <a:spcPts val="0"/>
              </a:spcBef>
              <a:spcAft>
                <a:spcPts val="0"/>
              </a:spcAft>
              <a:buClr>
                <a:srgbClr val="23325D"/>
              </a:buClr>
              <a:buSzPct val="100000"/>
              <a:buFont typeface="Calibri"/>
              <a:buNone/>
            </a:pPr>
            <a:r>
              <a:rPr lang="en-US" sz="5400">
                <a:solidFill>
                  <a:srgbClr val="F26351"/>
                </a:solidFill>
              </a:rPr>
              <a:t>Questions?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03</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HTMX &amp; Hypermedia Principles</a:t>
            </a:r>
            <a:endParaRPr sz="36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548700" y="365125"/>
            <a:ext cx="1080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Four things to take home</a:t>
            </a:r>
            <a:endParaRPr/>
          </a:p>
        </p:txBody>
      </p:sp>
      <p:sp>
        <p:nvSpPr>
          <p:cNvPr id="246" name="Google Shape;246;p28"/>
          <p:cNvSpPr/>
          <p:nvPr/>
        </p:nvSpPr>
        <p:spPr>
          <a:xfrm>
            <a:off x="640080"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PROBLEM</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Ajax API: callback, command stack and wrapper ID kept in sync, failing silently.</a:t>
            </a:r>
            <a:endParaRPr/>
          </a:p>
        </p:txBody>
      </p:sp>
      <p:sp>
        <p:nvSpPr>
          <p:cNvPr id="247" name="Google Shape;247;p28"/>
          <p:cNvSpPr/>
          <p:nvPr/>
        </p:nvSpPr>
        <p:spPr>
          <a:xfrm>
            <a:off x="6231636"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IDEA</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HTMX puts the behavior in the markup. The server just returns HTML.</a:t>
            </a:r>
            <a:endParaRPr/>
          </a:p>
        </p:txBody>
      </p:sp>
      <p:sp>
        <p:nvSpPr>
          <p:cNvPr id="248" name="Google Shape;248;p28"/>
          <p:cNvSpPr/>
          <p:nvPr/>
        </p:nvSpPr>
        <p:spPr>
          <a:xfrm>
            <a:off x="640080"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FIT</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Routes, render arrays, cache metadata: Drupal already has all three.</a:t>
            </a:r>
            <a:endParaRPr/>
          </a:p>
        </p:txBody>
      </p:sp>
      <p:sp>
        <p:nvSpPr>
          <p:cNvPr id="249" name="Google Shape;249;p28"/>
          <p:cNvSpPr/>
          <p:nvPr/>
        </p:nvSpPr>
        <p:spPr>
          <a:xfrm>
            <a:off x="6231636"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PATH</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New features in HTMX. Leave working Ajax alone. Convert one callback.</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Adopt it in three steps</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NO REWRITE REQUIRED</a:t>
            </a:r>
            <a:endParaRPr/>
          </a:p>
        </p:txBody>
      </p:sp>
      <p:sp>
        <p:nvSpPr>
          <p:cNvPr id="3001" name="Step 1"/>
          <p:cNvSpPr/>
          <p:nvPr/>
        </p:nvSpPr>
        <p:spPr>
          <a:xfrm>
            <a:off x="640080" y="1508760"/>
            <a:ext cx="3453420" cy="2194560"/>
          </a:xfrm>
          <a:prstGeom prst="roundRect">
            <a:avLst>
              <a:gd fmla="val 6000" name="adj"/>
            </a:avLst>
          </a:prstGeom>
          <a:solidFill>
            <a:srgbClr val="FBE4DF"/>
          </a:solidFill>
          <a:ln>
            <a:noFill/>
          </a:ln>
        </p:spPr>
        <p:txBody>
          <a:bodyPr wrap="square" lIns="274320" tIns="228600" rIns="274320" bIns="228600" anchor="t">
            <a:noAutofit/>
          </a:bodyPr>
          <a:lstStyle/>
          <a:p>
            <a:pPr marL="0" indent="0" algn="l">
              <a:spcBef>
                <a:spcPts val="0"/>
              </a:spcBef>
              <a:buNone/>
            </a:pPr>
            <a:r>
              <a:rPr lang="en-US" sz="4400" b="1" i="0">
                <a:solidFill>
                  <a:srgbClr val="F26351"/>
                </a:solidFill>
                <a:latin typeface="Calibri"/>
                <a:ea typeface="Calibri"/>
                <a:cs typeface="Calibri"/>
                <a:sym typeface="Calibri"/>
              </a:rPr>
              <a:t>1</a:t>
            </a:r>
          </a:p>
          <a:p>
            <a:pPr marL="0" indent="0" algn="l">
              <a:spcBef>
                <a:spcPts val="600"/>
              </a:spcBef>
              <a:buNone/>
            </a:pPr>
            <a:r>
              <a:rPr lang="en-US" sz="1400" b="1" i="0">
                <a:solidFill>
                  <a:srgbClr val="F26351"/>
                </a:solidFill>
                <a:latin typeface="Courier New"/>
                <a:ea typeface="Courier New"/>
                <a:cs typeface="Courier New"/>
                <a:sym typeface="Courier New"/>
              </a:rPr>
              <a:t>CHECK</a:t>
            </a:r>
          </a:p>
          <a:p>
            <a:pPr marL="0" indent="0" algn="l">
              <a:lnSpc>
                <a:spcPct val="120000"/>
              </a:lnSpc>
              <a:spcBef>
                <a:spcPts val="600"/>
              </a:spcBef>
              <a:buNone/>
            </a:pPr>
            <a:r>
              <a:rPr lang="en-US" sz="1500" b="0" i="0">
                <a:solidFill>
                  <a:srgbClr val="5B6378"/>
                </a:solidFill>
                <a:latin typeface="Calibri"/>
                <a:ea typeface="Calibri"/>
                <a:cs typeface="Calibri"/>
                <a:sym typeface="Calibri"/>
              </a:rPr>
              <a:t>On Drupal 11.3+, HTMX is already in core. Nothing to install.</a:t>
            </a:r>
          </a:p>
        </p:txBody>
      </p:sp>
      <p:sp>
        <p:nvSpPr>
          <p:cNvPr id="3002" name="Step 2"/>
          <p:cNvSpPr/>
          <p:nvPr/>
        </p:nvSpPr>
        <p:spPr>
          <a:xfrm>
            <a:off x="4367820" y="1508760"/>
            <a:ext cx="3453420" cy="2194560"/>
          </a:xfrm>
          <a:prstGeom prst="roundRect">
            <a:avLst>
              <a:gd fmla="val 6000" name="adj"/>
            </a:avLst>
          </a:prstGeom>
          <a:solidFill>
            <a:srgbClr val="FBE4DF"/>
          </a:solidFill>
          <a:ln>
            <a:noFill/>
          </a:ln>
        </p:spPr>
        <p:txBody>
          <a:bodyPr wrap="square" lIns="274320" tIns="228600" rIns="274320" bIns="228600" anchor="t">
            <a:noAutofit/>
          </a:bodyPr>
          <a:lstStyle/>
          <a:p>
            <a:pPr marL="0" indent="0" algn="l">
              <a:spcBef>
                <a:spcPts val="0"/>
              </a:spcBef>
              <a:buNone/>
            </a:pPr>
            <a:r>
              <a:rPr lang="en-US" sz="4400" b="1" i="0">
                <a:solidFill>
                  <a:srgbClr val="F26351"/>
                </a:solidFill>
                <a:latin typeface="Calibri"/>
                <a:ea typeface="Calibri"/>
                <a:cs typeface="Calibri"/>
                <a:sym typeface="Calibri"/>
              </a:rPr>
              <a:t>2</a:t>
            </a:r>
          </a:p>
          <a:p>
            <a:pPr marL="0" indent="0" algn="l">
              <a:spcBef>
                <a:spcPts val="600"/>
              </a:spcBef>
              <a:buNone/>
            </a:pPr>
            <a:r>
              <a:rPr lang="en-US" sz="1400" b="1" i="0">
                <a:solidFill>
                  <a:srgbClr val="F26351"/>
                </a:solidFill>
                <a:latin typeface="Courier New"/>
                <a:ea typeface="Courier New"/>
                <a:cs typeface="Courier New"/>
                <a:sym typeface="Courier New"/>
              </a:rPr>
              <a:t>PICK ONE SPOT</a:t>
            </a:r>
          </a:p>
          <a:p>
            <a:pPr marL="0" indent="0" algn="l">
              <a:lnSpc>
                <a:spcPct val="120000"/>
              </a:lnSpc>
              <a:spcBef>
                <a:spcPts val="600"/>
              </a:spcBef>
              <a:buNone/>
            </a:pPr>
            <a:r>
              <a:rPr lang="en-US" sz="1500" b="0" i="0">
                <a:solidFill>
                  <a:srgbClr val="5B6378"/>
                </a:solidFill>
                <a:latin typeface="Calibri"/>
                <a:ea typeface="Calibri"/>
                <a:cs typeface="Calibri"/>
                <a:sym typeface="Calibri"/>
              </a:rPr>
              <a:t>Something small: a filter, a dependent dropdown, a load-more.</a:t>
            </a:r>
          </a:p>
        </p:txBody>
      </p:sp>
      <p:sp>
        <p:nvSpPr>
          <p:cNvPr id="3003" name="Step 3"/>
          <p:cNvSpPr/>
          <p:nvPr/>
        </p:nvSpPr>
        <p:spPr>
          <a:xfrm>
            <a:off x="8095560" y="1508760"/>
            <a:ext cx="3453420" cy="2194560"/>
          </a:xfrm>
          <a:prstGeom prst="roundRect">
            <a:avLst>
              <a:gd fmla="val 6000" name="adj"/>
            </a:avLst>
          </a:prstGeom>
          <a:solidFill>
            <a:srgbClr val="FBE4DF"/>
          </a:solidFill>
          <a:ln>
            <a:noFill/>
          </a:ln>
        </p:spPr>
        <p:txBody>
          <a:bodyPr wrap="square" lIns="274320" tIns="228600" rIns="274320" bIns="228600" anchor="t">
            <a:noAutofit/>
          </a:bodyPr>
          <a:lstStyle/>
          <a:p>
            <a:pPr marL="0" indent="0" algn="l">
              <a:spcBef>
                <a:spcPts val="0"/>
              </a:spcBef>
              <a:buNone/>
            </a:pPr>
            <a:r>
              <a:rPr lang="en-US" sz="4400" b="1" i="0">
                <a:solidFill>
                  <a:srgbClr val="F26351"/>
                </a:solidFill>
                <a:latin typeface="Calibri"/>
                <a:ea typeface="Calibri"/>
                <a:cs typeface="Calibri"/>
                <a:sym typeface="Calibri"/>
              </a:rPr>
              <a:t>3</a:t>
            </a:r>
          </a:p>
          <a:p>
            <a:pPr marL="0" indent="0" algn="l">
              <a:spcBef>
                <a:spcPts val="600"/>
              </a:spcBef>
              <a:buNone/>
            </a:pPr>
            <a:r>
              <a:rPr lang="en-US" sz="1400" b="1" i="0">
                <a:solidFill>
                  <a:srgbClr val="F26351"/>
                </a:solidFill>
                <a:latin typeface="Courier New"/>
                <a:ea typeface="Courier New"/>
                <a:cs typeface="Courier New"/>
                <a:sym typeface="Courier New"/>
              </a:rPr>
              <a:t>CONVERT IT</a:t>
            </a:r>
          </a:p>
          <a:p>
            <a:pPr marL="0" indent="0" algn="l">
              <a:lnSpc>
                <a:spcPct val="120000"/>
              </a:lnSpc>
              <a:spcBef>
                <a:spcPts val="600"/>
              </a:spcBef>
              <a:buNone/>
            </a:pPr>
            <a:r>
              <a:rPr lang="en-US" sz="1500" b="0" i="0">
                <a:solidFill>
                  <a:srgbClr val="5B6378"/>
                </a:solidFill>
                <a:latin typeface="Calibri"/>
                <a:ea typeface="Calibri"/>
                <a:cs typeface="Calibri"/>
                <a:sym typeface="Calibri"/>
              </a:rPr>
              <a:t>Swap one #ajax callback for HTMX. Leave everything else alone.</a:t>
            </a:r>
          </a:p>
        </p:txBody>
      </p:sp>
      <p:sp>
        <p:nvSpPr>
          <p:cNvPr id="3010" name="Caption"/>
          <p:cNvSpPr txBox="1"/>
          <p:nvPr/>
        </p:nvSpPr>
        <p:spPr>
          <a:xfrm>
            <a:off x="640080" y="3931920"/>
            <a:ext cx="10908900" cy="457200"/>
          </a:xfrm>
          <a:prstGeom prst="rect">
            <a:avLst/>
          </a:prstGeom>
          <a:noFill/>
          <a:ln>
            <a:noFill/>
          </a:ln>
        </p:spPr>
        <p:txBody>
          <a:bodyPr wrap="square" lIns="0" tIns="0" rIns="0" bIns="0" anchor="t">
            <a:noAutofit/>
          </a:bodyPr>
          <a:lstStyle/>
          <a:p>
            <a:pPr marL="0" indent="0" algn="l">
              <a:spcBef>
                <a:spcPts val="0"/>
              </a:spcBef>
              <a:buNone/>
            </a:pPr>
            <a:r>
              <a:rPr lang="en-US" sz="1600" b="1" i="0">
                <a:solidFill>
                  <a:srgbClr val="23325D"/>
                </a:solidFill>
                <a:latin typeface="Calibri"/>
                <a:ea typeface="Calibri"/>
                <a:cs typeface="Calibri"/>
                <a:sym typeface="Calibri"/>
              </a:rPr>
              <a:t xml:space="preserve">HTMX and </a:t>
            </a:r>
            <a:r>
              <a:rPr lang="en-US" sz="1500" b="1" i="0">
                <a:solidFill>
                  <a:srgbClr val="23325D"/>
                </a:solidFill>
                <a:latin typeface="Courier New"/>
                <a:ea typeface="Courier New"/>
                <a:cs typeface="Courier New"/>
                <a:sym typeface="Courier New"/>
              </a:rPr>
              <a:t>#ajax</a:t>
            </a:r>
            <a:r>
              <a:rPr lang="en-US" sz="1600" b="1" i="0">
                <a:solidFill>
                  <a:srgbClr val="23325D"/>
                </a:solidFill>
                <a:latin typeface="Calibri"/>
                <a:ea typeface="Calibri"/>
                <a:cs typeface="Calibri"/>
                <a:sym typeface="Calibri"/>
              </a:rPr>
              <a:t xml:space="preserve"> work side by side on the same page, so you can stop after any step.</a:t>
            </a: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Convert one #ajax callback</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STEP 3, IN CODE</a:t>
            </a:r>
            <a:endParaRPr/>
          </a:p>
        </p:txBody>
      </p:sp>
      <p:sp>
        <p:nvSpPr>
          <p:cNvPr id="3101" name="Before label"/>
          <p:cNvSpPr txBox="1"/>
          <p:nvPr/>
        </p:nvSpPr>
        <p:spPr>
          <a:xfrm>
            <a:off x="640080" y="1325880"/>
            <a:ext cx="5317200" cy="320040"/>
          </a:xfrm>
          <a:prstGeom prst="rect">
            <a:avLst/>
          </a:prstGeom>
          <a:noFill/>
          <a:ln>
            <a:noFill/>
          </a:ln>
        </p:spPr>
        <p:txBody>
          <a:bodyPr wrap="square" lIns="0" tIns="0" rIns="0" bIns="0" anchor="t">
            <a:noAutofit/>
          </a:bodyPr>
          <a:lstStyle/>
          <a:p>
            <a:pPr marL="0" indent="0" algn="l">
              <a:spcBef>
                <a:spcPts val="0"/>
              </a:spcBef>
              <a:buNone/>
            </a:pPr>
            <a:r>
              <a:rPr lang="en-US" sz="1400" b="1" i="0">
                <a:solidFill>
                  <a:srgbClr val="0D6DAC"/>
                </a:solidFill>
                <a:latin typeface="Courier New"/>
                <a:ea typeface="Courier New"/>
                <a:cs typeface="Courier New"/>
                <a:sym typeface="Courier New"/>
              </a:rPr>
              <a:t>BEFORE · AJAX API</a:t>
            </a:r>
          </a:p>
        </p:txBody>
      </p:sp>
      <p:sp>
        <p:nvSpPr>
          <p:cNvPr id="3102" name="After label"/>
          <p:cNvSpPr txBox="1"/>
          <p:nvPr/>
        </p:nvSpPr>
        <p:spPr>
          <a:xfrm>
            <a:off x="6231636" y="1325880"/>
            <a:ext cx="5317200" cy="320040"/>
          </a:xfrm>
          <a:prstGeom prst="rect">
            <a:avLst/>
          </a:prstGeom>
          <a:noFill/>
          <a:ln>
            <a:noFill/>
          </a:ln>
        </p:spPr>
        <p:txBody>
          <a:bodyPr wrap="square" lIns="0" tIns="0" rIns="0" bIns="0" anchor="t">
            <a:noAutofit/>
          </a:bodyPr>
          <a:lstStyle/>
          <a:p>
            <a:pPr marL="0" indent="0" algn="l">
              <a:spcBef>
                <a:spcPts val="0"/>
              </a:spcBef>
              <a:buNone/>
            </a:pPr>
            <a:r>
              <a:rPr lang="en-US" sz="1400" b="1" i="0">
                <a:solidFill>
                  <a:srgbClr val="F26351"/>
                </a:solidFill>
                <a:latin typeface="Courier New"/>
                <a:ea typeface="Courier New"/>
                <a:cs typeface="Courier New"/>
                <a:sym typeface="Courier New"/>
              </a:rPr>
              <a:t>AFTER · HTMX</a:t>
            </a:r>
          </a:p>
        </p:txBody>
      </p:sp>
      <p:sp>
        <p:nvSpPr>
          <p:cNvPr id="3103" name="Before code"/>
          <p:cNvSpPr/>
          <p:nvPr/>
        </p:nvSpPr>
        <p:spPr>
          <a:xfrm>
            <a:off x="640080" y="1737360"/>
            <a:ext cx="5317200" cy="2377440"/>
          </a:xfrm>
          <a:prstGeom prst="roundRect">
            <a:avLst>
              <a:gd fmla="val 6000" name="adj"/>
            </a:avLst>
          </a:prstGeom>
          <a:solidFill>
            <a:srgbClr val="23325D"/>
          </a:solidFill>
          <a:ln>
            <a:noFill/>
          </a:ln>
        </p:spPr>
        <p:txBody>
          <a:bodyPr wrap="square" lIns="274320" tIns="228600" rIns="228600" bIns="228600" anchor="ctr">
            <a:noAutofit/>
          </a:bodyPr>
          <a:lstStyle/>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$form['filter']['</a:t>
            </a:r>
            <a:r>
              <a:rPr lang="en-US" sz="1150" b="1" i="0">
                <a:solidFill>
                  <a:srgbClr val="F26351"/>
                </a:solidFill>
                <a:latin typeface="Courier New"/>
                <a:ea typeface="Courier New"/>
                <a:cs typeface="Courier New"/>
                <a:sym typeface="Courier New"/>
              </a:rPr>
              <a:t>#ajax</a:t>
            </a:r>
            <a:r>
              <a:rPr lang="en-US" sz="1150" b="0" i="0">
                <a:solidFill>
                  <a:srgbClr val="D8E4F5"/>
                </a:solidFill>
                <a:latin typeface="Courier New"/>
                <a:ea typeface="Courier New"/>
                <a:cs typeface="Courier New"/>
                <a:sym typeface="Courier New"/>
              </a:rPr>
              <a:t>'] = [</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'callback' =&gt; '::updateResults',</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'wrapper' =&gt; '</a:t>
            </a:r>
            <a:r>
              <a:rPr lang="en-US" sz="1150" b="1" i="0">
                <a:solidFill>
                  <a:srgbClr val="F26351"/>
                </a:solidFill>
                <a:latin typeface="Courier New"/>
                <a:ea typeface="Courier New"/>
                <a:cs typeface="Courier New"/>
                <a:sym typeface="Courier New"/>
              </a:rPr>
              <a:t>results-wrapper</a:t>
            </a:r>
            <a:r>
              <a:rPr lang="en-US" sz="1150" b="0" i="0">
                <a:solidFill>
                  <a:srgbClr val="D8E4F5"/>
                </a:solidFill>
                <a:latin typeface="Courier New"/>
                <a:ea typeface="Courier New"/>
                <a:cs typeface="Courier New"/>
                <a:sym typeface="Courier New"/>
              </a:rPr>
              <a:t>',</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 updateResults() builds an</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xml:space="preserve">//   </a:t>
            </a:r>
            <a:r>
              <a:rPr lang="en-US" sz="1150" b="1" i="0">
                <a:solidFill>
                  <a:srgbClr val="F26351"/>
                </a:solidFill>
                <a:latin typeface="Courier New"/>
                <a:ea typeface="Courier New"/>
                <a:cs typeface="Courier New"/>
                <a:sym typeface="Courier New"/>
              </a:rPr>
              <a:t>AjaxResponse</a:t>
            </a:r>
            <a:r>
              <a:rPr lang="en-US" sz="1150" b="0" i="0">
                <a:solidFill>
                  <a:srgbClr val="8FA3C7"/>
                </a:solidFill>
                <a:latin typeface="Courier New"/>
                <a:ea typeface="Courier New"/>
                <a:cs typeface="Courier New"/>
                <a:sym typeface="Courier New"/>
              </a:rPr>
              <a:t xml:space="preserve"> + </a:t>
            </a:r>
            <a:r>
              <a:rPr lang="en-US" sz="1150" b="1" i="0">
                <a:solidFill>
                  <a:srgbClr val="F26351"/>
                </a:solidFill>
                <a:latin typeface="Courier New"/>
                <a:ea typeface="Courier New"/>
                <a:cs typeface="Courier New"/>
                <a:sym typeface="Courier New"/>
              </a:rPr>
              <a:t>ReplaceCommand</a:t>
            </a:r>
          </a:p>
        </p:txBody>
      </p:sp>
      <p:sp>
        <p:nvSpPr>
          <p:cNvPr id="3104" name="After code"/>
          <p:cNvSpPr/>
          <p:nvPr/>
        </p:nvSpPr>
        <p:spPr>
          <a:xfrm>
            <a:off x="6231636" y="1737360"/>
            <a:ext cx="5317200" cy="2377440"/>
          </a:xfrm>
          <a:prstGeom prst="roundRect">
            <a:avLst>
              <a:gd fmla="val 6000" name="adj"/>
            </a:avLst>
          </a:prstGeom>
          <a:solidFill>
            <a:srgbClr val="23325D"/>
          </a:solidFill>
          <a:ln>
            <a:noFill/>
          </a:ln>
        </p:spPr>
        <p:txBody>
          <a:bodyPr wrap="square" lIns="274320" tIns="228600" rIns="228600" bIns="228600" anchor="ctr">
            <a:noAutofit/>
          </a:bodyPr>
          <a:lstStyle/>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(new </a:t>
            </a:r>
            <a:r>
              <a:rPr lang="en-US" sz="1150" b="1" i="0">
                <a:solidFill>
                  <a:srgbClr val="F26351"/>
                </a:solidFill>
                <a:latin typeface="Courier New"/>
                <a:ea typeface="Courier New"/>
                <a:cs typeface="Courier New"/>
                <a:sym typeface="Courier New"/>
              </a:rPr>
              <a:t>Htmx</a:t>
            </a:r>
            <a:r>
              <a:rPr lang="en-US" sz="1150" b="0" i="0">
                <a:solidFill>
                  <a:srgbClr val="D8E4F5"/>
                </a:solidFill>
                <a:latin typeface="Courier New"/>
                <a:ea typeface="Courier New"/>
                <a:cs typeface="Courier New"/>
                <a:sym typeface="Courier New"/>
              </a:rPr>
              <a:t>())</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-&gt;get(Url::fromRoute('my_module.filter_results'))</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-&gt;trigger('change')</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-&gt;target('#results')</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-&gt;applyTo($form['filter']);</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xml:space="preserve">// + route with </a:t>
            </a:r>
            <a:r>
              <a:rPr lang="en-US" sz="1150" b="1" i="0">
                <a:solidFill>
                  <a:srgbClr val="F26351"/>
                </a:solidFill>
                <a:latin typeface="Courier New"/>
                <a:ea typeface="Courier New"/>
                <a:cs typeface="Courier New"/>
                <a:sym typeface="Courier New"/>
              </a:rPr>
              <a:t>_htmx_route: TRUE</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xml:space="preserve">//   controller returns a </a:t>
            </a:r>
            <a:r>
              <a:rPr lang="en-US" sz="1150" b="1" i="0">
                <a:solidFill>
                  <a:srgbClr val="F26351"/>
                </a:solidFill>
                <a:latin typeface="Courier New"/>
                <a:ea typeface="Courier New"/>
                <a:cs typeface="Courier New"/>
                <a:sym typeface="Courier New"/>
              </a:rPr>
              <a:t>render array</a:t>
            </a:r>
          </a:p>
        </p:txBody>
      </p:sp>
      <p:sp>
        <p:nvSpPr>
          <p:cNvPr id="3105" name="Caption"/>
          <p:cNvSpPr txBox="1"/>
          <p:nvPr/>
        </p:nvSpPr>
        <p:spPr>
          <a:xfrm>
            <a:off x="640080" y="4343400"/>
            <a:ext cx="10908900" cy="457200"/>
          </a:xfrm>
          <a:prstGeom prst="rect">
            <a:avLst/>
          </a:prstGeom>
          <a:noFill/>
          <a:ln>
            <a:noFill/>
          </a:ln>
        </p:spPr>
        <p:txBody>
          <a:bodyPr wrap="square" lIns="0" tIns="0" rIns="0" bIns="0" anchor="t">
            <a:noAutofit/>
          </a:bodyPr>
          <a:lstStyle/>
          <a:p>
            <a:pPr marL="0" indent="0" algn="l">
              <a:spcBef>
                <a:spcPts val="0"/>
              </a:spcBef>
              <a:buNone/>
            </a:pPr>
            <a:r>
              <a:rPr lang="en-US" sz="1600" b="1" i="0">
                <a:solidFill>
                  <a:srgbClr val="23325D"/>
                </a:solidFill>
                <a:latin typeface="Calibri"/>
                <a:ea typeface="Calibri"/>
                <a:cs typeface="Calibri"/>
                <a:sym typeface="Calibri"/>
              </a:rPr>
              <a:t>Same feature. No command class, no wrapper ID to keep in sync, and the response is cacheable.</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